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0.xml" ContentType="application/vnd.openxmlformats-officedocument.presentationml.notesSlide+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notesSlides/notesSlide12.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9"/>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4" r:id="rId14"/>
    <p:sldId id="271" r:id="rId15"/>
    <p:sldId id="272" r:id="rId16"/>
    <p:sldId id="276" r:id="rId17"/>
    <p:sldId id="275" r:id="rId18"/>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6213"/>
    <a:srgbClr val="744112"/>
    <a:srgbClr val="B069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(R)</c:v>
                </c:pt>
              </c:strCache>
            </c:strRef>
          </c:tx>
          <c:spPr>
            <a:solidFill>
              <a:srgbClr val="C17817"/>
            </a:solidFill>
            <a:effectLst/>
          </c:spPr>
          <c:invertIfNegative val="0"/>
          <c:dLbls>
            <c:numFmt formatCode="&quot;R&quot;#,##0"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Packaged Chocolate</c:v>
                </c:pt>
                <c:pt idx="1">
                  <c:v>Flavours</c:v>
                </c:pt>
                <c:pt idx="2">
                  <c:v>Loose Tea</c:v>
                </c:pt>
                <c:pt idx="3">
                  <c:v>Branded</c:v>
                </c:pt>
                <c:pt idx="4">
                  <c:v>Coffee beans</c:v>
                </c:pt>
                <c:pt idx="5">
                  <c:v>Drinking Chocolate</c:v>
                </c:pt>
                <c:pt idx="6">
                  <c:v>Bakery</c:v>
                </c:pt>
                <c:pt idx="7">
                  <c:v>Tea</c:v>
                </c:pt>
                <c:pt idx="8">
                  <c:v>Coffee</c:v>
                </c:pt>
              </c:strCache>
            </c:strRef>
          </c:cat>
          <c:val>
            <c:numRef>
              <c:f>Sheet1!$B$2:$B$10</c:f>
              <c:numCache>
                <c:formatCode>General</c:formatCode>
                <c:ptCount val="9"/>
                <c:pt idx="0">
                  <c:v>4408</c:v>
                </c:pt>
                <c:pt idx="1">
                  <c:v>8409</c:v>
                </c:pt>
                <c:pt idx="2">
                  <c:v>11214</c:v>
                </c:pt>
                <c:pt idx="3">
                  <c:v>13607</c:v>
                </c:pt>
                <c:pt idx="4">
                  <c:v>40085</c:v>
                </c:pt>
                <c:pt idx="5">
                  <c:v>72416</c:v>
                </c:pt>
                <c:pt idx="6">
                  <c:v>82316</c:v>
                </c:pt>
                <c:pt idx="7">
                  <c:v>196406</c:v>
                </c:pt>
                <c:pt idx="8">
                  <c:v>269952</c:v>
                </c:pt>
              </c:numCache>
            </c:numRef>
          </c:val>
          <c:extLst>
            <c:ext xmlns:c16="http://schemas.microsoft.com/office/drawing/2014/chart" uri="{C3380CC4-5D6E-409C-BE32-E72D297353CC}">
              <c16:uniqueId val="{00000000-BA09-4EE4-A6A6-FFD2ECA4F1D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DE2D2"/>
              </a:solidFill>
              <a:prstDash val="solid"/>
              <a:round/>
            </a:ln>
          </c:spPr>
        </c:majorGridlines>
        <c:numFmt formatCode="&quot;R&quot;#,##0" sourceLinked="0"/>
        <c:majorTickMark val="out"/>
        <c:minorTickMark val="none"/>
        <c:tickLblPos val="low"/>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(R)</c:v>
                </c:pt>
              </c:strCache>
            </c:strRef>
          </c:tx>
          <c:spPr>
            <a:solidFill>
              <a:srgbClr val="B5651D"/>
            </a:solidFill>
            <a:effectLst/>
          </c:spPr>
          <c:invertIfNegative val="0"/>
          <c:dLbls>
            <c:numFmt formatCode="&quot;R&quot;#,##0"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Drip Coffee</c:v>
                </c:pt>
                <c:pt idx="1">
                  <c:v>Scone</c:v>
                </c:pt>
                <c:pt idx="2">
                  <c:v>Organic Brewed Coffee</c:v>
                </c:pt>
                <c:pt idx="3">
                  <c:v>Premium Brewed Coffee</c:v>
                </c:pt>
                <c:pt idx="4">
                  <c:v>Brewed Herbal Tea</c:v>
                </c:pt>
                <c:pt idx="5">
                  <c:v>Brewed Black Tea</c:v>
                </c:pt>
                <c:pt idx="6">
                  <c:v>Gourmet Brewed Coffee</c:v>
                </c:pt>
                <c:pt idx="7">
                  <c:v>Hot Chocolate</c:v>
                </c:pt>
                <c:pt idx="8">
                  <c:v>Brewed Chai Tea</c:v>
                </c:pt>
                <c:pt idx="9">
                  <c:v>Barista Espresso</c:v>
                </c:pt>
              </c:strCache>
            </c:strRef>
          </c:cat>
          <c:val>
            <c:numRef>
              <c:f>Sheet1!$B$2:$B$11</c:f>
              <c:numCache>
                <c:formatCode>General</c:formatCode>
                <c:ptCount val="10"/>
                <c:pt idx="0">
                  <c:v>31984</c:v>
                </c:pt>
                <c:pt idx="1">
                  <c:v>36866</c:v>
                </c:pt>
                <c:pt idx="2">
                  <c:v>37747</c:v>
                </c:pt>
                <c:pt idx="3">
                  <c:v>38781</c:v>
                </c:pt>
                <c:pt idx="4">
                  <c:v>47540</c:v>
                </c:pt>
                <c:pt idx="5">
                  <c:v>47932</c:v>
                </c:pt>
                <c:pt idx="6">
                  <c:v>70035</c:v>
                </c:pt>
                <c:pt idx="7">
                  <c:v>72416</c:v>
                </c:pt>
                <c:pt idx="8">
                  <c:v>77082</c:v>
                </c:pt>
                <c:pt idx="9">
                  <c:v>91406</c:v>
                </c:pt>
              </c:numCache>
            </c:numRef>
          </c:val>
          <c:extLst>
            <c:ext xmlns:c16="http://schemas.microsoft.com/office/drawing/2014/chart" uri="{C3380CC4-5D6E-409C-BE32-E72D297353CC}">
              <c16:uniqueId val="{00000000-D581-4355-A34F-F6276294BFB2}"/>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DE2D2"/>
              </a:solidFill>
              <a:prstDash val="solid"/>
              <a:round/>
            </a:ln>
          </c:spPr>
        </c:majorGridlines>
        <c:numFmt formatCode="&quot;R&quot;#,##0" sourceLinked="0"/>
        <c:majorTickMark val="out"/>
        <c:minorTickMark val="none"/>
        <c:tickLblPos val="low"/>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Revenue (R)</c:v>
                </c:pt>
              </c:strCache>
            </c:strRef>
          </c:tx>
          <c:spPr>
            <a:solidFill>
              <a:srgbClr val="D76213"/>
            </a:solidFill>
            <a:effectLst/>
          </c:spPr>
          <c:invertIfNegative val="0"/>
          <c:dLbls>
            <c:numFmt formatCode="&quot;R&quot;#,##0" sourceLinked="0"/>
            <c:spPr>
              <a:noFill/>
              <a:ln>
                <a:noFill/>
              </a:ln>
              <a:effectLst/>
            </c:spPr>
            <c:txPr>
              <a:bodyPr/>
              <a:lstStyle/>
              <a:p>
                <a:pPr>
                  <a:defRPr sz="950" b="0" i="0" u="none" strike="noStrike">
                    <a:solidFill>
                      <a:srgbClr val="3A5C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Sustainably Grown
Organic (Lg)</c:v>
                </c:pt>
                <c:pt idx="1">
                  <c:v>Dark Chocolate
(Lg)</c:v>
                </c:pt>
                <c:pt idx="2">
                  <c:v>Latte (Rg)</c:v>
                </c:pt>
                <c:pt idx="3">
                  <c:v>Cappuccino (Lg)</c:v>
                </c:pt>
                <c:pt idx="4">
                  <c:v>Morning Sunrise
Chai (Lg)</c:v>
                </c:pt>
              </c:strCache>
            </c:strRef>
          </c:cat>
          <c:val>
            <c:numRef>
              <c:f>Sheet1!$B$2:$B$6</c:f>
              <c:numCache>
                <c:formatCode>General</c:formatCode>
                <c:ptCount val="5"/>
                <c:pt idx="0">
                  <c:v>21152</c:v>
                </c:pt>
                <c:pt idx="1">
                  <c:v>21006</c:v>
                </c:pt>
                <c:pt idx="2">
                  <c:v>19112</c:v>
                </c:pt>
                <c:pt idx="3">
                  <c:v>17642</c:v>
                </c:pt>
                <c:pt idx="4">
                  <c:v>17384</c:v>
                </c:pt>
              </c:numCache>
            </c:numRef>
          </c:val>
          <c:extLst>
            <c:ext xmlns:c16="http://schemas.microsoft.com/office/drawing/2014/chart" uri="{C3380CC4-5D6E-409C-BE32-E72D297353CC}">
              <c16:uniqueId val="{00000000-9788-474E-9841-306C6AB37549}"/>
            </c:ext>
          </c:extLst>
        </c:ser>
        <c:dLbls>
          <c:showLegendKey val="0"/>
          <c:showVal val="1"/>
          <c:showCatName val="0"/>
          <c:showSerName val="0"/>
          <c:showPercent val="0"/>
          <c:showBubbleSize val="0"/>
        </c:dLbls>
        <c:gapWidth val="38"/>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lgn="just">
              <a:defRPr sz="1000" b="0" i="0" u="none" strike="noStrike">
                <a:solidFill>
                  <a:srgbClr val="4A2C1A"/>
                </a:solidFill>
                <a:latin typeface="Arial"/>
              </a:defRPr>
            </a:pPr>
            <a:endParaRPr lang="en-US"/>
          </a:p>
        </c:txPr>
        <c:crossAx val="2094734552"/>
        <c:crosses val="autoZero"/>
        <c:auto val="1"/>
        <c:lblAlgn val="r"/>
        <c:lblOffset val="100"/>
        <c:noMultiLvlLbl val="1"/>
      </c:catAx>
      <c:valAx>
        <c:axId val="2094734552"/>
        <c:scaling>
          <c:orientation val="minMax"/>
          <c:min val="0"/>
        </c:scaling>
        <c:delete val="0"/>
        <c:axPos val="b"/>
        <c:majorGridlines>
          <c:spPr>
            <a:ln w="9525" cap="flat">
              <a:solidFill>
                <a:srgbClr val="EDE2D2"/>
              </a:solidFill>
              <a:prstDash val="solid"/>
              <a:round/>
            </a:ln>
          </c:spPr>
        </c:majorGridlines>
        <c:numFmt formatCode="&quot;R&quot;#,##0" sourceLinked="0"/>
        <c:majorTickMark val="out"/>
        <c:minorTickMark val="none"/>
        <c:tickLblPos val="low"/>
        <c:spPr>
          <a:ln w="12700" cap="flat">
            <a:solidFill>
              <a:srgbClr val="888888"/>
            </a:solidFill>
            <a:prstDash val="solid"/>
            <a:round/>
          </a:ln>
        </c:spPr>
        <c:txPr>
          <a:bodyPr/>
          <a:lstStyle/>
          <a:p>
            <a:pPr>
              <a:defRPr sz="85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Revenue (R)</c:v>
                </c:pt>
              </c:strCache>
            </c:strRef>
          </c:tx>
          <c:spPr>
            <a:solidFill>
              <a:srgbClr val="744112"/>
            </a:solidFill>
            <a:effectLst/>
          </c:spPr>
          <c:invertIfNegative val="0"/>
          <c:dLbls>
            <c:numFmt formatCode="&quot;R&quot;#,##0" sourceLinked="0"/>
            <c:spPr>
              <a:noFill/>
              <a:ln>
                <a:noFill/>
              </a:ln>
              <a:effectLst/>
            </c:spPr>
            <c:txPr>
              <a:bodyPr/>
              <a:lstStyle/>
              <a:p>
                <a:pPr>
                  <a:defRPr sz="950" b="0" i="0" u="none" strike="noStrike">
                    <a:solidFill>
                      <a:srgbClr val="A144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Dark Chocolate
(Sm)</c:v>
                </c:pt>
                <c:pt idx="1">
                  <c:v>Earl Grey</c:v>
                </c:pt>
                <c:pt idx="2">
                  <c:v>Spicy Eye
Opener Chai</c:v>
                </c:pt>
                <c:pt idx="3">
                  <c:v>Guatemalan
Sustainably Grown</c:v>
                </c:pt>
                <c:pt idx="4">
                  <c:v>Lemon Grass</c:v>
                </c:pt>
              </c:strCache>
            </c:strRef>
          </c:cat>
          <c:val>
            <c:numRef>
              <c:f>Sheet1!$B$2:$B$6</c:f>
              <c:numCache>
                <c:formatCode>General</c:formatCode>
                <c:ptCount val="5"/>
                <c:pt idx="0">
                  <c:v>755</c:v>
                </c:pt>
                <c:pt idx="1">
                  <c:v>1271</c:v>
                </c:pt>
                <c:pt idx="2">
                  <c:v>1336</c:v>
                </c:pt>
                <c:pt idx="3">
                  <c:v>1340</c:v>
                </c:pt>
                <c:pt idx="4">
                  <c:v>1360</c:v>
                </c:pt>
              </c:numCache>
            </c:numRef>
          </c:val>
          <c:extLst>
            <c:ext xmlns:c16="http://schemas.microsoft.com/office/drawing/2014/chart" uri="{C3380CC4-5D6E-409C-BE32-E72D297353CC}">
              <c16:uniqueId val="{00000000-B6BB-48D6-98B9-6BCE6894A74A}"/>
            </c:ext>
          </c:extLst>
        </c:ser>
        <c:dLbls>
          <c:showLegendKey val="0"/>
          <c:showVal val="1"/>
          <c:showCatName val="0"/>
          <c:showSerName val="0"/>
          <c:showPercent val="0"/>
          <c:showBubbleSize val="0"/>
        </c:dLbls>
        <c:gapWidth val="38"/>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b"/>
        <c:majorGridlines>
          <c:spPr>
            <a:ln w="9525" cap="flat">
              <a:solidFill>
                <a:srgbClr val="EDE2D2"/>
              </a:solidFill>
              <a:prstDash val="solid"/>
              <a:round/>
            </a:ln>
          </c:spPr>
        </c:majorGridlines>
        <c:numFmt formatCode="&quot;R&quot;#,##0" sourceLinked="0"/>
        <c:majorTickMark val="out"/>
        <c:minorTickMark val="none"/>
        <c:tickLblPos val="low"/>
        <c:spPr>
          <a:ln w="12700" cap="flat">
            <a:solidFill>
              <a:srgbClr val="888888"/>
            </a:solidFill>
            <a:prstDash val="solid"/>
            <a:round/>
          </a:ln>
        </c:spPr>
        <c:txPr>
          <a:bodyPr/>
          <a:lstStyle/>
          <a:p>
            <a:pPr>
              <a:defRPr sz="85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C17817"/>
              </a:solidFill>
              <a:effectLst/>
            </c:spPr>
            <c:extLst>
              <c:ext xmlns:c16="http://schemas.microsoft.com/office/drawing/2014/chart" uri="{C3380CC4-5D6E-409C-BE32-E72D297353CC}">
                <c16:uniqueId val="{00000001-109C-4759-B396-3B4D6E9C551A}"/>
              </c:ext>
            </c:extLst>
          </c:dPt>
          <c:dPt>
            <c:idx val="1"/>
            <c:bubble3D val="0"/>
            <c:spPr>
              <a:solidFill>
                <a:srgbClr val="B5651D"/>
              </a:solidFill>
              <a:effectLst/>
            </c:spPr>
            <c:extLst>
              <c:ext xmlns:c16="http://schemas.microsoft.com/office/drawing/2014/chart" uri="{C3380CC4-5D6E-409C-BE32-E72D297353CC}">
                <c16:uniqueId val="{00000003-109C-4759-B396-3B4D6E9C551A}"/>
              </c:ext>
            </c:extLst>
          </c:dPt>
          <c:dPt>
            <c:idx val="2"/>
            <c:bubble3D val="0"/>
            <c:spPr>
              <a:solidFill>
                <a:srgbClr val="D4A24C"/>
              </a:solidFill>
              <a:effectLst/>
            </c:spPr>
            <c:extLst>
              <c:ext xmlns:c16="http://schemas.microsoft.com/office/drawing/2014/chart" uri="{C3380CC4-5D6E-409C-BE32-E72D297353CC}">
                <c16:uniqueId val="{00000005-109C-4759-B396-3B4D6E9C551A}"/>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09C-4759-B396-3B4D6E9C551A}"/>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09C-4759-B396-3B4D6E9C551A}"/>
                </c:ext>
              </c:extLst>
            </c:dLbl>
            <c:dLbl>
              <c:idx val="2"/>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09C-4759-B396-3B4D6E9C551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Hell's Kitchen</c:v>
                </c:pt>
                <c:pt idx="1">
                  <c:v>Astoria</c:v>
                </c:pt>
                <c:pt idx="2">
                  <c:v>Lower Manhattan</c:v>
                </c:pt>
              </c:strCache>
            </c:strRef>
          </c:cat>
          <c:val>
            <c:numRef>
              <c:f>Sheet1!$B$2:$B$4</c:f>
              <c:numCache>
                <c:formatCode>General</c:formatCode>
                <c:ptCount val="3"/>
                <c:pt idx="0">
                  <c:v>236511</c:v>
                </c:pt>
                <c:pt idx="1">
                  <c:v>232244</c:v>
                </c:pt>
                <c:pt idx="2">
                  <c:v>230057</c:v>
                </c:pt>
              </c:numCache>
            </c:numRef>
          </c:val>
          <c:extLst>
            <c:ext xmlns:c16="http://schemas.microsoft.com/office/drawing/2014/chart" uri="{C3380CC4-5D6E-409C-BE32-E72D297353CC}">
              <c16:uniqueId val="{00000006-109C-4759-B396-3B4D6E9C551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A2C1A"/>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(R)</c:v>
                </c:pt>
              </c:strCache>
            </c:strRef>
          </c:tx>
          <c:spPr>
            <a:ln w="38100" cap="flat">
              <a:solidFill>
                <a:srgbClr val="744112"/>
              </a:solidFill>
              <a:prstDash val="solid"/>
              <a:round/>
            </a:ln>
            <a:effectLst/>
          </c:spPr>
          <c:marker>
            <c:symbol val="circle"/>
            <c:size val="6"/>
            <c:spPr>
              <a:solidFill>
                <a:srgbClr val="C17817"/>
              </a:solidFill>
              <a:ln w="9525" cap="flat">
                <a:solidFill>
                  <a:srgbClr val="C17817"/>
                </a:solidFill>
                <a:prstDash val="solid"/>
                <a:round/>
              </a:ln>
              <a:effectLst/>
            </c:spPr>
          </c:marker>
          <c:cat>
            <c:strRef>
              <c:f>Sheet1!$A$2:$A$16</c:f>
              <c:strCache>
                <c:ptCount val="15"/>
                <c:pt idx="0">
                  <c:v>6am</c:v>
                </c:pt>
                <c:pt idx="1">
                  <c:v>7am</c:v>
                </c:pt>
                <c:pt idx="2">
                  <c:v>8am</c:v>
                </c:pt>
                <c:pt idx="3">
                  <c:v>9am</c:v>
                </c:pt>
                <c:pt idx="4">
                  <c:v>10am</c:v>
                </c:pt>
                <c:pt idx="5">
                  <c:v>11am</c:v>
                </c:pt>
                <c:pt idx="6">
                  <c:v>12pm</c:v>
                </c:pt>
                <c:pt idx="7">
                  <c:v>1pm</c:v>
                </c:pt>
                <c:pt idx="8">
                  <c:v>2pm</c:v>
                </c:pt>
                <c:pt idx="9">
                  <c:v>3pm</c:v>
                </c:pt>
                <c:pt idx="10">
                  <c:v>4pm</c:v>
                </c:pt>
                <c:pt idx="11">
                  <c:v>5pm</c:v>
                </c:pt>
                <c:pt idx="12">
                  <c:v>6pm</c:v>
                </c:pt>
                <c:pt idx="13">
                  <c:v>7pm</c:v>
                </c:pt>
                <c:pt idx="14">
                  <c:v>8pm</c:v>
                </c:pt>
              </c:strCache>
            </c:strRef>
          </c:cat>
          <c:val>
            <c:numRef>
              <c:f>Sheet1!$B$2:$B$16</c:f>
              <c:numCache>
                <c:formatCode>General</c:formatCode>
                <c:ptCount val="15"/>
                <c:pt idx="0">
                  <c:v>21900</c:v>
                </c:pt>
                <c:pt idx="1">
                  <c:v>63526</c:v>
                </c:pt>
                <c:pt idx="2">
                  <c:v>82700</c:v>
                </c:pt>
                <c:pt idx="3">
                  <c:v>85170</c:v>
                </c:pt>
                <c:pt idx="4">
                  <c:v>88673</c:v>
                </c:pt>
                <c:pt idx="5">
                  <c:v>46319</c:v>
                </c:pt>
                <c:pt idx="6">
                  <c:v>40193</c:v>
                </c:pt>
                <c:pt idx="7">
                  <c:v>40367</c:v>
                </c:pt>
                <c:pt idx="8">
                  <c:v>41305</c:v>
                </c:pt>
                <c:pt idx="9">
                  <c:v>41733</c:v>
                </c:pt>
                <c:pt idx="10">
                  <c:v>41123</c:v>
                </c:pt>
                <c:pt idx="11">
                  <c:v>40134</c:v>
                </c:pt>
                <c:pt idx="12">
                  <c:v>34286</c:v>
                </c:pt>
                <c:pt idx="13">
                  <c:v>28447</c:v>
                </c:pt>
                <c:pt idx="14">
                  <c:v>2936</c:v>
                </c:pt>
              </c:numCache>
            </c:numRef>
          </c:val>
          <c:smooth val="1"/>
          <c:extLst>
            <c:ext xmlns:c16="http://schemas.microsoft.com/office/drawing/2014/chart" uri="{C3380CC4-5D6E-409C-BE32-E72D297353CC}">
              <c16:uniqueId val="{00000000-F709-4A84-8779-EAF8572AA65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DE2D2"/>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(R)</c:v>
                </c:pt>
              </c:strCache>
            </c:strRef>
          </c:tx>
          <c:spPr>
            <a:solidFill>
              <a:srgbClr val="B5651D"/>
            </a:solidFill>
            <a:effectLst/>
          </c:spPr>
          <c:invertIfNegative val="0"/>
          <c:dLbls>
            <c:numFmt formatCode="&quot;R&quot;#,##0,&quot;K&quot;"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Rush Hour
6–8am</c:v>
                </c:pt>
                <c:pt idx="1">
                  <c:v>Mid Morning
9–11am</c:v>
                </c:pt>
                <c:pt idx="2">
                  <c:v>Afternoon
12–3pm</c:v>
                </c:pt>
                <c:pt idx="3">
                  <c:v>Evening
4–5pm</c:v>
                </c:pt>
                <c:pt idx="4">
                  <c:v>Night
6–8pm</c:v>
                </c:pt>
              </c:strCache>
            </c:strRef>
          </c:cat>
          <c:val>
            <c:numRef>
              <c:f>Sheet1!$B$2:$B$6</c:f>
              <c:numCache>
                <c:formatCode>General</c:formatCode>
                <c:ptCount val="5"/>
                <c:pt idx="0">
                  <c:v>168127</c:v>
                </c:pt>
                <c:pt idx="1">
                  <c:v>220162</c:v>
                </c:pt>
                <c:pt idx="2">
                  <c:v>163598</c:v>
                </c:pt>
                <c:pt idx="3">
                  <c:v>81257</c:v>
                </c:pt>
                <c:pt idx="4">
                  <c:v>65669</c:v>
                </c:pt>
              </c:numCache>
            </c:numRef>
          </c:val>
          <c:extLst>
            <c:ext xmlns:c16="http://schemas.microsoft.com/office/drawing/2014/chart" uri="{C3380CC4-5D6E-409C-BE32-E72D297353CC}">
              <c16:uniqueId val="{00000000-6B1F-462E-BC00-2AB30955EA9E}"/>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(R)</c:v>
                </c:pt>
              </c:strCache>
            </c:strRef>
          </c:tx>
          <c:spPr>
            <a:solidFill>
              <a:srgbClr val="C17817"/>
            </a:solidFill>
            <a:effectLst/>
          </c:spPr>
          <c:invertIfNegative val="0"/>
          <c:dLbls>
            <c:numFmt formatCode="&quot;R&quot;#,##0"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101677</c:v>
                </c:pt>
                <c:pt idx="1">
                  <c:v>99456</c:v>
                </c:pt>
                <c:pt idx="2">
                  <c:v>100314</c:v>
                </c:pt>
                <c:pt idx="3">
                  <c:v>100768</c:v>
                </c:pt>
                <c:pt idx="4">
                  <c:v>101373</c:v>
                </c:pt>
                <c:pt idx="5">
                  <c:v>96894</c:v>
                </c:pt>
                <c:pt idx="6">
                  <c:v>98330</c:v>
                </c:pt>
              </c:numCache>
            </c:numRef>
          </c:val>
          <c:extLst>
            <c:ext xmlns:c16="http://schemas.microsoft.com/office/drawing/2014/chart" uri="{C3380CC4-5D6E-409C-BE32-E72D297353CC}">
              <c16:uniqueId val="{00000000-0F44-484A-A560-8A35A7D7CBA5}"/>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min val="90000"/>
        </c:scaling>
        <c:delete val="0"/>
        <c:axPos val="l"/>
        <c:majorGridlines>
          <c:spPr>
            <a:ln w="9525" cap="flat">
              <a:solidFill>
                <a:srgbClr val="EDE2D2"/>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(R)</c:v>
                </c:pt>
              </c:strCache>
            </c:strRef>
          </c:tx>
          <c:spPr>
            <a:ln w="44450" cap="flat">
              <a:solidFill>
                <a:srgbClr val="C17817"/>
              </a:solidFill>
              <a:prstDash val="solid"/>
              <a:round/>
            </a:ln>
            <a:effectLst/>
          </c:spPr>
          <c:marker>
            <c:symbol val="circle"/>
            <c:size val="8"/>
            <c:spPr>
              <a:solidFill>
                <a:srgbClr val="C17817"/>
              </a:solidFill>
              <a:ln w="9525" cap="flat">
                <a:solidFill>
                  <a:srgbClr val="C17817"/>
                </a:solidFill>
                <a:prstDash val="solid"/>
                <a:round/>
              </a:ln>
              <a:effectLst/>
            </c:spPr>
          </c:marker>
          <c:dLbls>
            <c:numFmt formatCode="&quot;R&quot;#,##0" sourceLinked="0"/>
            <c:spPr>
              <a:noFill/>
              <a:ln>
                <a:noFill/>
              </a:ln>
              <a:effectLst/>
            </c:spPr>
            <c:txPr>
              <a:bodyPr/>
              <a:lstStyle/>
              <a:p>
                <a:pPr>
                  <a:defRPr sz="1000" b="0" i="0" u="none" strike="noStrike">
                    <a:solidFill>
                      <a:srgbClr val="4A2C1A"/>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81678</c:v>
                </c:pt>
                <c:pt idx="1">
                  <c:v>76145</c:v>
                </c:pt>
                <c:pt idx="2">
                  <c:v>98835</c:v>
                </c:pt>
                <c:pt idx="3">
                  <c:v>118941</c:v>
                </c:pt>
                <c:pt idx="4">
                  <c:v>156728</c:v>
                </c:pt>
                <c:pt idx="5">
                  <c:v>166486</c:v>
                </c:pt>
              </c:numCache>
            </c:numRef>
          </c:val>
          <c:smooth val="1"/>
          <c:extLst>
            <c:ext xmlns:c16="http://schemas.microsoft.com/office/drawing/2014/chart" uri="{C3380CC4-5D6E-409C-BE32-E72D297353CC}">
              <c16:uniqueId val="{00000000-FBF3-4A80-9E86-4F742A93503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DE2D2"/>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Transactions</c:v>
                </c:pt>
              </c:strCache>
            </c:strRef>
          </c:tx>
          <c:spPr>
            <a:solidFill>
              <a:srgbClr val="C17817"/>
            </a:solidFill>
            <a:effectLst/>
          </c:spPr>
          <c:invertIfNegative val="0"/>
          <c:dLbls>
            <c:numFmt formatCode="#,##0"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item</c:v>
                </c:pt>
                <c:pt idx="1">
                  <c:v>2 items</c:v>
                </c:pt>
                <c:pt idx="2">
                  <c:v>3 items</c:v>
                </c:pt>
                <c:pt idx="3">
                  <c:v>4+ items</c:v>
                </c:pt>
              </c:strCache>
            </c:strRef>
          </c:cat>
          <c:val>
            <c:numRef>
              <c:f>Sheet1!$B$2:$B$5</c:f>
              <c:numCache>
                <c:formatCode>General</c:formatCode>
                <c:ptCount val="4"/>
                <c:pt idx="0">
                  <c:v>87159</c:v>
                </c:pt>
                <c:pt idx="1">
                  <c:v>58642</c:v>
                </c:pt>
                <c:pt idx="2">
                  <c:v>3279</c:v>
                </c:pt>
                <c:pt idx="3">
                  <c:v>36</c:v>
                </c:pt>
              </c:numCache>
            </c:numRef>
          </c:val>
          <c:extLst>
            <c:ext xmlns:c16="http://schemas.microsoft.com/office/drawing/2014/chart" uri="{C3380CC4-5D6E-409C-BE32-E72D297353CC}">
              <c16:uniqueId val="{00000000-B81D-4D79-A02E-BB42172889A9}"/>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(R)</c:v>
                </c:pt>
              </c:strCache>
            </c:strRef>
          </c:tx>
          <c:spPr>
            <a:solidFill>
              <a:srgbClr val="744112"/>
            </a:solidFill>
            <a:effectLst/>
          </c:spPr>
          <c:invertIfNegative val="0"/>
          <c:dLbls>
            <c:numFmt formatCode="&quot;R&quot;#,##0" sourceLinked="0"/>
            <c:spPr>
              <a:noFill/>
              <a:ln>
                <a:noFill/>
              </a:ln>
              <a:effectLst/>
            </c:spPr>
            <c:txPr>
              <a:bodyPr/>
              <a:lstStyle/>
              <a:p>
                <a:pPr>
                  <a:defRPr sz="9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Under R3</c:v>
                </c:pt>
                <c:pt idx="1">
                  <c:v>R3 – R5</c:v>
                </c:pt>
                <c:pt idx="2">
                  <c:v>R5 – R8</c:v>
                </c:pt>
                <c:pt idx="3">
                  <c:v>R8+</c:v>
                </c:pt>
              </c:strCache>
            </c:strRef>
          </c:cat>
          <c:val>
            <c:numRef>
              <c:f>Sheet1!$B$2:$B$5</c:f>
              <c:numCache>
                <c:formatCode>General</c:formatCode>
                <c:ptCount val="4"/>
                <c:pt idx="0">
                  <c:v>113825</c:v>
                </c:pt>
                <c:pt idx="1">
                  <c:v>241360</c:v>
                </c:pt>
                <c:pt idx="2">
                  <c:v>207922</c:v>
                </c:pt>
                <c:pt idx="3">
                  <c:v>135705</c:v>
                </c:pt>
              </c:numCache>
            </c:numRef>
          </c:val>
          <c:extLst>
            <c:ext xmlns:c16="http://schemas.microsoft.com/office/drawing/2014/chart" uri="{C3380CC4-5D6E-409C-BE32-E72D297353CC}">
              <c16:uniqueId val="{00000000-F71E-4070-8AE9-5C361AB6F770}"/>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305837299998518"/>
          <c:y val="6.633499170812604E-2"/>
          <c:w val="0.71218767145632222"/>
          <c:h val="0.7634207571068542"/>
        </c:manualLayout>
      </c:layout>
      <c:barChart>
        <c:barDir val="bar"/>
        <c:grouping val="stacked"/>
        <c:varyColors val="0"/>
        <c:ser>
          <c:idx val="0"/>
          <c:order val="0"/>
          <c:tx>
            <c:strRef>
              <c:f>Sheet1!$B$1</c:f>
              <c:strCache>
                <c:ptCount val="1"/>
                <c:pt idx="0">
                  <c:v>Astoria</c:v>
                </c:pt>
              </c:strCache>
            </c:strRef>
          </c:tx>
          <c:spPr>
            <a:solidFill>
              <a:srgbClr val="C17817"/>
            </a:solidFill>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0-1773-402F-9A99-AC59B8D354EF}"/>
                </c:ext>
              </c:extLst>
            </c:dLbl>
            <c:dLbl>
              <c:idx val="2"/>
              <c:delete val="1"/>
              <c:extLst>
                <c:ext xmlns:c15="http://schemas.microsoft.com/office/drawing/2012/chart" uri="{CE6537A1-D6FC-4f65-9D91-7224C49458BB}"/>
                <c:ext xmlns:c16="http://schemas.microsoft.com/office/drawing/2014/chart" uri="{C3380CC4-5D6E-409C-BE32-E72D297353CC}">
                  <c16:uniqueId val="{00000001-1773-402F-9A99-AC59B8D354EF}"/>
                </c:ext>
              </c:extLst>
            </c:dLbl>
            <c:numFmt formatCode="0&quot;%&quot;"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Spender</c:v>
                </c:pt>
                <c:pt idx="1">
                  <c:v>Medium Spender</c:v>
                </c:pt>
                <c:pt idx="2">
                  <c:v>Ultra Spender</c:v>
                </c:pt>
              </c:strCache>
            </c:strRef>
          </c:cat>
          <c:val>
            <c:numRef>
              <c:f>Sheet1!$B$2:$B$4</c:f>
              <c:numCache>
                <c:formatCode>General</c:formatCode>
                <c:ptCount val="3"/>
                <c:pt idx="0">
                  <c:v>33.9</c:v>
                </c:pt>
                <c:pt idx="1">
                  <c:v>0</c:v>
                </c:pt>
                <c:pt idx="2">
                  <c:v>0</c:v>
                </c:pt>
              </c:numCache>
            </c:numRef>
          </c:val>
          <c:extLst>
            <c:ext xmlns:c16="http://schemas.microsoft.com/office/drawing/2014/chart" uri="{C3380CC4-5D6E-409C-BE32-E72D297353CC}">
              <c16:uniqueId val="{00000002-1773-402F-9A99-AC59B8D354EF}"/>
            </c:ext>
          </c:extLst>
        </c:ser>
        <c:ser>
          <c:idx val="1"/>
          <c:order val="1"/>
          <c:tx>
            <c:strRef>
              <c:f>Sheet1!$C$1</c:f>
              <c:strCache>
                <c:ptCount val="1"/>
                <c:pt idx="0">
                  <c:v>Hell's Kitchen</c:v>
                </c:pt>
              </c:strCache>
            </c:strRef>
          </c:tx>
          <c:spPr>
            <a:solidFill>
              <a:schemeClr val="accent2">
                <a:lumMod val="60000"/>
                <a:lumOff val="40000"/>
              </a:schemeClr>
            </a:solidFill>
            <a:effectLst/>
          </c:spPr>
          <c:invertIfNegative val="0"/>
          <c:dLbls>
            <c:dLbl>
              <c:idx val="1"/>
              <c:delete val="1"/>
              <c:extLst>
                <c:ext xmlns:c15="http://schemas.microsoft.com/office/drawing/2012/chart" uri="{CE6537A1-D6FC-4f65-9D91-7224C49458BB}">
                  <c15:layout>
                    <c:manualLayout>
                      <c:w val="7.8742937853107334E-2"/>
                      <c:h val="6.4262023217247097E-2"/>
                    </c:manualLayout>
                  </c15:layout>
                </c:ext>
                <c:ext xmlns:c16="http://schemas.microsoft.com/office/drawing/2014/chart" uri="{C3380CC4-5D6E-409C-BE32-E72D297353CC}">
                  <c16:uniqueId val="{00000003-1773-402F-9A99-AC59B8D354EF}"/>
                </c:ext>
              </c:extLst>
            </c:dLbl>
            <c:numFmt formatCode="0&quot;%&quot;"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Spender</c:v>
                </c:pt>
                <c:pt idx="1">
                  <c:v>Medium Spender</c:v>
                </c:pt>
                <c:pt idx="2">
                  <c:v>Ultra Spender</c:v>
                </c:pt>
              </c:strCache>
            </c:strRef>
          </c:cat>
          <c:val>
            <c:numRef>
              <c:f>Sheet1!$C$2:$C$4</c:f>
              <c:numCache>
                <c:formatCode>General</c:formatCode>
                <c:ptCount val="3"/>
                <c:pt idx="0">
                  <c:v>34</c:v>
                </c:pt>
                <c:pt idx="1">
                  <c:v>0</c:v>
                </c:pt>
                <c:pt idx="2">
                  <c:v>100</c:v>
                </c:pt>
              </c:numCache>
            </c:numRef>
          </c:val>
          <c:extLst>
            <c:ext xmlns:c16="http://schemas.microsoft.com/office/drawing/2014/chart" uri="{C3380CC4-5D6E-409C-BE32-E72D297353CC}">
              <c16:uniqueId val="{00000004-1773-402F-9A99-AC59B8D354EF}"/>
            </c:ext>
          </c:extLst>
        </c:ser>
        <c:ser>
          <c:idx val="2"/>
          <c:order val="2"/>
          <c:tx>
            <c:strRef>
              <c:f>Sheet1!$D$1</c:f>
              <c:strCache>
                <c:ptCount val="1"/>
                <c:pt idx="0">
                  <c:v>Lower Manhattan</c:v>
                </c:pt>
              </c:strCache>
            </c:strRef>
          </c:tx>
          <c:spPr>
            <a:solidFill>
              <a:srgbClr val="8B5A2B"/>
            </a:solidFill>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5-1773-402F-9A99-AC59B8D354EF}"/>
                </c:ext>
              </c:extLst>
            </c:dLbl>
            <c:numFmt formatCode="0&quot;%&quot;"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Spender</c:v>
                </c:pt>
                <c:pt idx="1">
                  <c:v>Medium Spender</c:v>
                </c:pt>
                <c:pt idx="2">
                  <c:v>Ultra Spender</c:v>
                </c:pt>
              </c:strCache>
            </c:strRef>
          </c:cat>
          <c:val>
            <c:numRef>
              <c:f>Sheet1!$D$2:$D$4</c:f>
              <c:numCache>
                <c:formatCode>General</c:formatCode>
                <c:ptCount val="3"/>
                <c:pt idx="0">
                  <c:v>32.1</c:v>
                </c:pt>
                <c:pt idx="1">
                  <c:v>100</c:v>
                </c:pt>
                <c:pt idx="2">
                  <c:v>0</c:v>
                </c:pt>
              </c:numCache>
            </c:numRef>
          </c:val>
          <c:extLst>
            <c:ext xmlns:c16="http://schemas.microsoft.com/office/drawing/2014/chart" uri="{C3380CC4-5D6E-409C-BE32-E72D297353CC}">
              <c16:uniqueId val="{00000006-1773-402F-9A99-AC59B8D354EF}"/>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9525" cap="flat">
              <a:solidFill>
                <a:srgbClr val="EDE2D2"/>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2C1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Low Spender</c:v>
                </c:pt>
              </c:strCache>
            </c:strRef>
          </c:tx>
          <c:spPr>
            <a:solidFill>
              <a:srgbClr val="E5C7A9"/>
            </a:solidFill>
            <a:effectLst/>
          </c:spPr>
          <c:invertIfNegative val="0"/>
          <c:dLbls>
            <c:numFmt formatCode="0&quot;%&quot;" sourceLinked="0"/>
            <c:spPr>
              <a:noFill/>
              <a:ln>
                <a:noFill/>
              </a:ln>
              <a:effectLst/>
            </c:spPr>
            <c:txPr>
              <a:bodyPr/>
              <a:lstStyle/>
              <a:p>
                <a:pPr>
                  <a:defRPr sz="8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Coffee</c:v>
                </c:pt>
                <c:pt idx="1">
                  <c:v>Tea</c:v>
                </c:pt>
                <c:pt idx="2">
                  <c:v>Bakery</c:v>
                </c:pt>
                <c:pt idx="3">
                  <c:v>Drinking
Chocolate</c:v>
                </c:pt>
                <c:pt idx="4">
                  <c:v>Coffee Beans</c:v>
                </c:pt>
                <c:pt idx="5">
                  <c:v>Branded &amp;
Other</c:v>
                </c:pt>
              </c:strCache>
            </c:strRef>
          </c:cat>
          <c:val>
            <c:numRef>
              <c:f>Sheet1!$B$2:$B$7</c:f>
              <c:numCache>
                <c:formatCode>General</c:formatCode>
                <c:ptCount val="6"/>
                <c:pt idx="0">
                  <c:v>38.799999999999997</c:v>
                </c:pt>
                <c:pt idx="1">
                  <c:v>28.3</c:v>
                </c:pt>
                <c:pt idx="2">
                  <c:v>11.8</c:v>
                </c:pt>
                <c:pt idx="3">
                  <c:v>10.4</c:v>
                </c:pt>
                <c:pt idx="4">
                  <c:v>5.3</c:v>
                </c:pt>
                <c:pt idx="5">
                  <c:v>5.4</c:v>
                </c:pt>
              </c:numCache>
            </c:numRef>
          </c:val>
          <c:extLst>
            <c:ext xmlns:c16="http://schemas.microsoft.com/office/drawing/2014/chart" uri="{C3380CC4-5D6E-409C-BE32-E72D297353CC}">
              <c16:uniqueId val="{00000000-AF01-4721-A59B-B66A7D56890B}"/>
            </c:ext>
          </c:extLst>
        </c:ser>
        <c:ser>
          <c:idx val="1"/>
          <c:order val="1"/>
          <c:tx>
            <c:strRef>
              <c:f>Sheet1!$C$1</c:f>
              <c:strCache>
                <c:ptCount val="1"/>
                <c:pt idx="0">
                  <c:v>Medium Spender</c:v>
                </c:pt>
              </c:strCache>
            </c:strRef>
          </c:tx>
          <c:spPr>
            <a:solidFill>
              <a:srgbClr val="C17817"/>
            </a:solidFill>
            <a:effectLst/>
          </c:spPr>
          <c:invertIfNegative val="0"/>
          <c:dLbls>
            <c:numFmt formatCode="0&quot;%&quot;" sourceLinked="0"/>
            <c:spPr>
              <a:noFill/>
              <a:ln>
                <a:noFill/>
              </a:ln>
              <a:effectLst/>
            </c:spPr>
            <c:txPr>
              <a:bodyPr/>
              <a:lstStyle/>
              <a:p>
                <a:pPr>
                  <a:defRPr sz="8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Coffee</c:v>
                </c:pt>
                <c:pt idx="1">
                  <c:v>Tea</c:v>
                </c:pt>
                <c:pt idx="2">
                  <c:v>Bakery</c:v>
                </c:pt>
                <c:pt idx="3">
                  <c:v>Drinking
Chocolate</c:v>
                </c:pt>
                <c:pt idx="4">
                  <c:v>Coffee Beans</c:v>
                </c:pt>
                <c:pt idx="5">
                  <c:v>Branded &amp;
Other</c:v>
                </c:pt>
              </c:strCache>
            </c:strRef>
          </c:cat>
          <c:val>
            <c:numRef>
              <c:f>Sheet1!$C$2:$C$7</c:f>
              <c:numCache>
                <c:formatCode>General</c:formatCode>
                <c:ptCount val="6"/>
                <c:pt idx="0">
                  <c:v>0</c:v>
                </c:pt>
                <c:pt idx="1">
                  <c:v>0</c:v>
                </c:pt>
                <c:pt idx="2">
                  <c:v>0</c:v>
                </c:pt>
                <c:pt idx="3">
                  <c:v>0</c:v>
                </c:pt>
                <c:pt idx="4">
                  <c:v>0</c:v>
                </c:pt>
                <c:pt idx="5">
                  <c:v>100</c:v>
                </c:pt>
              </c:numCache>
            </c:numRef>
          </c:val>
          <c:extLst>
            <c:ext xmlns:c16="http://schemas.microsoft.com/office/drawing/2014/chart" uri="{C3380CC4-5D6E-409C-BE32-E72D297353CC}">
              <c16:uniqueId val="{00000001-AF01-4721-A59B-B66A7D56890B}"/>
            </c:ext>
          </c:extLst>
        </c:ser>
        <c:ser>
          <c:idx val="2"/>
          <c:order val="2"/>
          <c:tx>
            <c:strRef>
              <c:f>Sheet1!$D$1</c:f>
              <c:strCache>
                <c:ptCount val="1"/>
                <c:pt idx="0">
                  <c:v>Ultra Spender</c:v>
                </c:pt>
              </c:strCache>
            </c:strRef>
          </c:tx>
          <c:spPr>
            <a:solidFill>
              <a:srgbClr val="2E1A0F"/>
            </a:solidFill>
            <a:effectLst/>
          </c:spPr>
          <c:invertIfNegative val="0"/>
          <c:dLbls>
            <c:numFmt formatCode="0&quot;%&quot;" sourceLinked="0"/>
            <c:spPr>
              <a:noFill/>
              <a:ln>
                <a:noFill/>
              </a:ln>
              <a:effectLst/>
            </c:spPr>
            <c:txPr>
              <a:bodyPr/>
              <a:lstStyle/>
              <a:p>
                <a:pPr>
                  <a:defRPr sz="800" b="0" i="0" u="none" strike="noStrike">
                    <a:solidFill>
                      <a:srgbClr val="4A2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Coffee</c:v>
                </c:pt>
                <c:pt idx="1">
                  <c:v>Tea</c:v>
                </c:pt>
                <c:pt idx="2">
                  <c:v>Bakery</c:v>
                </c:pt>
                <c:pt idx="3">
                  <c:v>Drinking
Chocolate</c:v>
                </c:pt>
                <c:pt idx="4">
                  <c:v>Coffee Beans</c:v>
                </c:pt>
                <c:pt idx="5">
                  <c:v>Branded &amp;
Other</c:v>
                </c:pt>
              </c:strCache>
            </c:strRef>
          </c:cat>
          <c:val>
            <c:numRef>
              <c:f>Sheet1!$D$2:$D$7</c:f>
              <c:numCache>
                <c:formatCode>General</c:formatCode>
                <c:ptCount val="6"/>
                <c:pt idx="0">
                  <c:v>0</c:v>
                </c:pt>
                <c:pt idx="1">
                  <c:v>0</c:v>
                </c:pt>
                <c:pt idx="2">
                  <c:v>0</c:v>
                </c:pt>
                <c:pt idx="3">
                  <c:v>0</c:v>
                </c:pt>
                <c:pt idx="4">
                  <c:v>100</c:v>
                </c:pt>
                <c:pt idx="5">
                  <c:v>0</c:v>
                </c:pt>
              </c:numCache>
            </c:numRef>
          </c:val>
          <c:extLst>
            <c:ext xmlns:c16="http://schemas.microsoft.com/office/drawing/2014/chart" uri="{C3380CC4-5D6E-409C-BE32-E72D297353CC}">
              <c16:uniqueId val="{00000002-AF01-4721-A59B-B66A7D56890B}"/>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2C1A"/>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DE2D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6A5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2C1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29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9BFCF-6E01-91ED-6BAE-D3B8B58DC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363AD-DD1B-6B1A-2E75-10D2AD1C3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733D6-BEB3-9641-D195-5579AFE6AE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A2330C-4517-8DC1-FBF7-6A8412DE267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29621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E8E70-14B2-D3F5-0247-E53D583F6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108B3-4DEC-B518-D4A1-991B9CEB0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EA174-F594-7050-E063-FBB575977C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4511E-FCB9-D72E-CE45-A705C108955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24070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8251857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036546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21468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2881430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37010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56531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479339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20071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083352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216165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70812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0210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6/19/2026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664682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2.png"/><Relationship Id="rId7"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5.xml"/><Relationship Id="rId11" Type="http://schemas.openxmlformats.org/officeDocument/2006/relationships/slide" Target="slide16.xml"/><Relationship Id="rId5" Type="http://schemas.openxmlformats.org/officeDocument/2006/relationships/slide" Target="slide4.xml"/><Relationship Id="rId10" Type="http://schemas.openxmlformats.org/officeDocument/2006/relationships/slide" Target="slide14.xml"/><Relationship Id="rId4" Type="http://schemas.openxmlformats.org/officeDocument/2006/relationships/slide" Target="slide3.xml"/><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slide" Target="slide2.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hart" Target="../charts/chart2.xml"/><Relationship Id="rId5" Type="http://schemas.openxmlformats.org/officeDocument/2006/relationships/image" Target="../media/image4.png"/><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2.png"/><Relationship Id="rId7"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chart" Target="../charts/chart5.xml"/><Relationship Id="rId5" Type="http://schemas.openxmlformats.org/officeDocument/2006/relationships/image" Target="../media/image4.png"/><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chart" Target="../charts/chart6.xml"/><Relationship Id="rId5" Type="http://schemas.openxmlformats.org/officeDocument/2006/relationships/image" Target="../media/image4.png"/><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chart" Target="../charts/chart8.xml"/><Relationship Id="rId5" Type="http://schemas.openxmlformats.org/officeDocument/2006/relationships/image" Target="../media/image4.png"/><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chart" Target="../charts/chart9.xml"/><Relationship Id="rId5" Type="http://schemas.openxmlformats.org/officeDocument/2006/relationships/image" Target="../media/image4.png"/><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chart" Target="../charts/chart11.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chart" Target="../charts/chart10.xml"/><Relationship Id="rId5" Type="http://schemas.openxmlformats.org/officeDocument/2006/relationships/image" Target="../media/image4.png"/><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7.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11.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slide" Target="slide2.xml"/><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8.png"/><Relationship Id="rId4" Type="http://schemas.openxmlformats.org/officeDocument/2006/relationships/slide" Target="slide2.xml"/><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20.png"/><Relationship Id="rId12"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8.png"/><Relationship Id="rId4" Type="http://schemas.openxmlformats.org/officeDocument/2006/relationships/slide" Target="slide2.xml"/><Relationship Id="rId9" Type="http://schemas.openxmlformats.org/officeDocument/2006/relationships/image" Target="../media/image11.png"/><Relationship Id="rId1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hyperlink" Target="https://www.linkedin.com/in/musuamba-teresa-wa-baya-342b39206/?skipRedirect=true" TargetMode="External"/><Relationship Id="rId5" Type="http://schemas.openxmlformats.org/officeDocument/2006/relationships/image" Target="../media/image18.png"/><Relationship Id="rId4" Type="http://schemas.openxmlformats.org/officeDocument/2006/relationships/image" Target="../media/image25.png"/><Relationship Id="rId9" Type="http://schemas.openxmlformats.org/officeDocument/2006/relationships/hyperlink" Target="https://github.com/Musuamba-Teresa-WaBay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0F"/>
        </a:solidFill>
        <a:effectLst/>
      </p:bgPr>
    </p:bg>
    <p:spTree>
      <p:nvGrpSpPr>
        <p:cNvPr id="1" name=""/>
        <p:cNvGrpSpPr/>
        <p:nvPr/>
      </p:nvGrpSpPr>
      <p:grpSpPr>
        <a:xfrm>
          <a:off x="0" y="0"/>
          <a:ext cx="0" cy="0"/>
          <a:chOff x="0" y="0"/>
          <a:chExt cx="0" cy="0"/>
        </a:xfrm>
      </p:grpSpPr>
      <p:sp>
        <p:nvSpPr>
          <p:cNvPr id="7" name="Text 4"/>
          <p:cNvSpPr/>
          <p:nvPr/>
        </p:nvSpPr>
        <p:spPr>
          <a:xfrm>
            <a:off x="822960" y="3063240"/>
            <a:ext cx="7315200" cy="320040"/>
          </a:xfrm>
          <a:prstGeom prst="rect">
            <a:avLst/>
          </a:prstGeom>
          <a:noFill/>
          <a:ln/>
        </p:spPr>
        <p:txBody>
          <a:bodyPr wrap="square" lIns="0" tIns="0" rIns="0" bIns="0" rtlCol="0" anchor="ctr"/>
          <a:lstStyle/>
          <a:p>
            <a:r>
              <a:rPr lang="en-US" sz="1400" b="1" kern="0" spc="300" dirty="0">
                <a:solidFill>
                  <a:srgbClr val="C17817"/>
                </a:solidFill>
                <a:latin typeface="Calibri" pitchFamily="34" charset="0"/>
                <a:ea typeface="Calibri" pitchFamily="34" charset="-122"/>
                <a:cs typeface="Calibri" pitchFamily="34" charset="-120"/>
              </a:rPr>
              <a:t>PREPARED BY: MUSUAMBA TERESA WA BAYA  </a:t>
            </a:r>
            <a:endParaRPr lang="en-US" sz="1400" dirty="0"/>
          </a:p>
        </p:txBody>
      </p:sp>
      <p:sp>
        <p:nvSpPr>
          <p:cNvPr id="8" name="Text 5"/>
          <p:cNvSpPr/>
          <p:nvPr/>
        </p:nvSpPr>
        <p:spPr>
          <a:xfrm>
            <a:off x="777240" y="1531620"/>
            <a:ext cx="9601200" cy="11430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Bright Coffee Shop</a:t>
            </a:r>
            <a:endParaRPr lang="en-US" sz="5400" dirty="0"/>
          </a:p>
        </p:txBody>
      </p:sp>
      <p:sp>
        <p:nvSpPr>
          <p:cNvPr id="9" name="Text 6"/>
          <p:cNvSpPr/>
          <p:nvPr/>
        </p:nvSpPr>
        <p:spPr>
          <a:xfrm>
            <a:off x="822960" y="2491740"/>
            <a:ext cx="8686800" cy="548640"/>
          </a:xfrm>
          <a:prstGeom prst="rect">
            <a:avLst/>
          </a:prstGeom>
          <a:noFill/>
          <a:ln/>
        </p:spPr>
        <p:txBody>
          <a:bodyPr wrap="square" lIns="0" tIns="0" rIns="0" bIns="0" rtlCol="0" anchor="ctr"/>
          <a:lstStyle/>
          <a:p>
            <a:pPr marL="0" indent="0">
              <a:buNone/>
            </a:pPr>
            <a:r>
              <a:rPr lang="en-US" sz="2200" i="1" dirty="0">
                <a:solidFill>
                  <a:srgbClr val="F7EFE3"/>
                </a:solidFill>
                <a:latin typeface="Calibri" pitchFamily="34" charset="0"/>
                <a:ea typeface="Calibri" pitchFamily="34" charset="-122"/>
                <a:cs typeface="Calibri" pitchFamily="34" charset="-120"/>
              </a:rPr>
              <a:t>Sales Analysis &amp; Growth Recommendations</a:t>
            </a:r>
            <a:endParaRPr lang="en-US" sz="2200" dirty="0"/>
          </a:p>
        </p:txBody>
      </p:sp>
      <p:sp>
        <p:nvSpPr>
          <p:cNvPr id="12" name="Shape 9"/>
          <p:cNvSpPr/>
          <p:nvPr/>
        </p:nvSpPr>
        <p:spPr>
          <a:xfrm>
            <a:off x="9921240" y="3771900"/>
            <a:ext cx="1554480" cy="1554480"/>
          </a:xfrm>
          <a:prstGeom prst="ellipse">
            <a:avLst/>
          </a:prstGeom>
          <a:solidFill>
            <a:srgbClr val="4A2C1A"/>
          </a:solidFill>
          <a:ln w="19050">
            <a:solidFill>
              <a:srgbClr val="C17817"/>
            </a:solidFill>
            <a:prstDash val="solid"/>
          </a:ln>
        </p:spPr>
      </p:sp>
      <p:pic>
        <p:nvPicPr>
          <p:cNvPr id="13" name="Image 1" descr="/home/claude/coffee_deck/icons/mug_white.png"/>
          <p:cNvPicPr>
            <a:picLocks noChangeAspect="1"/>
          </p:cNvPicPr>
          <p:nvPr/>
        </p:nvPicPr>
        <p:blipFill>
          <a:blip r:embed="rId3"/>
          <a:stretch>
            <a:fillRect/>
          </a:stretch>
        </p:blipFill>
        <p:spPr>
          <a:xfrm>
            <a:off x="10287000" y="413766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673531"/>
            <a:ext cx="566928" cy="566928"/>
          </a:xfrm>
          <a:prstGeom prst="ellipse">
            <a:avLst/>
          </a:prstGeom>
          <a:solidFill>
            <a:srgbClr val="C17817"/>
          </a:solidFill>
          <a:ln/>
        </p:spPr>
      </p:sp>
      <p:pic>
        <p:nvPicPr>
          <p:cNvPr id="3" name="Image 0" descr="/home/claude/coffee_deck/icons/list_white.png"/>
          <p:cNvPicPr>
            <a:picLocks noChangeAspect="1"/>
          </p:cNvPicPr>
          <p:nvPr/>
        </p:nvPicPr>
        <p:blipFill>
          <a:blip r:embed="rId3"/>
          <a:stretch>
            <a:fillRect/>
          </a:stretch>
        </p:blipFill>
        <p:spPr>
          <a:xfrm>
            <a:off x="649224" y="783259"/>
            <a:ext cx="274320" cy="274320"/>
          </a:xfrm>
          <a:prstGeom prst="rect">
            <a:avLst/>
          </a:prstGeom>
        </p:spPr>
      </p:pic>
      <p:sp>
        <p:nvSpPr>
          <p:cNvPr id="5" name="Text 2"/>
          <p:cNvSpPr/>
          <p:nvPr/>
        </p:nvSpPr>
        <p:spPr>
          <a:xfrm>
            <a:off x="1216152" y="713232"/>
            <a:ext cx="7315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Agenda</a:t>
            </a:r>
            <a:endParaRPr lang="en-US" sz="3000" dirty="0"/>
          </a:p>
        </p:txBody>
      </p:sp>
      <p:sp>
        <p:nvSpPr>
          <p:cNvPr id="7" name="Shape 4">
            <a:hlinkClick r:id="rId4" action="ppaction://hlinksldjump" tooltip="The Scenario"/>
          </p:cNvPr>
          <p:cNvSpPr/>
          <p:nvPr/>
        </p:nvSpPr>
        <p:spPr>
          <a:xfrm>
            <a:off x="502920" y="169037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8" name="Text 5">
            <a:hlinkClick r:id="rId4" action="ppaction://hlinksldjump"/>
          </p:cNvPr>
          <p:cNvSpPr/>
          <p:nvPr/>
        </p:nvSpPr>
        <p:spPr>
          <a:xfrm>
            <a:off x="667512" y="192811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4" action="ppaction://hlinksldjump">
                  <a:extLst>
                    <a:ext uri="{A12FA001-AC4F-418D-AE19-62706E023703}">
                      <ahyp:hlinkClr xmlns:ahyp="http://schemas.microsoft.com/office/drawing/2018/hyperlinkcolor" val="tx"/>
                    </a:ext>
                  </a:extLst>
                </a:hlinkClick>
              </a:rPr>
              <a:t>01</a:t>
            </a:r>
            <a:endParaRPr lang="en-US" sz="2600" dirty="0"/>
          </a:p>
        </p:txBody>
      </p:sp>
      <p:sp>
        <p:nvSpPr>
          <p:cNvPr id="9" name="Text 6">
            <a:hlinkClick r:id="rId4" action="ppaction://hlinksldjump"/>
          </p:cNvPr>
          <p:cNvSpPr/>
          <p:nvPr/>
        </p:nvSpPr>
        <p:spPr>
          <a:xfrm>
            <a:off x="1371600" y="189153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The Scenario</a:t>
            </a:r>
            <a:endParaRPr lang="en-US" sz="1500" dirty="0"/>
          </a:p>
        </p:txBody>
      </p:sp>
      <p:sp>
        <p:nvSpPr>
          <p:cNvPr id="10" name="Text 7">
            <a:hlinkClick r:id="rId4" action="ppaction://hlinksldjump"/>
          </p:cNvPr>
          <p:cNvSpPr/>
          <p:nvPr/>
        </p:nvSpPr>
        <p:spPr>
          <a:xfrm>
            <a:off x="1371600" y="225729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Why the CEO needs this analysis</a:t>
            </a:r>
            <a:endParaRPr lang="en-US" sz="1050" dirty="0"/>
          </a:p>
        </p:txBody>
      </p:sp>
      <p:sp>
        <p:nvSpPr>
          <p:cNvPr id="11" name="Shape 8">
            <a:hlinkClick r:id="rId5" action="ppaction://hlinksldjump" tooltip="About the Dataset"/>
          </p:cNvPr>
          <p:cNvSpPr/>
          <p:nvPr/>
        </p:nvSpPr>
        <p:spPr>
          <a:xfrm>
            <a:off x="502920" y="287909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12" name="Text 9">
            <a:hlinkClick r:id="rId5" action="ppaction://hlinksldjump"/>
          </p:cNvPr>
          <p:cNvSpPr/>
          <p:nvPr/>
        </p:nvSpPr>
        <p:spPr>
          <a:xfrm>
            <a:off x="667512" y="311683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5" action="ppaction://hlinksldjump">
                  <a:extLst>
                    <a:ext uri="{A12FA001-AC4F-418D-AE19-62706E023703}">
                      <ahyp:hlinkClr xmlns:ahyp="http://schemas.microsoft.com/office/drawing/2018/hyperlinkcolor" val="tx"/>
                    </a:ext>
                  </a:extLst>
                </a:hlinkClick>
              </a:rPr>
              <a:t>02</a:t>
            </a:r>
            <a:endParaRPr lang="en-US" sz="2600" dirty="0"/>
          </a:p>
        </p:txBody>
      </p:sp>
      <p:sp>
        <p:nvSpPr>
          <p:cNvPr id="13" name="Text 10">
            <a:hlinkClick r:id="rId5" action="ppaction://hlinksldjump"/>
          </p:cNvPr>
          <p:cNvSpPr/>
          <p:nvPr/>
        </p:nvSpPr>
        <p:spPr>
          <a:xfrm>
            <a:off x="1371600" y="308025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About the Dataset</a:t>
            </a:r>
            <a:endParaRPr lang="en-US" sz="1500" dirty="0"/>
          </a:p>
        </p:txBody>
      </p:sp>
      <p:sp>
        <p:nvSpPr>
          <p:cNvPr id="14" name="Text 11">
            <a:hlinkClick r:id="rId5" action="ppaction://hlinksldjump"/>
          </p:cNvPr>
          <p:cNvSpPr/>
          <p:nvPr/>
        </p:nvSpPr>
        <p:spPr>
          <a:xfrm>
            <a:off x="1371600" y="344601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Six months of transactions, three stores</a:t>
            </a:r>
            <a:endParaRPr lang="en-US" sz="1050" dirty="0"/>
          </a:p>
        </p:txBody>
      </p:sp>
      <p:sp>
        <p:nvSpPr>
          <p:cNvPr id="15" name="Shape 12">
            <a:hlinkClick r:id="rId6" action="ppaction://hlinksldjump" tooltip="Product Performance"/>
          </p:cNvPr>
          <p:cNvSpPr/>
          <p:nvPr/>
        </p:nvSpPr>
        <p:spPr>
          <a:xfrm>
            <a:off x="502920" y="406781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16" name="Text 13">
            <a:hlinkClick r:id="rId6" action="ppaction://hlinksldjump"/>
          </p:cNvPr>
          <p:cNvSpPr/>
          <p:nvPr/>
        </p:nvSpPr>
        <p:spPr>
          <a:xfrm>
            <a:off x="667512" y="430555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6" action="ppaction://hlinksldjump">
                  <a:extLst>
                    <a:ext uri="{A12FA001-AC4F-418D-AE19-62706E023703}">
                      <ahyp:hlinkClr xmlns:ahyp="http://schemas.microsoft.com/office/drawing/2018/hyperlinkcolor" val="tx"/>
                    </a:ext>
                  </a:extLst>
                </a:hlinkClick>
              </a:rPr>
              <a:t>03</a:t>
            </a:r>
            <a:endParaRPr lang="en-US" sz="2600" dirty="0"/>
          </a:p>
        </p:txBody>
      </p:sp>
      <p:sp>
        <p:nvSpPr>
          <p:cNvPr id="17" name="Text 14">
            <a:hlinkClick r:id="rId6" action="ppaction://hlinksldjump"/>
          </p:cNvPr>
          <p:cNvSpPr/>
          <p:nvPr/>
        </p:nvSpPr>
        <p:spPr>
          <a:xfrm>
            <a:off x="1371600" y="426897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Product Performance</a:t>
            </a:r>
            <a:endParaRPr lang="en-US" sz="1500" dirty="0"/>
          </a:p>
        </p:txBody>
      </p:sp>
      <p:sp>
        <p:nvSpPr>
          <p:cNvPr id="18" name="Text 15">
            <a:hlinkClick r:id="rId6" action="ppaction://hlinksldjump"/>
          </p:cNvPr>
          <p:cNvSpPr/>
          <p:nvPr/>
        </p:nvSpPr>
        <p:spPr>
          <a:xfrm>
            <a:off x="1371600" y="463473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What's selling — and what isn't</a:t>
            </a:r>
            <a:endParaRPr lang="en-US" sz="1050" dirty="0"/>
          </a:p>
        </p:txBody>
      </p:sp>
      <p:sp>
        <p:nvSpPr>
          <p:cNvPr id="19" name="Shape 16">
            <a:hlinkClick r:id="rId7" action="ppaction://hlinksldjump" tooltip="Where We Sell"/>
          </p:cNvPr>
          <p:cNvSpPr/>
          <p:nvPr/>
        </p:nvSpPr>
        <p:spPr>
          <a:xfrm>
            <a:off x="502920" y="525653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20" name="Text 17">
            <a:hlinkClick r:id="rId7" action="ppaction://hlinksldjump"/>
          </p:cNvPr>
          <p:cNvSpPr/>
          <p:nvPr/>
        </p:nvSpPr>
        <p:spPr>
          <a:xfrm>
            <a:off x="667512" y="549427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7" action="ppaction://hlinksldjump">
                  <a:extLst>
                    <a:ext uri="{A12FA001-AC4F-418D-AE19-62706E023703}">
                      <ahyp:hlinkClr xmlns:ahyp="http://schemas.microsoft.com/office/drawing/2018/hyperlinkcolor" val="tx"/>
                    </a:ext>
                  </a:extLst>
                </a:hlinkClick>
              </a:rPr>
              <a:t>04</a:t>
            </a:r>
            <a:endParaRPr lang="en-US" sz="2600" dirty="0"/>
          </a:p>
        </p:txBody>
      </p:sp>
      <p:sp>
        <p:nvSpPr>
          <p:cNvPr id="21" name="Text 18">
            <a:hlinkClick r:id="rId7" action="ppaction://hlinksldjump"/>
          </p:cNvPr>
          <p:cNvSpPr/>
          <p:nvPr/>
        </p:nvSpPr>
        <p:spPr>
          <a:xfrm>
            <a:off x="1371600" y="545769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Where We Sell</a:t>
            </a:r>
            <a:endParaRPr lang="en-US" sz="1500" dirty="0"/>
          </a:p>
        </p:txBody>
      </p:sp>
      <p:sp>
        <p:nvSpPr>
          <p:cNvPr id="22" name="Text 19">
            <a:hlinkClick r:id="rId7" action="ppaction://hlinksldjump"/>
          </p:cNvPr>
          <p:cNvSpPr/>
          <p:nvPr/>
        </p:nvSpPr>
        <p:spPr>
          <a:xfrm>
            <a:off x="1371600" y="582345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Comparing the three locations</a:t>
            </a:r>
            <a:endParaRPr lang="en-US" sz="1050" dirty="0"/>
          </a:p>
        </p:txBody>
      </p:sp>
      <p:sp>
        <p:nvSpPr>
          <p:cNvPr id="23" name="Shape 20">
            <a:hlinkClick r:id="rId8" action="ppaction://hlinksldjump" tooltip="When We Sell"/>
          </p:cNvPr>
          <p:cNvSpPr/>
          <p:nvPr/>
        </p:nvSpPr>
        <p:spPr>
          <a:xfrm>
            <a:off x="6194808" y="169037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24" name="Text 21">
            <a:hlinkClick r:id="rId8" action="ppaction://hlinksldjump"/>
          </p:cNvPr>
          <p:cNvSpPr/>
          <p:nvPr/>
        </p:nvSpPr>
        <p:spPr>
          <a:xfrm>
            <a:off x="6359400" y="192811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8" action="ppaction://hlinksldjump">
                  <a:extLst>
                    <a:ext uri="{A12FA001-AC4F-418D-AE19-62706E023703}">
                      <ahyp:hlinkClr xmlns:ahyp="http://schemas.microsoft.com/office/drawing/2018/hyperlinkcolor" val="tx"/>
                    </a:ext>
                  </a:extLst>
                </a:hlinkClick>
              </a:rPr>
              <a:t>05</a:t>
            </a:r>
            <a:endParaRPr lang="en-US" sz="2600" dirty="0"/>
          </a:p>
        </p:txBody>
      </p:sp>
      <p:sp>
        <p:nvSpPr>
          <p:cNvPr id="25" name="Text 22">
            <a:hlinkClick r:id="rId8" action="ppaction://hlinksldjump"/>
          </p:cNvPr>
          <p:cNvSpPr/>
          <p:nvPr/>
        </p:nvSpPr>
        <p:spPr>
          <a:xfrm>
            <a:off x="7063488" y="189153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8" action="ppaction://hlinksldjump">
                  <a:extLst>
                    <a:ext uri="{A12FA001-AC4F-418D-AE19-62706E023703}">
                      <ahyp:hlinkClr xmlns:ahyp="http://schemas.microsoft.com/office/drawing/2018/hyperlinkcolor" val="tx"/>
                    </a:ext>
                  </a:extLst>
                </a:hlinkClick>
              </a:rPr>
              <a:t>When We Sell</a:t>
            </a:r>
            <a:endParaRPr lang="en-US" sz="1500" dirty="0"/>
          </a:p>
        </p:txBody>
      </p:sp>
      <p:sp>
        <p:nvSpPr>
          <p:cNvPr id="26" name="Text 23">
            <a:hlinkClick r:id="rId8" action="ppaction://hlinksldjump"/>
          </p:cNvPr>
          <p:cNvSpPr/>
          <p:nvPr/>
        </p:nvSpPr>
        <p:spPr>
          <a:xfrm>
            <a:off x="7063488" y="225729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8" action="ppaction://hlinksldjump">
                  <a:extLst>
                    <a:ext uri="{A12FA001-AC4F-418D-AE19-62706E023703}">
                      <ahyp:hlinkClr xmlns:ahyp="http://schemas.microsoft.com/office/drawing/2018/hyperlinkcolor" val="tx"/>
                    </a:ext>
                  </a:extLst>
                </a:hlinkClick>
              </a:rPr>
              <a:t>Peak hours, days &amp; months</a:t>
            </a:r>
            <a:endParaRPr lang="en-US" sz="1050" dirty="0"/>
          </a:p>
        </p:txBody>
      </p:sp>
      <p:sp>
        <p:nvSpPr>
          <p:cNvPr id="27" name="Shape 24">
            <a:hlinkClick r:id="rId9" action="ppaction://hlinksldjump" tooltip="Customer Behaviour"/>
          </p:cNvPr>
          <p:cNvSpPr/>
          <p:nvPr/>
        </p:nvSpPr>
        <p:spPr>
          <a:xfrm>
            <a:off x="6194808" y="287909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28" name="Text 25">
            <a:hlinkClick r:id="rId9" action="ppaction://hlinksldjump"/>
          </p:cNvPr>
          <p:cNvSpPr/>
          <p:nvPr/>
        </p:nvSpPr>
        <p:spPr>
          <a:xfrm>
            <a:off x="6359400" y="311683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9" action="ppaction://hlinksldjump">
                  <a:extLst>
                    <a:ext uri="{A12FA001-AC4F-418D-AE19-62706E023703}">
                      <ahyp:hlinkClr xmlns:ahyp="http://schemas.microsoft.com/office/drawing/2018/hyperlinkcolor" val="tx"/>
                    </a:ext>
                  </a:extLst>
                </a:hlinkClick>
              </a:rPr>
              <a:t>06</a:t>
            </a:r>
            <a:endParaRPr lang="en-US" sz="2600" dirty="0"/>
          </a:p>
        </p:txBody>
      </p:sp>
      <p:sp>
        <p:nvSpPr>
          <p:cNvPr id="29" name="Text 26">
            <a:hlinkClick r:id="rId9" action="ppaction://hlinksldjump"/>
          </p:cNvPr>
          <p:cNvSpPr/>
          <p:nvPr/>
        </p:nvSpPr>
        <p:spPr>
          <a:xfrm>
            <a:off x="7063488" y="308025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9" action="ppaction://hlinksldjump">
                  <a:extLst>
                    <a:ext uri="{A12FA001-AC4F-418D-AE19-62706E023703}">
                      <ahyp:hlinkClr xmlns:ahyp="http://schemas.microsoft.com/office/drawing/2018/hyperlinkcolor" val="tx"/>
                    </a:ext>
                  </a:extLst>
                </a:hlinkClick>
              </a:rPr>
              <a:t>Customer Behaviour</a:t>
            </a:r>
            <a:endParaRPr lang="en-US" sz="1500" dirty="0"/>
          </a:p>
        </p:txBody>
      </p:sp>
      <p:sp>
        <p:nvSpPr>
          <p:cNvPr id="30" name="Text 27">
            <a:hlinkClick r:id="rId9" action="ppaction://hlinksldjump"/>
          </p:cNvPr>
          <p:cNvSpPr/>
          <p:nvPr/>
        </p:nvSpPr>
        <p:spPr>
          <a:xfrm>
            <a:off x="7063488" y="344601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9" action="ppaction://hlinksldjump">
                  <a:extLst>
                    <a:ext uri="{A12FA001-AC4F-418D-AE19-62706E023703}">
                      <ahyp:hlinkClr xmlns:ahyp="http://schemas.microsoft.com/office/drawing/2018/hyperlinkcolor" val="tx"/>
                    </a:ext>
                  </a:extLst>
                </a:hlinkClick>
              </a:rPr>
              <a:t>Basket size &amp; buying patterns</a:t>
            </a:r>
            <a:endParaRPr lang="en-US" sz="1050" dirty="0"/>
          </a:p>
        </p:txBody>
      </p:sp>
      <p:sp>
        <p:nvSpPr>
          <p:cNvPr id="31" name="Shape 28">
            <a:hlinkClick r:id="rId10" action="ppaction://hlinksldjump" tooltip="Insights &amp; Recommendations"/>
          </p:cNvPr>
          <p:cNvSpPr/>
          <p:nvPr/>
        </p:nvSpPr>
        <p:spPr>
          <a:xfrm>
            <a:off x="6194808" y="406781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32" name="Text 29">
            <a:hlinkClick r:id="rId10" action="ppaction://hlinksldjump"/>
          </p:cNvPr>
          <p:cNvSpPr/>
          <p:nvPr/>
        </p:nvSpPr>
        <p:spPr>
          <a:xfrm>
            <a:off x="6359400" y="430555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10" action="ppaction://hlinksldjump">
                  <a:extLst>
                    <a:ext uri="{A12FA001-AC4F-418D-AE19-62706E023703}">
                      <ahyp:hlinkClr xmlns:ahyp="http://schemas.microsoft.com/office/drawing/2018/hyperlinkcolor" val="tx"/>
                    </a:ext>
                  </a:extLst>
                </a:hlinkClick>
              </a:rPr>
              <a:t>07</a:t>
            </a:r>
            <a:endParaRPr lang="en-US" sz="2600" dirty="0"/>
          </a:p>
        </p:txBody>
      </p:sp>
      <p:sp>
        <p:nvSpPr>
          <p:cNvPr id="33" name="Text 30">
            <a:hlinkClick r:id="rId10" action="ppaction://hlinksldjump"/>
          </p:cNvPr>
          <p:cNvSpPr/>
          <p:nvPr/>
        </p:nvSpPr>
        <p:spPr>
          <a:xfrm>
            <a:off x="7063488" y="426897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10" action="ppaction://hlinksldjump">
                  <a:extLst>
                    <a:ext uri="{A12FA001-AC4F-418D-AE19-62706E023703}">
                      <ahyp:hlinkClr xmlns:ahyp="http://schemas.microsoft.com/office/drawing/2018/hyperlinkcolor" val="tx"/>
                    </a:ext>
                  </a:extLst>
                </a:hlinkClick>
              </a:rPr>
              <a:t>Insights &amp; Recommendations</a:t>
            </a:r>
            <a:endParaRPr lang="en-US" sz="1500" dirty="0"/>
          </a:p>
        </p:txBody>
      </p:sp>
      <p:sp>
        <p:nvSpPr>
          <p:cNvPr id="34" name="Text 31">
            <a:hlinkClick r:id="rId10" action="ppaction://hlinksldjump"/>
          </p:cNvPr>
          <p:cNvSpPr/>
          <p:nvPr/>
        </p:nvSpPr>
        <p:spPr>
          <a:xfrm>
            <a:off x="7063488" y="463473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10" action="ppaction://hlinksldjump">
                  <a:extLst>
                    <a:ext uri="{A12FA001-AC4F-418D-AE19-62706E023703}">
                      <ahyp:hlinkClr xmlns:ahyp="http://schemas.microsoft.com/office/drawing/2018/hyperlinkcolor" val="tx"/>
                    </a:ext>
                  </a:extLst>
                </a:hlinkClick>
              </a:rPr>
              <a:t>What the CEO should do next</a:t>
            </a:r>
            <a:endParaRPr lang="en-US" sz="1050" dirty="0"/>
          </a:p>
        </p:txBody>
      </p:sp>
      <p:sp>
        <p:nvSpPr>
          <p:cNvPr id="35" name="Shape 32">
            <a:hlinkClick r:id="rId11" action="ppaction://hlinksldjump" tooltip="Next Steps"/>
          </p:cNvPr>
          <p:cNvSpPr/>
          <p:nvPr/>
        </p:nvSpPr>
        <p:spPr>
          <a:xfrm>
            <a:off x="6194808" y="5256530"/>
            <a:ext cx="5349240" cy="1097280"/>
          </a:xfrm>
          <a:prstGeom prst="roundRect">
            <a:avLst>
              <a:gd name="adj" fmla="val 9783"/>
            </a:avLst>
          </a:prstGeom>
          <a:solidFill>
            <a:srgbClr val="F2E6D8"/>
          </a:solidFill>
          <a:ln/>
          <a:effectLst>
            <a:outerShdw blurRad="88900" dist="38100" dir="2700000" algn="bl" rotWithShape="0">
              <a:srgbClr val="2E1A0F">
                <a:alpha val="18000"/>
              </a:srgbClr>
            </a:outerShdw>
          </a:effectLst>
        </p:spPr>
      </p:sp>
      <p:sp>
        <p:nvSpPr>
          <p:cNvPr id="36" name="Text 33">
            <a:hlinkClick r:id="rId11" action="ppaction://hlinksldjump"/>
          </p:cNvPr>
          <p:cNvSpPr/>
          <p:nvPr/>
        </p:nvSpPr>
        <p:spPr>
          <a:xfrm>
            <a:off x="6359400" y="5494274"/>
            <a:ext cx="640080" cy="621792"/>
          </a:xfrm>
          <a:prstGeom prst="rect">
            <a:avLst/>
          </a:prstGeom>
          <a:noFill/>
          <a:ln/>
        </p:spPr>
        <p:txBody>
          <a:bodyPr wrap="square" lIns="0" tIns="0" rIns="0" bIns="0" rtlCol="0" anchor="ctr"/>
          <a:lstStyle/>
          <a:p>
            <a:pPr marL="0" indent="0">
              <a:buNone/>
            </a:pPr>
            <a:r>
              <a:rPr lang="en-US" sz="2600" b="1" u="sng" dirty="0">
                <a:solidFill>
                  <a:srgbClr val="C17817"/>
                </a:solidFill>
                <a:latin typeface="Cambria" pitchFamily="34" charset="0"/>
                <a:ea typeface="Cambria" pitchFamily="34" charset="-122"/>
                <a:cs typeface="Cambria" pitchFamily="34" charset="-120"/>
                <a:hlinkClick r:id="rId11" action="ppaction://hlinksldjump">
                  <a:extLst>
                    <a:ext uri="{A12FA001-AC4F-418D-AE19-62706E023703}">
                      <ahyp:hlinkClr xmlns:ahyp="http://schemas.microsoft.com/office/drawing/2018/hyperlinkcolor" val="tx"/>
                    </a:ext>
                  </a:extLst>
                </a:hlinkClick>
              </a:rPr>
              <a:t>08</a:t>
            </a:r>
            <a:endParaRPr lang="en-US" sz="2600" dirty="0"/>
          </a:p>
        </p:txBody>
      </p:sp>
      <p:sp>
        <p:nvSpPr>
          <p:cNvPr id="37" name="Text 34">
            <a:hlinkClick r:id="rId11" action="ppaction://hlinksldjump"/>
          </p:cNvPr>
          <p:cNvSpPr/>
          <p:nvPr/>
        </p:nvSpPr>
        <p:spPr>
          <a:xfrm>
            <a:off x="7063488" y="5457698"/>
            <a:ext cx="3977640" cy="347472"/>
          </a:xfrm>
          <a:prstGeom prst="rect">
            <a:avLst/>
          </a:prstGeom>
          <a:noFill/>
          <a:ln/>
        </p:spPr>
        <p:txBody>
          <a:bodyPr wrap="square" lIns="0" tIns="0" rIns="0" bIns="0" rtlCol="0" anchor="b"/>
          <a:lstStyle/>
          <a:p>
            <a:pPr marL="0" indent="0">
              <a:buNone/>
            </a:pPr>
            <a:r>
              <a:rPr lang="en-US" sz="1500" b="1" u="sng" dirty="0">
                <a:solidFill>
                  <a:srgbClr val="4A2C1A"/>
                </a:solidFill>
                <a:latin typeface="Calibri" pitchFamily="34" charset="0"/>
                <a:ea typeface="Calibri" pitchFamily="34" charset="-122"/>
                <a:cs typeface="Calibri" pitchFamily="34" charset="-120"/>
                <a:hlinkClick r:id="rId11" action="ppaction://hlinksldjump">
                  <a:extLst>
                    <a:ext uri="{A12FA001-AC4F-418D-AE19-62706E023703}">
                      <ahyp:hlinkClr xmlns:ahyp="http://schemas.microsoft.com/office/drawing/2018/hyperlinkcolor" val="tx"/>
                    </a:ext>
                  </a:extLst>
                </a:hlinkClick>
              </a:rPr>
              <a:t>Next Steps</a:t>
            </a:r>
            <a:endParaRPr lang="en-US" sz="1500" dirty="0"/>
          </a:p>
        </p:txBody>
      </p:sp>
      <p:sp>
        <p:nvSpPr>
          <p:cNvPr id="38" name="Text 35">
            <a:hlinkClick r:id="rId11" action="ppaction://hlinksldjump"/>
          </p:cNvPr>
          <p:cNvSpPr/>
          <p:nvPr/>
        </p:nvSpPr>
        <p:spPr>
          <a:xfrm>
            <a:off x="7063488" y="5823458"/>
            <a:ext cx="3977640" cy="310896"/>
          </a:xfrm>
          <a:prstGeom prst="rect">
            <a:avLst/>
          </a:prstGeom>
          <a:noFill/>
          <a:ln/>
        </p:spPr>
        <p:txBody>
          <a:bodyPr wrap="square" lIns="0" tIns="0" rIns="0" bIns="0" rtlCol="0" anchor="t"/>
          <a:lstStyle/>
          <a:p>
            <a:pPr marL="0" indent="0">
              <a:buNone/>
            </a:pPr>
            <a:r>
              <a:rPr lang="en-US" sz="1050" i="1" u="sng" dirty="0">
                <a:solidFill>
                  <a:srgbClr val="8A6A52"/>
                </a:solidFill>
                <a:latin typeface="Calibri" pitchFamily="34" charset="0"/>
                <a:ea typeface="Calibri" pitchFamily="34" charset="-122"/>
                <a:cs typeface="Calibri" pitchFamily="34" charset="-120"/>
                <a:hlinkClick r:id="rId11" action="ppaction://hlinksldjump">
                  <a:extLst>
                    <a:ext uri="{A12FA001-AC4F-418D-AE19-62706E023703}">
                      <ahyp:hlinkClr xmlns:ahyp="http://schemas.microsoft.com/office/drawing/2018/hyperlinkcolor" val="tx"/>
                    </a:ext>
                  </a:extLst>
                </a:hlinkClick>
              </a:rPr>
              <a:t>Turning analysis into action</a:t>
            </a:r>
            <a:endParaRPr lang="en-US" sz="1050" dirty="0"/>
          </a:p>
        </p:txBody>
      </p:sp>
      <p:sp>
        <p:nvSpPr>
          <p:cNvPr id="47" name="Text 44"/>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48" name="Text 45"/>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coffee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BUSINESS CONTEXT</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The Scenario</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sp>
        <p:nvSpPr>
          <p:cNvPr id="8" name="Text 4"/>
          <p:cNvSpPr/>
          <p:nvPr/>
        </p:nvSpPr>
        <p:spPr>
          <a:xfrm>
            <a:off x="1216152" y="1872234"/>
            <a:ext cx="10707624" cy="1005840"/>
          </a:xfrm>
          <a:prstGeom prst="rect">
            <a:avLst/>
          </a:prstGeom>
          <a:noFill/>
          <a:ln/>
        </p:spPr>
        <p:txBody>
          <a:bodyPr wrap="square" lIns="0" tIns="0" rIns="0" bIns="0" rtlCol="0" anchor="t"/>
          <a:lstStyle/>
          <a:p>
            <a:pPr marL="0" indent="0">
              <a:lnSpc>
                <a:spcPct val="115000"/>
              </a:lnSpc>
              <a:buNone/>
            </a:pPr>
            <a:r>
              <a:rPr lang="en-US" sz="1600" b="1" dirty="0">
                <a:solidFill>
                  <a:srgbClr val="4A2C1A"/>
                </a:solidFill>
                <a:latin typeface="Calibri" pitchFamily="34" charset="0"/>
                <a:ea typeface="Calibri" pitchFamily="34" charset="-122"/>
                <a:cs typeface="Calibri" pitchFamily="34" charset="-120"/>
              </a:rPr>
              <a:t>Bright Coffee Shop has a new CEO, and a clear mandate: </a:t>
            </a:r>
            <a:r>
              <a:rPr lang="en-US" sz="1600" dirty="0">
                <a:solidFill>
                  <a:srgbClr val="4A2C1A"/>
                </a:solidFill>
                <a:latin typeface="Calibri" pitchFamily="34" charset="0"/>
                <a:ea typeface="Calibri" pitchFamily="34" charset="-122"/>
                <a:cs typeface="Calibri" pitchFamily="34" charset="-120"/>
              </a:rPr>
              <a:t>grow revenue and sharpen product performance across the business.</a:t>
            </a:r>
            <a:endParaRPr lang="en-US" sz="1600" dirty="0"/>
          </a:p>
        </p:txBody>
      </p:sp>
      <p:sp>
        <p:nvSpPr>
          <p:cNvPr id="9" name="Text 5"/>
          <p:cNvSpPr/>
          <p:nvPr/>
        </p:nvSpPr>
        <p:spPr>
          <a:xfrm>
            <a:off x="1225296" y="2247138"/>
            <a:ext cx="10917936" cy="914400"/>
          </a:xfrm>
          <a:prstGeom prst="rect">
            <a:avLst/>
          </a:prstGeom>
          <a:noFill/>
          <a:ln/>
        </p:spPr>
        <p:txBody>
          <a:bodyPr wrap="square" lIns="0" tIns="0" rIns="0" bIns="0" rtlCol="0" anchor="t"/>
          <a:lstStyle/>
          <a:p>
            <a:pPr marL="0" indent="0" algn="just">
              <a:lnSpc>
                <a:spcPct val="115000"/>
              </a:lnSpc>
              <a:buNone/>
            </a:pPr>
            <a:r>
              <a:rPr lang="en-US" sz="1450" dirty="0">
                <a:solidFill>
                  <a:srgbClr val="4A2C1A"/>
                </a:solidFill>
                <a:latin typeface="Calibri" pitchFamily="34" charset="0"/>
                <a:ea typeface="Calibri" pitchFamily="34" charset="-122"/>
                <a:cs typeface="Calibri" pitchFamily="34" charset="-120"/>
              </a:rPr>
              <a:t>As a Data Analyst, my role is to turn six months of raw transaction data into the evidence the CEO needs to make confident decisions.</a:t>
            </a:r>
            <a:endParaRPr lang="en-US" sz="1450" dirty="0"/>
          </a:p>
        </p:txBody>
      </p:sp>
      <p:sp>
        <p:nvSpPr>
          <p:cNvPr id="10" name="Shape 6"/>
          <p:cNvSpPr/>
          <p:nvPr/>
        </p:nvSpPr>
        <p:spPr>
          <a:xfrm>
            <a:off x="2633550" y="2878074"/>
            <a:ext cx="6492240" cy="2331720"/>
          </a:xfrm>
          <a:prstGeom prst="roundRect">
            <a:avLst>
              <a:gd name="adj" fmla="val 3922"/>
            </a:avLst>
          </a:prstGeom>
          <a:solidFill>
            <a:srgbClr val="F2E6D8"/>
          </a:solidFill>
          <a:ln/>
          <a:effectLst>
            <a:outerShdw blurRad="88900" dist="38100" dir="2700000" algn="bl" rotWithShape="0">
              <a:srgbClr val="2E1A0F">
                <a:alpha val="18000"/>
              </a:srgbClr>
            </a:outerShdw>
          </a:effectLst>
        </p:spPr>
      </p:sp>
      <p:sp>
        <p:nvSpPr>
          <p:cNvPr id="11" name="Text 7"/>
          <p:cNvSpPr/>
          <p:nvPr/>
        </p:nvSpPr>
        <p:spPr>
          <a:xfrm>
            <a:off x="2822140" y="3330702"/>
            <a:ext cx="6035040" cy="320040"/>
          </a:xfrm>
          <a:prstGeom prst="rect">
            <a:avLst/>
          </a:prstGeom>
          <a:noFill/>
          <a:ln/>
        </p:spPr>
        <p:txBody>
          <a:bodyPr wrap="square" lIns="0" tIns="0" rIns="0" bIns="0" rtlCol="0" anchor="ctr"/>
          <a:lstStyle/>
          <a:p>
            <a:pPr marL="0" indent="0">
              <a:buNone/>
            </a:pPr>
            <a:r>
              <a:rPr lang="en-US" sz="1350" b="1" dirty="0">
                <a:solidFill>
                  <a:srgbClr val="4A2C1A"/>
                </a:solidFill>
                <a:latin typeface="Calibri" pitchFamily="34" charset="0"/>
                <a:ea typeface="Calibri" pitchFamily="34" charset="-122"/>
                <a:cs typeface="Calibri" pitchFamily="34" charset="-120"/>
              </a:rPr>
              <a:t>This analysis sets out to answer:</a:t>
            </a:r>
            <a:endParaRPr lang="en-US" sz="1350" dirty="0"/>
          </a:p>
        </p:txBody>
      </p:sp>
      <p:sp>
        <p:nvSpPr>
          <p:cNvPr id="12" name="Text 8"/>
          <p:cNvSpPr/>
          <p:nvPr/>
        </p:nvSpPr>
        <p:spPr>
          <a:xfrm>
            <a:off x="2867860" y="3696462"/>
            <a:ext cx="5760720" cy="1737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4A2C1A"/>
                </a:solidFill>
                <a:latin typeface="Calibri" pitchFamily="34" charset="0"/>
                <a:ea typeface="Calibri" pitchFamily="34" charset="-122"/>
                <a:cs typeface="Calibri" pitchFamily="34" charset="-120"/>
              </a:rPr>
              <a:t>Which products generate the most revenue?</a:t>
            </a:r>
            <a:endParaRPr lang="en-US" sz="1400" dirty="0"/>
          </a:p>
          <a:p>
            <a:pPr marL="342900" indent="-342900">
              <a:spcAft>
                <a:spcPts val="1000"/>
              </a:spcAft>
              <a:buSzPct val="100000"/>
              <a:buChar char="•"/>
            </a:pPr>
            <a:r>
              <a:rPr lang="en-US" sz="1400" dirty="0">
                <a:solidFill>
                  <a:srgbClr val="4A2C1A"/>
                </a:solidFill>
                <a:latin typeface="Calibri" pitchFamily="34" charset="0"/>
                <a:ea typeface="Calibri" pitchFamily="34" charset="-122"/>
                <a:cs typeface="Calibri" pitchFamily="34" charset="-120"/>
              </a:rPr>
              <a:t>What time of day does the store perform best?</a:t>
            </a:r>
            <a:endParaRPr lang="en-US" sz="1400" dirty="0"/>
          </a:p>
          <a:p>
            <a:pPr marL="342900" indent="-342900">
              <a:spcAft>
                <a:spcPts val="1000"/>
              </a:spcAft>
              <a:buSzPct val="100000"/>
              <a:buChar char="•"/>
            </a:pPr>
            <a:r>
              <a:rPr lang="en-US" sz="1400" dirty="0">
                <a:solidFill>
                  <a:srgbClr val="4A2C1A"/>
                </a:solidFill>
                <a:latin typeface="Calibri" pitchFamily="34" charset="0"/>
                <a:ea typeface="Calibri" pitchFamily="34" charset="-122"/>
                <a:cs typeface="Calibri" pitchFamily="34" charset="-120"/>
              </a:rPr>
              <a:t>How do sales trend across products and time intervals?</a:t>
            </a:r>
            <a:endParaRPr lang="en-US" sz="1400" dirty="0"/>
          </a:p>
          <a:p>
            <a:pPr marL="342900" indent="-342900">
              <a:spcAft>
                <a:spcPts val="1000"/>
              </a:spcAft>
              <a:buSzPct val="100000"/>
              <a:buChar char="•"/>
            </a:pPr>
            <a:r>
              <a:rPr lang="en-US" sz="1400" dirty="0">
                <a:solidFill>
                  <a:srgbClr val="4A2C1A"/>
                </a:solidFill>
                <a:latin typeface="Calibri" pitchFamily="34" charset="0"/>
                <a:ea typeface="Calibri" pitchFamily="34" charset="-122"/>
                <a:cs typeface="Calibri" pitchFamily="34" charset="-120"/>
              </a:rPr>
              <a:t>What should change to improve sales performance?</a:t>
            </a:r>
            <a:endParaRPr lang="en-US" sz="1400" dirty="0"/>
          </a:p>
        </p:txBody>
      </p:sp>
      <p:sp>
        <p:nvSpPr>
          <p:cNvPr id="26" name="Text 21"/>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27" name="Text 22"/>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database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DATA OVERVIEW</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About the Dataset</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sp>
        <p:nvSpPr>
          <p:cNvPr id="8" name="Text 4"/>
          <p:cNvSpPr/>
          <p:nvPr/>
        </p:nvSpPr>
        <p:spPr>
          <a:xfrm>
            <a:off x="777240" y="1463040"/>
            <a:ext cx="10607040" cy="548640"/>
          </a:xfrm>
          <a:prstGeom prst="rect">
            <a:avLst/>
          </a:prstGeom>
          <a:noFill/>
          <a:ln/>
        </p:spPr>
        <p:txBody>
          <a:bodyPr wrap="square" lIns="0" tIns="0" rIns="0" bIns="0" rtlCol="0" anchor="ctr"/>
          <a:lstStyle/>
          <a:p>
            <a:pPr marL="0" indent="0">
              <a:lnSpc>
                <a:spcPct val="110000"/>
              </a:lnSpc>
              <a:buNone/>
            </a:pPr>
            <a:r>
              <a:rPr lang="en-US" sz="1400" dirty="0">
                <a:solidFill>
                  <a:srgbClr val="4A2C1A"/>
                </a:solidFill>
                <a:latin typeface="Calibri" pitchFamily="34" charset="0"/>
                <a:ea typeface="Calibri" pitchFamily="34" charset="-122"/>
                <a:cs typeface="Calibri" pitchFamily="34" charset="-120"/>
              </a:rPr>
              <a:t>The analysis is built on Bright Coffee Shop's daily transactional sales log — one row per item sold, across every till, every store, for a full six-month trading period.</a:t>
            </a:r>
            <a:endParaRPr lang="en-US" sz="1400" dirty="0"/>
          </a:p>
        </p:txBody>
      </p:sp>
      <p:sp>
        <p:nvSpPr>
          <p:cNvPr id="9" name="Shape 5"/>
          <p:cNvSpPr/>
          <p:nvPr/>
        </p:nvSpPr>
        <p:spPr>
          <a:xfrm>
            <a:off x="777240" y="2148840"/>
            <a:ext cx="2084832" cy="1417320"/>
          </a:xfrm>
          <a:prstGeom prst="roundRect">
            <a:avLst>
              <a:gd name="adj" fmla="val 6452"/>
            </a:avLst>
          </a:prstGeom>
          <a:solidFill>
            <a:srgbClr val="F2E6D8"/>
          </a:solidFill>
          <a:ln/>
          <a:effectLst>
            <a:outerShdw blurRad="88900" dist="38100" dir="2700000" algn="bl" rotWithShape="0">
              <a:srgbClr val="2E1A0F">
                <a:alpha val="18000"/>
              </a:srgbClr>
            </a:outerShdw>
          </a:effectLst>
        </p:spPr>
      </p:sp>
      <p:sp>
        <p:nvSpPr>
          <p:cNvPr id="10" name="Shape 6"/>
          <p:cNvSpPr/>
          <p:nvPr/>
        </p:nvSpPr>
        <p:spPr>
          <a:xfrm>
            <a:off x="941832" y="2313432"/>
            <a:ext cx="420624" cy="420624"/>
          </a:xfrm>
          <a:prstGeom prst="ellipse">
            <a:avLst/>
          </a:prstGeom>
          <a:solidFill>
            <a:srgbClr val="C17817"/>
          </a:solidFill>
          <a:ln/>
        </p:spPr>
      </p:sp>
      <p:pic>
        <p:nvPicPr>
          <p:cNvPr id="11" name="Image 2" descr="/home/claude/coffee_deck/icons/table_white.png"/>
          <p:cNvPicPr>
            <a:picLocks noChangeAspect="1"/>
          </p:cNvPicPr>
          <p:nvPr/>
        </p:nvPicPr>
        <p:blipFill>
          <a:blip r:embed="rId6"/>
          <a:stretch>
            <a:fillRect/>
          </a:stretch>
        </p:blipFill>
        <p:spPr>
          <a:xfrm>
            <a:off x="1051560" y="2423160"/>
            <a:ext cx="201168" cy="201168"/>
          </a:xfrm>
          <a:prstGeom prst="rect">
            <a:avLst/>
          </a:prstGeom>
        </p:spPr>
      </p:pic>
      <p:sp>
        <p:nvSpPr>
          <p:cNvPr id="12" name="Text 7"/>
          <p:cNvSpPr/>
          <p:nvPr/>
        </p:nvSpPr>
        <p:spPr>
          <a:xfrm>
            <a:off x="914400" y="2752344"/>
            <a:ext cx="1810512" cy="457200"/>
          </a:xfrm>
          <a:prstGeom prst="rect">
            <a:avLst/>
          </a:prstGeom>
          <a:noFill/>
          <a:ln/>
        </p:spPr>
        <p:txBody>
          <a:bodyPr wrap="square" lIns="0" tIns="0" rIns="0" bIns="0" rtlCol="0" anchor="ctr"/>
          <a:lstStyle/>
          <a:p>
            <a:pPr marL="0" indent="0">
              <a:buNone/>
            </a:pPr>
            <a:r>
              <a:rPr lang="en-US" sz="2400" b="1" dirty="0">
                <a:solidFill>
                  <a:srgbClr val="4A2C1A"/>
                </a:solidFill>
                <a:latin typeface="Cambria" pitchFamily="34" charset="0"/>
                <a:ea typeface="Cambria" pitchFamily="34" charset="-122"/>
                <a:cs typeface="Cambria" pitchFamily="34" charset="-120"/>
              </a:rPr>
              <a:t>149,116</a:t>
            </a:r>
            <a:endParaRPr lang="en-US" sz="2400" dirty="0"/>
          </a:p>
        </p:txBody>
      </p:sp>
      <p:sp>
        <p:nvSpPr>
          <p:cNvPr id="13" name="Text 8"/>
          <p:cNvSpPr/>
          <p:nvPr/>
        </p:nvSpPr>
        <p:spPr>
          <a:xfrm>
            <a:off x="914400" y="3200400"/>
            <a:ext cx="1810512" cy="274320"/>
          </a:xfrm>
          <a:prstGeom prst="rect">
            <a:avLst/>
          </a:prstGeom>
          <a:noFill/>
          <a:ln/>
        </p:spPr>
        <p:txBody>
          <a:bodyPr wrap="square" lIns="0" tIns="0" rIns="0" bIns="0" rtlCol="0" anchor="ctr"/>
          <a:lstStyle/>
          <a:p>
            <a:pPr marL="0" indent="0">
              <a:buNone/>
            </a:pPr>
            <a:r>
              <a:rPr lang="en-US" sz="1000" b="1" kern="0" spc="50" dirty="0">
                <a:solidFill>
                  <a:srgbClr val="8A6A52"/>
                </a:solidFill>
                <a:latin typeface="Calibri" pitchFamily="34" charset="0"/>
                <a:ea typeface="Calibri" pitchFamily="34" charset="-122"/>
                <a:cs typeface="Calibri" pitchFamily="34" charset="-120"/>
              </a:rPr>
              <a:t>TRANSACTIONS</a:t>
            </a:r>
            <a:endParaRPr lang="en-US" sz="1000" dirty="0"/>
          </a:p>
        </p:txBody>
      </p:sp>
      <p:sp>
        <p:nvSpPr>
          <p:cNvPr id="14" name="Shape 9"/>
          <p:cNvSpPr/>
          <p:nvPr/>
        </p:nvSpPr>
        <p:spPr>
          <a:xfrm>
            <a:off x="3026664" y="2148840"/>
            <a:ext cx="2084832" cy="1417320"/>
          </a:xfrm>
          <a:prstGeom prst="roundRect">
            <a:avLst>
              <a:gd name="adj" fmla="val 6452"/>
            </a:avLst>
          </a:prstGeom>
          <a:solidFill>
            <a:srgbClr val="F2E6D8"/>
          </a:solidFill>
          <a:ln/>
          <a:effectLst>
            <a:outerShdw blurRad="88900" dist="38100" dir="2700000" algn="bl" rotWithShape="0">
              <a:srgbClr val="2E1A0F">
                <a:alpha val="18000"/>
              </a:srgbClr>
            </a:outerShdw>
          </a:effectLst>
        </p:spPr>
      </p:sp>
      <p:sp>
        <p:nvSpPr>
          <p:cNvPr id="15" name="Shape 10"/>
          <p:cNvSpPr/>
          <p:nvPr/>
        </p:nvSpPr>
        <p:spPr>
          <a:xfrm>
            <a:off x="3191256" y="2313432"/>
            <a:ext cx="420624" cy="420624"/>
          </a:xfrm>
          <a:prstGeom prst="ellipse">
            <a:avLst/>
          </a:prstGeom>
          <a:solidFill>
            <a:srgbClr val="C17817"/>
          </a:solidFill>
          <a:ln/>
        </p:spPr>
      </p:sp>
      <p:pic>
        <p:nvPicPr>
          <p:cNvPr id="16" name="Image 3" descr="/home/claude/coffee_deck/icons/cubes_white.png"/>
          <p:cNvPicPr>
            <a:picLocks noChangeAspect="1"/>
          </p:cNvPicPr>
          <p:nvPr/>
        </p:nvPicPr>
        <p:blipFill>
          <a:blip r:embed="rId7"/>
          <a:stretch>
            <a:fillRect/>
          </a:stretch>
        </p:blipFill>
        <p:spPr>
          <a:xfrm>
            <a:off x="3300984" y="2423160"/>
            <a:ext cx="201168" cy="201168"/>
          </a:xfrm>
          <a:prstGeom prst="rect">
            <a:avLst/>
          </a:prstGeom>
        </p:spPr>
      </p:pic>
      <p:sp>
        <p:nvSpPr>
          <p:cNvPr id="17" name="Text 11"/>
          <p:cNvSpPr/>
          <p:nvPr/>
        </p:nvSpPr>
        <p:spPr>
          <a:xfrm>
            <a:off x="3163824" y="2752344"/>
            <a:ext cx="1810512" cy="457200"/>
          </a:xfrm>
          <a:prstGeom prst="rect">
            <a:avLst/>
          </a:prstGeom>
          <a:noFill/>
          <a:ln/>
        </p:spPr>
        <p:txBody>
          <a:bodyPr wrap="square" lIns="0" tIns="0" rIns="0" bIns="0" rtlCol="0" anchor="ctr"/>
          <a:lstStyle/>
          <a:p>
            <a:pPr marL="0" indent="0">
              <a:buNone/>
            </a:pPr>
            <a:r>
              <a:rPr lang="en-US" sz="2400" b="1" dirty="0">
                <a:solidFill>
                  <a:srgbClr val="4A2C1A"/>
                </a:solidFill>
                <a:latin typeface="Cambria" pitchFamily="34" charset="0"/>
                <a:ea typeface="Cambria" pitchFamily="34" charset="-122"/>
                <a:cs typeface="Cambria" pitchFamily="34" charset="-120"/>
              </a:rPr>
              <a:t>214,470</a:t>
            </a:r>
            <a:endParaRPr lang="en-US" sz="2400" dirty="0"/>
          </a:p>
        </p:txBody>
      </p:sp>
      <p:sp>
        <p:nvSpPr>
          <p:cNvPr id="18" name="Text 12"/>
          <p:cNvSpPr/>
          <p:nvPr/>
        </p:nvSpPr>
        <p:spPr>
          <a:xfrm>
            <a:off x="3163824" y="3200400"/>
            <a:ext cx="1810512" cy="274320"/>
          </a:xfrm>
          <a:prstGeom prst="rect">
            <a:avLst/>
          </a:prstGeom>
          <a:noFill/>
          <a:ln/>
        </p:spPr>
        <p:txBody>
          <a:bodyPr wrap="square" lIns="0" tIns="0" rIns="0" bIns="0" rtlCol="0" anchor="ctr"/>
          <a:lstStyle/>
          <a:p>
            <a:pPr marL="0" indent="0">
              <a:buNone/>
            </a:pPr>
            <a:r>
              <a:rPr lang="en-US" sz="1000" b="1" kern="0" spc="50" dirty="0">
                <a:solidFill>
                  <a:srgbClr val="8A6A52"/>
                </a:solidFill>
                <a:latin typeface="Calibri" pitchFamily="34" charset="0"/>
                <a:ea typeface="Calibri" pitchFamily="34" charset="-122"/>
                <a:cs typeface="Calibri" pitchFamily="34" charset="-120"/>
              </a:rPr>
              <a:t>UNITS SOLD</a:t>
            </a:r>
            <a:endParaRPr lang="en-US" sz="1000" dirty="0"/>
          </a:p>
        </p:txBody>
      </p:sp>
      <p:sp>
        <p:nvSpPr>
          <p:cNvPr id="19" name="Shape 13"/>
          <p:cNvSpPr/>
          <p:nvPr/>
        </p:nvSpPr>
        <p:spPr>
          <a:xfrm>
            <a:off x="5276088" y="2148840"/>
            <a:ext cx="2084832" cy="1417320"/>
          </a:xfrm>
          <a:prstGeom prst="roundRect">
            <a:avLst>
              <a:gd name="adj" fmla="val 6452"/>
            </a:avLst>
          </a:prstGeom>
          <a:solidFill>
            <a:srgbClr val="F2E6D8"/>
          </a:solidFill>
          <a:ln/>
          <a:effectLst>
            <a:outerShdw blurRad="88900" dist="38100" dir="2700000" algn="bl" rotWithShape="0">
              <a:srgbClr val="2E1A0F">
                <a:alpha val="18000"/>
              </a:srgbClr>
            </a:outerShdw>
          </a:effectLst>
        </p:spPr>
      </p:sp>
      <p:sp>
        <p:nvSpPr>
          <p:cNvPr id="20" name="Shape 14"/>
          <p:cNvSpPr/>
          <p:nvPr/>
        </p:nvSpPr>
        <p:spPr>
          <a:xfrm>
            <a:off x="5440680" y="2313432"/>
            <a:ext cx="420624" cy="420624"/>
          </a:xfrm>
          <a:prstGeom prst="ellipse">
            <a:avLst/>
          </a:prstGeom>
          <a:solidFill>
            <a:srgbClr val="C17817"/>
          </a:solidFill>
          <a:ln/>
        </p:spPr>
      </p:sp>
      <p:pic>
        <p:nvPicPr>
          <p:cNvPr id="21" name="Image 4" descr="/home/claude/coffee_deck/icons/pin_white.png"/>
          <p:cNvPicPr>
            <a:picLocks noChangeAspect="1"/>
          </p:cNvPicPr>
          <p:nvPr/>
        </p:nvPicPr>
        <p:blipFill>
          <a:blip r:embed="rId8"/>
          <a:stretch>
            <a:fillRect/>
          </a:stretch>
        </p:blipFill>
        <p:spPr>
          <a:xfrm>
            <a:off x="5550408" y="2423160"/>
            <a:ext cx="201168" cy="201168"/>
          </a:xfrm>
          <a:prstGeom prst="rect">
            <a:avLst/>
          </a:prstGeom>
        </p:spPr>
      </p:pic>
      <p:sp>
        <p:nvSpPr>
          <p:cNvPr id="22" name="Text 15"/>
          <p:cNvSpPr/>
          <p:nvPr/>
        </p:nvSpPr>
        <p:spPr>
          <a:xfrm>
            <a:off x="5413248" y="2752344"/>
            <a:ext cx="1810512" cy="457200"/>
          </a:xfrm>
          <a:prstGeom prst="rect">
            <a:avLst/>
          </a:prstGeom>
          <a:noFill/>
          <a:ln/>
        </p:spPr>
        <p:txBody>
          <a:bodyPr wrap="square" lIns="0" tIns="0" rIns="0" bIns="0" rtlCol="0" anchor="ctr"/>
          <a:lstStyle/>
          <a:p>
            <a:pPr marL="0" indent="0">
              <a:buNone/>
            </a:pPr>
            <a:r>
              <a:rPr lang="en-US" sz="2400" b="1" dirty="0">
                <a:solidFill>
                  <a:srgbClr val="4A2C1A"/>
                </a:solidFill>
                <a:latin typeface="Cambria" pitchFamily="34" charset="0"/>
                <a:ea typeface="Cambria" pitchFamily="34" charset="-122"/>
                <a:cs typeface="Cambria" pitchFamily="34" charset="-120"/>
              </a:rPr>
              <a:t>3</a:t>
            </a:r>
            <a:endParaRPr lang="en-US" sz="2400" dirty="0"/>
          </a:p>
        </p:txBody>
      </p:sp>
      <p:sp>
        <p:nvSpPr>
          <p:cNvPr id="23" name="Text 16"/>
          <p:cNvSpPr/>
          <p:nvPr/>
        </p:nvSpPr>
        <p:spPr>
          <a:xfrm>
            <a:off x="5413248" y="3200400"/>
            <a:ext cx="1810512" cy="274320"/>
          </a:xfrm>
          <a:prstGeom prst="rect">
            <a:avLst/>
          </a:prstGeom>
          <a:noFill/>
          <a:ln/>
        </p:spPr>
        <p:txBody>
          <a:bodyPr wrap="square" lIns="0" tIns="0" rIns="0" bIns="0" rtlCol="0" anchor="ctr"/>
          <a:lstStyle/>
          <a:p>
            <a:pPr marL="0" indent="0">
              <a:buNone/>
            </a:pPr>
            <a:r>
              <a:rPr lang="en-US" sz="1000" b="1" kern="0" spc="50" dirty="0">
                <a:solidFill>
                  <a:srgbClr val="8A6A52"/>
                </a:solidFill>
                <a:latin typeface="Calibri" pitchFamily="34" charset="0"/>
                <a:ea typeface="Calibri" pitchFamily="34" charset="-122"/>
                <a:cs typeface="Calibri" pitchFamily="34" charset="-120"/>
              </a:rPr>
              <a:t>STORE LOCATIONS</a:t>
            </a:r>
            <a:endParaRPr lang="en-US" sz="1000" dirty="0"/>
          </a:p>
        </p:txBody>
      </p:sp>
      <p:sp>
        <p:nvSpPr>
          <p:cNvPr id="24" name="Shape 17"/>
          <p:cNvSpPr/>
          <p:nvPr/>
        </p:nvSpPr>
        <p:spPr>
          <a:xfrm>
            <a:off x="7525512" y="2148840"/>
            <a:ext cx="2084832" cy="1417320"/>
          </a:xfrm>
          <a:prstGeom prst="roundRect">
            <a:avLst>
              <a:gd name="adj" fmla="val 6452"/>
            </a:avLst>
          </a:prstGeom>
          <a:solidFill>
            <a:srgbClr val="F2E6D8"/>
          </a:solidFill>
          <a:ln/>
          <a:effectLst>
            <a:outerShdw blurRad="88900" dist="38100" dir="2700000" algn="bl" rotWithShape="0">
              <a:srgbClr val="2E1A0F">
                <a:alpha val="18000"/>
              </a:srgbClr>
            </a:outerShdw>
          </a:effectLst>
        </p:spPr>
      </p:sp>
      <p:sp>
        <p:nvSpPr>
          <p:cNvPr id="25" name="Shape 18"/>
          <p:cNvSpPr/>
          <p:nvPr/>
        </p:nvSpPr>
        <p:spPr>
          <a:xfrm>
            <a:off x="7690104" y="2313432"/>
            <a:ext cx="420624" cy="420624"/>
          </a:xfrm>
          <a:prstGeom prst="ellipse">
            <a:avLst/>
          </a:prstGeom>
          <a:solidFill>
            <a:srgbClr val="C17817"/>
          </a:solidFill>
          <a:ln/>
        </p:spPr>
      </p:sp>
      <p:pic>
        <p:nvPicPr>
          <p:cNvPr id="26" name="Image 5" descr="/home/claude/coffee_deck/icons/coffee_white.png"/>
          <p:cNvPicPr>
            <a:picLocks noChangeAspect="1"/>
          </p:cNvPicPr>
          <p:nvPr/>
        </p:nvPicPr>
        <p:blipFill>
          <a:blip r:embed="rId9"/>
          <a:stretch>
            <a:fillRect/>
          </a:stretch>
        </p:blipFill>
        <p:spPr>
          <a:xfrm>
            <a:off x="7799832" y="2423160"/>
            <a:ext cx="201168" cy="201168"/>
          </a:xfrm>
          <a:prstGeom prst="rect">
            <a:avLst/>
          </a:prstGeom>
        </p:spPr>
      </p:pic>
      <p:sp>
        <p:nvSpPr>
          <p:cNvPr id="27" name="Text 19"/>
          <p:cNvSpPr/>
          <p:nvPr/>
        </p:nvSpPr>
        <p:spPr>
          <a:xfrm>
            <a:off x="7662672" y="2752344"/>
            <a:ext cx="1810512" cy="457200"/>
          </a:xfrm>
          <a:prstGeom prst="rect">
            <a:avLst/>
          </a:prstGeom>
          <a:noFill/>
          <a:ln/>
        </p:spPr>
        <p:txBody>
          <a:bodyPr wrap="square" lIns="0" tIns="0" rIns="0" bIns="0" rtlCol="0" anchor="ctr"/>
          <a:lstStyle/>
          <a:p>
            <a:pPr marL="0" indent="0">
              <a:buNone/>
            </a:pPr>
            <a:r>
              <a:rPr lang="en-US" sz="2400" b="1" dirty="0">
                <a:solidFill>
                  <a:srgbClr val="4A2C1A"/>
                </a:solidFill>
                <a:latin typeface="Cambria" pitchFamily="34" charset="0"/>
                <a:ea typeface="Cambria" pitchFamily="34" charset="-122"/>
                <a:cs typeface="Cambria" pitchFamily="34" charset="-120"/>
              </a:rPr>
              <a:t>9</a:t>
            </a:r>
            <a:endParaRPr lang="en-US" sz="2400" dirty="0"/>
          </a:p>
        </p:txBody>
      </p:sp>
      <p:sp>
        <p:nvSpPr>
          <p:cNvPr id="28" name="Text 20"/>
          <p:cNvSpPr/>
          <p:nvPr/>
        </p:nvSpPr>
        <p:spPr>
          <a:xfrm>
            <a:off x="7662672" y="3200400"/>
            <a:ext cx="1810512" cy="274320"/>
          </a:xfrm>
          <a:prstGeom prst="rect">
            <a:avLst/>
          </a:prstGeom>
          <a:noFill/>
          <a:ln/>
        </p:spPr>
        <p:txBody>
          <a:bodyPr wrap="square" lIns="0" tIns="0" rIns="0" bIns="0" rtlCol="0" anchor="ctr"/>
          <a:lstStyle/>
          <a:p>
            <a:pPr marL="0" indent="0">
              <a:buNone/>
            </a:pPr>
            <a:r>
              <a:rPr lang="en-US" sz="1000" b="1" kern="0" spc="50" dirty="0">
                <a:solidFill>
                  <a:srgbClr val="8A6A52"/>
                </a:solidFill>
                <a:latin typeface="Calibri" pitchFamily="34" charset="0"/>
                <a:ea typeface="Calibri" pitchFamily="34" charset="-122"/>
                <a:cs typeface="Calibri" pitchFamily="34" charset="-120"/>
              </a:rPr>
              <a:t>PRODUCT CATEGORIES</a:t>
            </a:r>
            <a:endParaRPr lang="en-US" sz="1000" dirty="0"/>
          </a:p>
        </p:txBody>
      </p:sp>
      <p:sp>
        <p:nvSpPr>
          <p:cNvPr id="29" name="Shape 21"/>
          <p:cNvSpPr/>
          <p:nvPr/>
        </p:nvSpPr>
        <p:spPr>
          <a:xfrm>
            <a:off x="9774936" y="2148840"/>
            <a:ext cx="2084832" cy="1417320"/>
          </a:xfrm>
          <a:prstGeom prst="roundRect">
            <a:avLst>
              <a:gd name="adj" fmla="val 6452"/>
            </a:avLst>
          </a:prstGeom>
          <a:solidFill>
            <a:srgbClr val="F2E6D8"/>
          </a:solidFill>
          <a:ln/>
          <a:effectLst>
            <a:outerShdw blurRad="88900" dist="38100" dir="2700000" algn="bl" rotWithShape="0">
              <a:srgbClr val="2E1A0F">
                <a:alpha val="18000"/>
              </a:srgbClr>
            </a:outerShdw>
          </a:effectLst>
        </p:spPr>
        <p:txBody>
          <a:bodyPr/>
          <a:lstStyle/>
          <a:p>
            <a:endParaRPr lang="en-ZA" dirty="0"/>
          </a:p>
        </p:txBody>
      </p:sp>
      <p:sp>
        <p:nvSpPr>
          <p:cNvPr id="30" name="Shape 22"/>
          <p:cNvSpPr/>
          <p:nvPr/>
        </p:nvSpPr>
        <p:spPr>
          <a:xfrm>
            <a:off x="9939528" y="2313432"/>
            <a:ext cx="420624" cy="420624"/>
          </a:xfrm>
          <a:prstGeom prst="ellipse">
            <a:avLst/>
          </a:prstGeom>
          <a:solidFill>
            <a:srgbClr val="C17817"/>
          </a:solidFill>
          <a:ln/>
        </p:spPr>
      </p:sp>
      <p:pic>
        <p:nvPicPr>
          <p:cNvPr id="31" name="Image 6" descr="/home/claude/coffee_deck/icons/calendar_white.png"/>
          <p:cNvPicPr>
            <a:picLocks noChangeAspect="1"/>
          </p:cNvPicPr>
          <p:nvPr/>
        </p:nvPicPr>
        <p:blipFill>
          <a:blip r:embed="rId10"/>
          <a:stretch>
            <a:fillRect/>
          </a:stretch>
        </p:blipFill>
        <p:spPr>
          <a:xfrm>
            <a:off x="10049256" y="2423160"/>
            <a:ext cx="201168" cy="201168"/>
          </a:xfrm>
          <a:prstGeom prst="rect">
            <a:avLst/>
          </a:prstGeom>
        </p:spPr>
      </p:pic>
      <p:sp>
        <p:nvSpPr>
          <p:cNvPr id="32" name="Text 23"/>
          <p:cNvSpPr/>
          <p:nvPr/>
        </p:nvSpPr>
        <p:spPr>
          <a:xfrm>
            <a:off x="9912096" y="2752344"/>
            <a:ext cx="1810512" cy="457200"/>
          </a:xfrm>
          <a:prstGeom prst="rect">
            <a:avLst/>
          </a:prstGeom>
          <a:noFill/>
          <a:ln/>
        </p:spPr>
        <p:txBody>
          <a:bodyPr wrap="square" lIns="0" tIns="0" rIns="0" bIns="0" rtlCol="0" anchor="ctr"/>
          <a:lstStyle/>
          <a:p>
            <a:pPr marL="0" indent="0">
              <a:buNone/>
            </a:pPr>
            <a:r>
              <a:rPr lang="en-US" sz="2400" b="1" dirty="0">
                <a:solidFill>
                  <a:srgbClr val="4A2C1A"/>
                </a:solidFill>
                <a:latin typeface="Cambria" pitchFamily="34" charset="0"/>
                <a:ea typeface="Cambria" pitchFamily="34" charset="-122"/>
                <a:cs typeface="Cambria" pitchFamily="34" charset="-120"/>
              </a:rPr>
              <a:t>6</a:t>
            </a:r>
            <a:endParaRPr lang="en-US" sz="2400" dirty="0"/>
          </a:p>
        </p:txBody>
      </p:sp>
      <p:sp>
        <p:nvSpPr>
          <p:cNvPr id="33" name="Text 24"/>
          <p:cNvSpPr/>
          <p:nvPr/>
        </p:nvSpPr>
        <p:spPr>
          <a:xfrm>
            <a:off x="9912096" y="3200400"/>
            <a:ext cx="1810512" cy="274320"/>
          </a:xfrm>
          <a:prstGeom prst="rect">
            <a:avLst/>
          </a:prstGeom>
          <a:noFill/>
          <a:ln/>
        </p:spPr>
        <p:txBody>
          <a:bodyPr wrap="square" lIns="0" tIns="0" rIns="0" bIns="0" rtlCol="0" anchor="ctr"/>
          <a:lstStyle/>
          <a:p>
            <a:pPr marL="0" indent="0">
              <a:buNone/>
            </a:pPr>
            <a:r>
              <a:rPr lang="en-US" sz="1000" b="1" kern="0" spc="50" dirty="0">
                <a:solidFill>
                  <a:srgbClr val="8A6A52"/>
                </a:solidFill>
                <a:latin typeface="Calibri" pitchFamily="34" charset="0"/>
                <a:ea typeface="Calibri" pitchFamily="34" charset="-122"/>
                <a:cs typeface="Calibri" pitchFamily="34" charset="-120"/>
              </a:rPr>
              <a:t>MONTHS OF SALES</a:t>
            </a:r>
            <a:endParaRPr lang="en-US" sz="1000" dirty="0"/>
          </a:p>
        </p:txBody>
      </p:sp>
      <p:sp>
        <p:nvSpPr>
          <p:cNvPr id="34" name="Shape 25"/>
          <p:cNvSpPr/>
          <p:nvPr/>
        </p:nvSpPr>
        <p:spPr>
          <a:xfrm>
            <a:off x="777240" y="3886200"/>
            <a:ext cx="5349240" cy="1965960"/>
          </a:xfrm>
          <a:prstGeom prst="roundRect">
            <a:avLst>
              <a:gd name="adj" fmla="val 4651"/>
            </a:avLst>
          </a:prstGeom>
          <a:solidFill>
            <a:srgbClr val="FFFFFF"/>
          </a:solidFill>
          <a:ln w="12700">
            <a:solidFill>
              <a:srgbClr val="E7DCCB"/>
            </a:solidFill>
            <a:prstDash val="solid"/>
          </a:ln>
        </p:spPr>
      </p:sp>
      <p:sp>
        <p:nvSpPr>
          <p:cNvPr id="35" name="Text 26"/>
          <p:cNvSpPr/>
          <p:nvPr/>
        </p:nvSpPr>
        <p:spPr>
          <a:xfrm>
            <a:off x="1005840" y="4023360"/>
            <a:ext cx="4846320" cy="274320"/>
          </a:xfrm>
          <a:prstGeom prst="rect">
            <a:avLst/>
          </a:prstGeom>
          <a:noFill/>
          <a:ln/>
        </p:spPr>
        <p:txBody>
          <a:bodyPr wrap="square" lIns="0" tIns="0" rIns="0" bIns="0" rtlCol="0" anchor="ctr"/>
          <a:lstStyle/>
          <a:p>
            <a:pPr marL="0" indent="0">
              <a:buNone/>
            </a:pPr>
            <a:r>
              <a:rPr lang="en-US" sz="1300" b="1" dirty="0">
                <a:solidFill>
                  <a:srgbClr val="4A2C1A"/>
                </a:solidFill>
                <a:latin typeface="Calibri" pitchFamily="34" charset="0"/>
                <a:ea typeface="Calibri" pitchFamily="34" charset="-122"/>
                <a:cs typeface="Calibri" pitchFamily="34" charset="-120"/>
              </a:rPr>
              <a:t>Key fields captured</a:t>
            </a:r>
            <a:endParaRPr lang="en-US" sz="1300" dirty="0"/>
          </a:p>
        </p:txBody>
      </p:sp>
      <p:sp>
        <p:nvSpPr>
          <p:cNvPr id="36" name="Text 27"/>
          <p:cNvSpPr/>
          <p:nvPr/>
        </p:nvSpPr>
        <p:spPr>
          <a:xfrm>
            <a:off x="1051560" y="4370832"/>
            <a:ext cx="4846320" cy="1371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A2C1A"/>
                </a:solidFill>
                <a:latin typeface="Calibri" pitchFamily="34" charset="0"/>
                <a:ea typeface="Calibri" pitchFamily="34" charset="-122"/>
                <a:cs typeface="Calibri" pitchFamily="34" charset="-120"/>
              </a:rPr>
              <a:t>transaction_date &amp; transaction_time</a:t>
            </a:r>
            <a:endParaRPr lang="en-US" sz="1250" dirty="0"/>
          </a:p>
          <a:p>
            <a:pPr marL="342900" indent="-342900">
              <a:spcAft>
                <a:spcPts val="600"/>
              </a:spcAft>
              <a:buSzPct val="100000"/>
              <a:buChar char="•"/>
            </a:pPr>
            <a:r>
              <a:rPr lang="en-US" sz="1250" dirty="0">
                <a:solidFill>
                  <a:srgbClr val="4A2C1A"/>
                </a:solidFill>
                <a:latin typeface="Calibri" pitchFamily="34" charset="0"/>
                <a:ea typeface="Calibri" pitchFamily="34" charset="-122"/>
                <a:cs typeface="Calibri" pitchFamily="34" charset="-120"/>
              </a:rPr>
              <a:t>store_location &amp; store_id</a:t>
            </a:r>
            <a:endParaRPr lang="en-US" sz="1250" dirty="0"/>
          </a:p>
          <a:p>
            <a:pPr marL="342900" indent="-342900">
              <a:spcAft>
                <a:spcPts val="600"/>
              </a:spcAft>
              <a:buSzPct val="100000"/>
              <a:buChar char="•"/>
            </a:pPr>
            <a:r>
              <a:rPr lang="en-US" sz="1250" dirty="0">
                <a:solidFill>
                  <a:srgbClr val="4A2C1A"/>
                </a:solidFill>
                <a:latin typeface="Calibri" pitchFamily="34" charset="0"/>
                <a:ea typeface="Calibri" pitchFamily="34" charset="-122"/>
                <a:cs typeface="Calibri" pitchFamily="34" charset="-120"/>
              </a:rPr>
              <a:t>product_category, product_type, product_detail</a:t>
            </a:r>
            <a:endParaRPr lang="en-US" sz="1250" dirty="0"/>
          </a:p>
          <a:p>
            <a:pPr marL="342900" indent="-342900">
              <a:spcAft>
                <a:spcPts val="600"/>
              </a:spcAft>
              <a:buSzPct val="100000"/>
              <a:buChar char="•"/>
            </a:pPr>
            <a:r>
              <a:rPr lang="en-US" sz="1250" dirty="0">
                <a:solidFill>
                  <a:srgbClr val="4A2C1A"/>
                </a:solidFill>
                <a:latin typeface="Calibri" pitchFamily="34" charset="0"/>
                <a:ea typeface="Calibri" pitchFamily="34" charset="-122"/>
                <a:cs typeface="Calibri" pitchFamily="34" charset="-120"/>
              </a:rPr>
              <a:t>unit_price &amp; transaction_qty</a:t>
            </a:r>
            <a:endParaRPr lang="en-US" sz="1250" dirty="0"/>
          </a:p>
        </p:txBody>
      </p:sp>
      <p:sp>
        <p:nvSpPr>
          <p:cNvPr id="37" name="Shape 28"/>
          <p:cNvSpPr/>
          <p:nvPr/>
        </p:nvSpPr>
        <p:spPr>
          <a:xfrm>
            <a:off x="6309360" y="3886200"/>
            <a:ext cx="5074920" cy="1965960"/>
          </a:xfrm>
          <a:prstGeom prst="roundRect">
            <a:avLst>
              <a:gd name="adj" fmla="val 4651"/>
            </a:avLst>
          </a:prstGeom>
          <a:solidFill>
            <a:srgbClr val="FFFFFF"/>
          </a:solidFill>
          <a:ln w="12700">
            <a:solidFill>
              <a:srgbClr val="E7DCCB"/>
            </a:solidFill>
            <a:prstDash val="solid"/>
          </a:ln>
        </p:spPr>
      </p:sp>
      <p:sp>
        <p:nvSpPr>
          <p:cNvPr id="38" name="Text 29"/>
          <p:cNvSpPr/>
          <p:nvPr/>
        </p:nvSpPr>
        <p:spPr>
          <a:xfrm>
            <a:off x="6537960" y="4023360"/>
            <a:ext cx="4572000" cy="274320"/>
          </a:xfrm>
          <a:prstGeom prst="rect">
            <a:avLst/>
          </a:prstGeom>
          <a:noFill/>
          <a:ln/>
        </p:spPr>
        <p:txBody>
          <a:bodyPr wrap="square" lIns="0" tIns="0" rIns="0" bIns="0" rtlCol="0" anchor="ctr"/>
          <a:lstStyle/>
          <a:p>
            <a:pPr marL="0" indent="0">
              <a:buNone/>
            </a:pPr>
            <a:r>
              <a:rPr lang="en-US" sz="1300" b="1" dirty="0">
                <a:solidFill>
                  <a:srgbClr val="4A2C1A"/>
                </a:solidFill>
                <a:latin typeface="Calibri" pitchFamily="34" charset="0"/>
                <a:ea typeface="Calibri" pitchFamily="34" charset="-122"/>
                <a:cs typeface="Calibri" pitchFamily="34" charset="-120"/>
              </a:rPr>
              <a:t>Stores covered</a:t>
            </a:r>
            <a:endParaRPr lang="en-US" sz="1300" dirty="0"/>
          </a:p>
        </p:txBody>
      </p:sp>
      <p:pic>
        <p:nvPicPr>
          <p:cNvPr id="39" name="Image 7" descr="/home/claude/coffee_deck/icons/pin_brown.png"/>
          <p:cNvPicPr>
            <a:picLocks noChangeAspect="1"/>
          </p:cNvPicPr>
          <p:nvPr/>
        </p:nvPicPr>
        <p:blipFill>
          <a:blip r:embed="rId11"/>
          <a:stretch>
            <a:fillRect/>
          </a:stretch>
        </p:blipFill>
        <p:spPr>
          <a:xfrm>
            <a:off x="6583680" y="4434840"/>
            <a:ext cx="164592" cy="164592"/>
          </a:xfrm>
          <a:prstGeom prst="rect">
            <a:avLst/>
          </a:prstGeom>
        </p:spPr>
      </p:pic>
      <p:sp>
        <p:nvSpPr>
          <p:cNvPr id="40" name="Text 30"/>
          <p:cNvSpPr/>
          <p:nvPr/>
        </p:nvSpPr>
        <p:spPr>
          <a:xfrm>
            <a:off x="6858000" y="4370832"/>
            <a:ext cx="4114800" cy="292608"/>
          </a:xfrm>
          <a:prstGeom prst="rect">
            <a:avLst/>
          </a:prstGeom>
          <a:noFill/>
          <a:ln/>
        </p:spPr>
        <p:txBody>
          <a:bodyPr wrap="square" lIns="0" tIns="0" rIns="0" bIns="0" rtlCol="0" anchor="ctr"/>
          <a:lstStyle/>
          <a:p>
            <a:pPr marL="0" indent="0">
              <a:buNone/>
            </a:pPr>
            <a:r>
              <a:rPr lang="en-US" sz="1300" dirty="0">
                <a:solidFill>
                  <a:srgbClr val="4A2C1A"/>
                </a:solidFill>
                <a:latin typeface="Calibri" pitchFamily="34" charset="0"/>
                <a:ea typeface="Calibri" pitchFamily="34" charset="-122"/>
                <a:cs typeface="Calibri" pitchFamily="34" charset="-120"/>
              </a:rPr>
              <a:t>Lower Manhattan</a:t>
            </a:r>
            <a:endParaRPr lang="en-US" sz="1300" dirty="0"/>
          </a:p>
        </p:txBody>
      </p:sp>
      <p:pic>
        <p:nvPicPr>
          <p:cNvPr id="41" name="Image 8" descr="/home/claude/coffee_deck/icons/pin_brown.png"/>
          <p:cNvPicPr>
            <a:picLocks noChangeAspect="1"/>
          </p:cNvPicPr>
          <p:nvPr/>
        </p:nvPicPr>
        <p:blipFill>
          <a:blip r:embed="rId11"/>
          <a:stretch>
            <a:fillRect/>
          </a:stretch>
        </p:blipFill>
        <p:spPr>
          <a:xfrm>
            <a:off x="6583680" y="4846320"/>
            <a:ext cx="164592" cy="164592"/>
          </a:xfrm>
          <a:prstGeom prst="rect">
            <a:avLst/>
          </a:prstGeom>
        </p:spPr>
      </p:pic>
      <p:sp>
        <p:nvSpPr>
          <p:cNvPr id="42" name="Text 31"/>
          <p:cNvSpPr/>
          <p:nvPr/>
        </p:nvSpPr>
        <p:spPr>
          <a:xfrm>
            <a:off x="6858000" y="4782312"/>
            <a:ext cx="4114800" cy="292608"/>
          </a:xfrm>
          <a:prstGeom prst="rect">
            <a:avLst/>
          </a:prstGeom>
          <a:noFill/>
          <a:ln/>
        </p:spPr>
        <p:txBody>
          <a:bodyPr wrap="square" lIns="0" tIns="0" rIns="0" bIns="0" rtlCol="0" anchor="ctr"/>
          <a:lstStyle/>
          <a:p>
            <a:pPr marL="0" indent="0">
              <a:buNone/>
            </a:pPr>
            <a:r>
              <a:rPr lang="en-US" sz="1300" dirty="0">
                <a:solidFill>
                  <a:srgbClr val="4A2C1A"/>
                </a:solidFill>
                <a:latin typeface="Calibri" pitchFamily="34" charset="0"/>
                <a:ea typeface="Calibri" pitchFamily="34" charset="-122"/>
                <a:cs typeface="Calibri" pitchFamily="34" charset="-120"/>
              </a:rPr>
              <a:t>Hell's Kitchen</a:t>
            </a:r>
            <a:endParaRPr lang="en-US" sz="1300" dirty="0"/>
          </a:p>
        </p:txBody>
      </p:sp>
      <p:pic>
        <p:nvPicPr>
          <p:cNvPr id="43" name="Image 9" descr="/home/claude/coffee_deck/icons/pin_brown.png"/>
          <p:cNvPicPr>
            <a:picLocks noChangeAspect="1"/>
          </p:cNvPicPr>
          <p:nvPr/>
        </p:nvPicPr>
        <p:blipFill>
          <a:blip r:embed="rId11"/>
          <a:stretch>
            <a:fillRect/>
          </a:stretch>
        </p:blipFill>
        <p:spPr>
          <a:xfrm>
            <a:off x="6583680" y="5257800"/>
            <a:ext cx="164592" cy="164592"/>
          </a:xfrm>
          <a:prstGeom prst="rect">
            <a:avLst/>
          </a:prstGeom>
        </p:spPr>
      </p:pic>
      <p:sp>
        <p:nvSpPr>
          <p:cNvPr id="44" name="Text 32"/>
          <p:cNvSpPr/>
          <p:nvPr/>
        </p:nvSpPr>
        <p:spPr>
          <a:xfrm>
            <a:off x="6858000" y="5193792"/>
            <a:ext cx="4114800" cy="292608"/>
          </a:xfrm>
          <a:prstGeom prst="rect">
            <a:avLst/>
          </a:prstGeom>
          <a:noFill/>
          <a:ln/>
        </p:spPr>
        <p:txBody>
          <a:bodyPr wrap="square" lIns="0" tIns="0" rIns="0" bIns="0" rtlCol="0" anchor="ctr"/>
          <a:lstStyle/>
          <a:p>
            <a:pPr marL="0" indent="0">
              <a:buNone/>
            </a:pPr>
            <a:r>
              <a:rPr lang="en-US" sz="1300" dirty="0">
                <a:solidFill>
                  <a:srgbClr val="4A2C1A"/>
                </a:solidFill>
                <a:latin typeface="Calibri" pitchFamily="34" charset="0"/>
                <a:ea typeface="Calibri" pitchFamily="34" charset="-122"/>
                <a:cs typeface="Calibri" pitchFamily="34" charset="-120"/>
              </a:rPr>
              <a:t>Astoria</a:t>
            </a:r>
            <a:endParaRPr lang="en-US" sz="1300" dirty="0"/>
          </a:p>
        </p:txBody>
      </p:sp>
      <p:sp>
        <p:nvSpPr>
          <p:cNvPr id="45" name="Text 33"/>
          <p:cNvSpPr/>
          <p:nvPr/>
        </p:nvSpPr>
        <p:spPr>
          <a:xfrm>
            <a:off x="6537960" y="5623560"/>
            <a:ext cx="4572000" cy="274320"/>
          </a:xfrm>
          <a:prstGeom prst="rect">
            <a:avLst/>
          </a:prstGeom>
          <a:noFill/>
          <a:ln/>
        </p:spPr>
        <p:txBody>
          <a:bodyPr wrap="square" lIns="0" tIns="0" rIns="0" bIns="0" rtlCol="0" anchor="ctr"/>
          <a:lstStyle/>
          <a:p>
            <a:pPr marL="0" indent="0">
              <a:buNone/>
            </a:pPr>
            <a:r>
              <a:rPr lang="en-US" sz="1050" i="1" dirty="0">
                <a:solidFill>
                  <a:srgbClr val="8A6A52"/>
                </a:solidFill>
                <a:latin typeface="Calibri" pitchFamily="34" charset="0"/>
                <a:ea typeface="Calibri" pitchFamily="34" charset="-122"/>
                <a:cs typeface="Calibri" pitchFamily="34" charset="-120"/>
              </a:rPr>
              <a:t>All three stores trade under one consistent menu and pricing structure.</a:t>
            </a:r>
            <a:endParaRPr lang="en-US" sz="1050" dirty="0"/>
          </a:p>
        </p:txBody>
      </p:sp>
      <p:sp>
        <p:nvSpPr>
          <p:cNvPr id="46" name="Text 34"/>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47" name="Text 35"/>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coffee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PRODUCT PERFORMANCE · 1 OF 3</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Revenue by Product Category</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graphicFrame>
        <p:nvGraphicFramePr>
          <p:cNvPr id="8" name="Chart 0"/>
          <p:cNvGraphicFramePr/>
          <p:nvPr/>
        </p:nvGraphicFramePr>
        <p:xfrm>
          <a:off x="640080" y="1417320"/>
          <a:ext cx="6492240" cy="4846320"/>
        </p:xfrm>
        <a:graphic>
          <a:graphicData uri="http://schemas.openxmlformats.org/drawingml/2006/chart">
            <c:chart xmlns:c="http://schemas.openxmlformats.org/drawingml/2006/chart" xmlns:r="http://schemas.openxmlformats.org/officeDocument/2006/relationships" r:id="rId6"/>
          </a:graphicData>
        </a:graphic>
      </p:graphicFrame>
      <p:sp>
        <p:nvSpPr>
          <p:cNvPr id="9" name="Shape 4"/>
          <p:cNvSpPr/>
          <p:nvPr/>
        </p:nvSpPr>
        <p:spPr>
          <a:xfrm>
            <a:off x="7406640" y="1417320"/>
            <a:ext cx="4160520" cy="4846320"/>
          </a:xfrm>
          <a:prstGeom prst="roundRect">
            <a:avLst>
              <a:gd name="adj" fmla="val 2198"/>
            </a:avLst>
          </a:prstGeom>
          <a:solidFill>
            <a:srgbClr val="F2E6D8"/>
          </a:solidFill>
          <a:ln/>
          <a:effectLst>
            <a:outerShdw blurRad="88900" dist="38100" dir="2700000" algn="bl" rotWithShape="0">
              <a:srgbClr val="2E1A0F">
                <a:alpha val="18000"/>
              </a:srgbClr>
            </a:outerShdw>
          </a:effectLst>
        </p:spPr>
      </p:sp>
      <p:sp>
        <p:nvSpPr>
          <p:cNvPr id="10" name="Text 5"/>
          <p:cNvSpPr/>
          <p:nvPr/>
        </p:nvSpPr>
        <p:spPr>
          <a:xfrm>
            <a:off x="7635240" y="1600200"/>
            <a:ext cx="3703320" cy="32004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Reading the chart</a:t>
            </a:r>
            <a:endParaRPr lang="en-US" sz="1400" dirty="0"/>
          </a:p>
        </p:txBody>
      </p:sp>
      <p:sp>
        <p:nvSpPr>
          <p:cNvPr id="11" name="Text 6"/>
          <p:cNvSpPr/>
          <p:nvPr/>
        </p:nvSpPr>
        <p:spPr>
          <a:xfrm>
            <a:off x="7680960" y="2011680"/>
            <a:ext cx="3657600" cy="411480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4A2C1A"/>
                </a:solidFill>
                <a:latin typeface="Calibri" pitchFamily="34" charset="0"/>
                <a:ea typeface="Calibri" pitchFamily="34" charset="-122"/>
                <a:cs typeface="Calibri" pitchFamily="34" charset="-120"/>
              </a:rPr>
              <a:t>Coffee leads with R269,952 — 38.6% of all revenue.</a:t>
            </a:r>
            <a:endParaRPr lang="en-US" sz="1200" dirty="0"/>
          </a:p>
          <a:p>
            <a:pPr marL="342900" indent="-342900">
              <a:spcAft>
                <a:spcPts val="1200"/>
              </a:spcAft>
              <a:buSzPct val="100000"/>
              <a:buChar char="•"/>
            </a:pPr>
            <a:r>
              <a:rPr lang="en-US" sz="1200" dirty="0">
                <a:solidFill>
                  <a:srgbClr val="4A2C1A"/>
                </a:solidFill>
                <a:latin typeface="Calibri" pitchFamily="34" charset="0"/>
                <a:ea typeface="Calibri" pitchFamily="34" charset="-122"/>
                <a:cs typeface="Calibri" pitchFamily="34" charset="-120"/>
              </a:rPr>
              <a:t>Tea is a strong second at R196,406 (28.1%) — together Coffee and Tea drive two-thirds of the business.</a:t>
            </a:r>
            <a:endParaRPr lang="en-US" sz="1200" dirty="0"/>
          </a:p>
          <a:p>
            <a:pPr marL="342900" indent="-342900">
              <a:spcAft>
                <a:spcPts val="1200"/>
              </a:spcAft>
              <a:buSzPct val="100000"/>
              <a:buChar char="•"/>
            </a:pPr>
            <a:r>
              <a:rPr lang="en-US" sz="1200" dirty="0">
                <a:solidFill>
                  <a:srgbClr val="4A2C1A"/>
                </a:solidFill>
                <a:latin typeface="Calibri" pitchFamily="34" charset="0"/>
                <a:ea typeface="Calibri" pitchFamily="34" charset="-122"/>
                <a:cs typeface="Calibri" pitchFamily="34" charset="-120"/>
              </a:rPr>
              <a:t>Bakery (R82,316) and Drinking Chocolate (R72,416) are solid secondary categories worth cross-selling alongside drinks.</a:t>
            </a:r>
            <a:endParaRPr lang="en-US" sz="1200" dirty="0"/>
          </a:p>
          <a:p>
            <a:pPr marL="342900" indent="-342900">
              <a:spcAft>
                <a:spcPts val="1200"/>
              </a:spcAft>
              <a:buSzPct val="100000"/>
              <a:buChar char="•"/>
            </a:pPr>
            <a:r>
              <a:rPr lang="en-US" sz="1200" dirty="0">
                <a:solidFill>
                  <a:srgbClr val="4A2C1A"/>
                </a:solidFill>
                <a:latin typeface="Calibri" pitchFamily="34" charset="0"/>
                <a:ea typeface="Calibri" pitchFamily="34" charset="-122"/>
                <a:cs typeface="Calibri" pitchFamily="34" charset="-120"/>
              </a:rPr>
              <a:t>Branded goods, Loose Tea, Flavours and Packaged Chocolate each contribute under 2% . These are niche add-ons rather than core revenue drivers.</a:t>
            </a:r>
            <a:endParaRPr lang="en-US" sz="1200" dirty="0"/>
          </a:p>
        </p:txBody>
      </p:sp>
      <p:sp>
        <p:nvSpPr>
          <p:cNvPr id="12" name="Text 7"/>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13" name="Text 8"/>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star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PRODUCT PERFORMANCE · 2 OF 3</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Top 10 Product Types by Revenue</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graphicFrame>
        <p:nvGraphicFramePr>
          <p:cNvPr id="8" name="Chart 0"/>
          <p:cNvGraphicFramePr/>
          <p:nvPr/>
        </p:nvGraphicFramePr>
        <p:xfrm>
          <a:off x="640080" y="1417320"/>
          <a:ext cx="7315200" cy="4846320"/>
        </p:xfrm>
        <a:graphic>
          <a:graphicData uri="http://schemas.openxmlformats.org/drawingml/2006/chart">
            <c:chart xmlns:c="http://schemas.openxmlformats.org/drawingml/2006/chart" xmlns:r="http://schemas.openxmlformats.org/officeDocument/2006/relationships" r:id="rId6"/>
          </a:graphicData>
        </a:graphic>
      </p:graphicFrame>
      <p:sp>
        <p:nvSpPr>
          <p:cNvPr id="9" name="Shape 4"/>
          <p:cNvSpPr/>
          <p:nvPr/>
        </p:nvSpPr>
        <p:spPr>
          <a:xfrm>
            <a:off x="8229600" y="1417320"/>
            <a:ext cx="3337560" cy="4846320"/>
          </a:xfrm>
          <a:prstGeom prst="roundRect">
            <a:avLst>
              <a:gd name="adj" fmla="val 2740"/>
            </a:avLst>
          </a:prstGeom>
          <a:solidFill>
            <a:srgbClr val="F2E6D8"/>
          </a:solidFill>
          <a:ln/>
          <a:effectLst>
            <a:outerShdw blurRad="88900" dist="38100" dir="2700000" algn="bl" rotWithShape="0">
              <a:srgbClr val="2E1A0F">
                <a:alpha val="18000"/>
              </a:srgbClr>
            </a:outerShdw>
          </a:effectLst>
        </p:spPr>
      </p:sp>
      <p:sp>
        <p:nvSpPr>
          <p:cNvPr id="10" name="Text 5"/>
          <p:cNvSpPr/>
          <p:nvPr/>
        </p:nvSpPr>
        <p:spPr>
          <a:xfrm>
            <a:off x="8458200" y="1600200"/>
            <a:ext cx="2880360" cy="32004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Why this matters</a:t>
            </a:r>
            <a:endParaRPr lang="en-US" sz="1400" dirty="0"/>
          </a:p>
        </p:txBody>
      </p:sp>
      <p:sp>
        <p:nvSpPr>
          <p:cNvPr id="11" name="Text 6"/>
          <p:cNvSpPr/>
          <p:nvPr/>
        </p:nvSpPr>
        <p:spPr>
          <a:xfrm>
            <a:off x="8503920" y="2011680"/>
            <a:ext cx="2834640" cy="411480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Barista Espresso (R91,406) is the single best-selling product type in the entire menu.</a:t>
            </a:r>
            <a:endParaRPr lang="en-US" sz="1150" dirty="0"/>
          </a:p>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Three of the top four spots are split across Tea, Coffee and Chocolate — variety, not one product, is driving revenue.</a:t>
            </a:r>
            <a:endParaRPr lang="en-US" sz="1150" dirty="0"/>
          </a:p>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Scone is the only Bakery item to on the top 10, hinting at room to grow other bakery lines.</a:t>
            </a:r>
            <a:endParaRPr lang="en-US" sz="1150" dirty="0"/>
          </a:p>
        </p:txBody>
      </p:sp>
      <p:sp>
        <p:nvSpPr>
          <p:cNvPr id="12" name="Text 7"/>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13" name="Text 8"/>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50" name="Shape 0">
            <a:extLst>
              <a:ext uri="{FF2B5EF4-FFF2-40B4-BE49-F238E27FC236}">
                <a16:creationId xmlns:a16="http://schemas.microsoft.com/office/drawing/2014/main" id="{502E8C05-A6F9-3FF8-D967-504625802ADD}"/>
              </a:ext>
            </a:extLst>
          </p:cNvPr>
          <p:cNvSpPr/>
          <p:nvPr/>
        </p:nvSpPr>
        <p:spPr>
          <a:xfrm>
            <a:off x="484632" y="438912"/>
            <a:ext cx="566928" cy="566928"/>
          </a:xfrm>
          <a:prstGeom prst="ellipse">
            <a:avLst/>
          </a:prstGeom>
          <a:solidFill>
            <a:srgbClr val="C17817"/>
          </a:solidFill>
          <a:ln/>
        </p:spPr>
      </p:sp>
      <p:pic>
        <p:nvPicPr>
          <p:cNvPr id="51" name="Image 0" descr="/home/claude/coffee_deck/icons/warning_white.png">
            <a:extLst>
              <a:ext uri="{FF2B5EF4-FFF2-40B4-BE49-F238E27FC236}">
                <a16:creationId xmlns:a16="http://schemas.microsoft.com/office/drawing/2014/main" id="{ABA2D5D3-F7A7-5074-4C7C-01ADA9B4C22F}"/>
              </a:ext>
            </a:extLst>
          </p:cNvPr>
          <p:cNvPicPr>
            <a:picLocks noChangeAspect="1"/>
          </p:cNvPicPr>
          <p:nvPr/>
        </p:nvPicPr>
        <p:blipFill>
          <a:blip r:embed="rId3"/>
          <a:stretch>
            <a:fillRect/>
          </a:stretch>
        </p:blipFill>
        <p:spPr>
          <a:xfrm>
            <a:off x="630936" y="585216"/>
            <a:ext cx="274320" cy="274320"/>
          </a:xfrm>
          <a:prstGeom prst="rect">
            <a:avLst/>
          </a:prstGeom>
        </p:spPr>
      </p:pic>
      <p:sp>
        <p:nvSpPr>
          <p:cNvPr id="52" name="Text 1">
            <a:extLst>
              <a:ext uri="{FF2B5EF4-FFF2-40B4-BE49-F238E27FC236}">
                <a16:creationId xmlns:a16="http://schemas.microsoft.com/office/drawing/2014/main" id="{328AD275-B12F-1FFD-D5B1-84A01C2EE996}"/>
              </a:ext>
            </a:extLst>
          </p:cNvPr>
          <p:cNvSpPr/>
          <p:nvPr/>
        </p:nvSpPr>
        <p:spPr>
          <a:xfrm>
            <a:off x="1216152" y="438912"/>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PRODUCT PERFORMANCE · 3 OF 3</a:t>
            </a:r>
            <a:endParaRPr lang="en-US" sz="1250" dirty="0"/>
          </a:p>
        </p:txBody>
      </p:sp>
      <p:sp>
        <p:nvSpPr>
          <p:cNvPr id="53" name="Text 2">
            <a:extLst>
              <a:ext uri="{FF2B5EF4-FFF2-40B4-BE49-F238E27FC236}">
                <a16:creationId xmlns:a16="http://schemas.microsoft.com/office/drawing/2014/main" id="{25E716B4-5B4C-E10E-2F96-60267CC0F06F}"/>
              </a:ext>
            </a:extLst>
          </p:cNvPr>
          <p:cNvSpPr/>
          <p:nvPr/>
        </p:nvSpPr>
        <p:spPr>
          <a:xfrm>
            <a:off x="1197864" y="694944"/>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Best-Sellers vs Underperformers</a:t>
            </a:r>
            <a:endParaRPr lang="en-US" sz="3000" dirty="0"/>
          </a:p>
        </p:txBody>
      </p:sp>
      <p:sp>
        <p:nvSpPr>
          <p:cNvPr id="54" name="Shape 3">
            <a:hlinkClick r:id="rId4" action="ppaction://hlinksldjump" tooltip="Back to Agenda"/>
            <a:extLst>
              <a:ext uri="{FF2B5EF4-FFF2-40B4-BE49-F238E27FC236}">
                <a16:creationId xmlns:a16="http://schemas.microsoft.com/office/drawing/2014/main" id="{8087E932-E3F6-E2CC-F550-91081E03761B}"/>
              </a:ext>
            </a:extLst>
          </p:cNvPr>
          <p:cNvSpPr/>
          <p:nvPr/>
        </p:nvSpPr>
        <p:spPr>
          <a:xfrm>
            <a:off x="11365992" y="393192"/>
            <a:ext cx="384048" cy="384048"/>
          </a:xfrm>
          <a:prstGeom prst="ellipse">
            <a:avLst/>
          </a:prstGeom>
          <a:solidFill>
            <a:srgbClr val="F2E6D8"/>
          </a:solidFill>
          <a:ln w="12700">
            <a:solidFill>
              <a:srgbClr val="E7DCCB"/>
            </a:solidFill>
            <a:prstDash val="solid"/>
          </a:ln>
        </p:spPr>
      </p:sp>
      <p:pic>
        <p:nvPicPr>
          <p:cNvPr id="55" name="Image 1" descr="/home/claude/coffee_deck/icons/home_brown.png">
            <a:hlinkClick r:id="rId4" action="ppaction://hlinksldjump" tooltip="Back to Agenda"/>
            <a:extLst>
              <a:ext uri="{FF2B5EF4-FFF2-40B4-BE49-F238E27FC236}">
                <a16:creationId xmlns:a16="http://schemas.microsoft.com/office/drawing/2014/main" id="{DC86501D-EF49-16AB-6C72-5308921163BB}"/>
              </a:ext>
            </a:extLst>
          </p:cNvPr>
          <p:cNvPicPr>
            <a:picLocks noChangeAspect="1"/>
          </p:cNvPicPr>
          <p:nvPr/>
        </p:nvPicPr>
        <p:blipFill>
          <a:blip r:embed="rId5"/>
          <a:stretch>
            <a:fillRect/>
          </a:stretch>
        </p:blipFill>
        <p:spPr>
          <a:xfrm>
            <a:off x="11466576" y="493776"/>
            <a:ext cx="182880" cy="182880"/>
          </a:xfrm>
          <a:prstGeom prst="rect">
            <a:avLst/>
          </a:prstGeom>
        </p:spPr>
      </p:pic>
      <p:sp>
        <p:nvSpPr>
          <p:cNvPr id="56" name="Text 4">
            <a:extLst>
              <a:ext uri="{FF2B5EF4-FFF2-40B4-BE49-F238E27FC236}">
                <a16:creationId xmlns:a16="http://schemas.microsoft.com/office/drawing/2014/main" id="{A9F10147-1513-2BC9-954A-16E50CD6972A}"/>
              </a:ext>
            </a:extLst>
          </p:cNvPr>
          <p:cNvSpPr/>
          <p:nvPr/>
        </p:nvSpPr>
        <p:spPr>
          <a:xfrm>
            <a:off x="758952" y="1399032"/>
            <a:ext cx="10607040" cy="320040"/>
          </a:xfrm>
          <a:prstGeom prst="rect">
            <a:avLst/>
          </a:prstGeom>
          <a:noFill/>
          <a:ln/>
        </p:spPr>
        <p:txBody>
          <a:bodyPr wrap="square" lIns="0" tIns="0" rIns="0" bIns="0" rtlCol="0" anchor="ctr"/>
          <a:lstStyle/>
          <a:p>
            <a:pPr marL="0" indent="0">
              <a:buNone/>
            </a:pPr>
            <a:r>
              <a:rPr lang="en-US" sz="1300" i="1" dirty="0">
                <a:solidFill>
                  <a:srgbClr val="8A6A52"/>
                </a:solidFill>
                <a:latin typeface="Calibri" pitchFamily="34" charset="0"/>
                <a:ea typeface="Calibri" pitchFamily="34" charset="-122"/>
                <a:cs typeface="Calibri" pitchFamily="34" charset="-120"/>
              </a:rPr>
              <a:t>Looking at individual product details, the gap between the top and bottom performers is striking.</a:t>
            </a:r>
            <a:endParaRPr lang="en-US" sz="1300" dirty="0"/>
          </a:p>
        </p:txBody>
      </p:sp>
      <p:sp>
        <p:nvSpPr>
          <p:cNvPr id="57" name="Shape 5">
            <a:extLst>
              <a:ext uri="{FF2B5EF4-FFF2-40B4-BE49-F238E27FC236}">
                <a16:creationId xmlns:a16="http://schemas.microsoft.com/office/drawing/2014/main" id="{A19E49F5-878C-2736-D77B-A6381D4B7FD2}"/>
              </a:ext>
            </a:extLst>
          </p:cNvPr>
          <p:cNvSpPr/>
          <p:nvPr/>
        </p:nvSpPr>
        <p:spPr>
          <a:xfrm>
            <a:off x="484632" y="1810512"/>
            <a:ext cx="292608" cy="292608"/>
          </a:xfrm>
          <a:prstGeom prst="roundRect">
            <a:avLst>
              <a:gd name="adj" fmla="val 12500"/>
            </a:avLst>
          </a:prstGeom>
          <a:solidFill>
            <a:srgbClr val="5C7A4E"/>
          </a:solidFill>
          <a:ln/>
        </p:spPr>
      </p:sp>
      <p:pic>
        <p:nvPicPr>
          <p:cNvPr id="58" name="Image 2" descr="/home/claude/coffee_deck/icons/star_white.png">
            <a:extLst>
              <a:ext uri="{FF2B5EF4-FFF2-40B4-BE49-F238E27FC236}">
                <a16:creationId xmlns:a16="http://schemas.microsoft.com/office/drawing/2014/main" id="{B5DE161E-BB48-4A15-592D-8381A31AB0CD}"/>
              </a:ext>
            </a:extLst>
          </p:cNvPr>
          <p:cNvPicPr>
            <a:picLocks noChangeAspect="1"/>
          </p:cNvPicPr>
          <p:nvPr/>
        </p:nvPicPr>
        <p:blipFill>
          <a:blip r:embed="rId6"/>
          <a:stretch>
            <a:fillRect/>
          </a:stretch>
        </p:blipFill>
        <p:spPr>
          <a:xfrm>
            <a:off x="557784" y="1883664"/>
            <a:ext cx="146304" cy="146304"/>
          </a:xfrm>
          <a:prstGeom prst="rect">
            <a:avLst/>
          </a:prstGeom>
        </p:spPr>
      </p:pic>
      <p:sp>
        <p:nvSpPr>
          <p:cNvPr id="59" name="Text 6">
            <a:extLst>
              <a:ext uri="{FF2B5EF4-FFF2-40B4-BE49-F238E27FC236}">
                <a16:creationId xmlns:a16="http://schemas.microsoft.com/office/drawing/2014/main" id="{C7070EEA-6751-C205-681F-35A2687A5CCC}"/>
              </a:ext>
            </a:extLst>
          </p:cNvPr>
          <p:cNvSpPr/>
          <p:nvPr/>
        </p:nvSpPr>
        <p:spPr>
          <a:xfrm>
            <a:off x="896112" y="1810512"/>
            <a:ext cx="4937760" cy="292608"/>
          </a:xfrm>
          <a:prstGeom prst="rect">
            <a:avLst/>
          </a:prstGeom>
          <a:noFill/>
          <a:ln/>
        </p:spPr>
        <p:txBody>
          <a:bodyPr wrap="square" lIns="0" tIns="0" rIns="0" bIns="0" rtlCol="0" anchor="ctr"/>
          <a:lstStyle/>
          <a:p>
            <a:pPr marL="0" indent="0">
              <a:buNone/>
            </a:pPr>
            <a:r>
              <a:rPr lang="en-US" sz="1250" b="1" kern="0" spc="50" dirty="0">
                <a:solidFill>
                  <a:srgbClr val="4A2C1A"/>
                </a:solidFill>
                <a:latin typeface="Calibri" pitchFamily="34" charset="0"/>
                <a:ea typeface="Calibri" pitchFamily="34" charset="-122"/>
                <a:cs typeface="Calibri" pitchFamily="34" charset="-120"/>
              </a:rPr>
              <a:t>TOP 5  ·  Best-Sellers by Revenue</a:t>
            </a:r>
            <a:endParaRPr lang="en-US" sz="1250" dirty="0"/>
          </a:p>
        </p:txBody>
      </p:sp>
      <p:graphicFrame>
        <p:nvGraphicFramePr>
          <p:cNvPr id="60" name="Chart 0">
            <a:extLst>
              <a:ext uri="{FF2B5EF4-FFF2-40B4-BE49-F238E27FC236}">
                <a16:creationId xmlns:a16="http://schemas.microsoft.com/office/drawing/2014/main" id="{B064045E-CE42-6CC7-A922-83F6C873A8FF}"/>
              </a:ext>
            </a:extLst>
          </p:cNvPr>
          <p:cNvGraphicFramePr/>
          <p:nvPr>
            <p:extLst>
              <p:ext uri="{D42A27DB-BD31-4B8C-83A1-F6EECF244321}">
                <p14:modId xmlns:p14="http://schemas.microsoft.com/office/powerpoint/2010/main" val="4011553509"/>
              </p:ext>
            </p:extLst>
          </p:nvPr>
        </p:nvGraphicFramePr>
        <p:xfrm>
          <a:off x="484632" y="2176272"/>
          <a:ext cx="5349240" cy="4069080"/>
        </p:xfrm>
        <a:graphic>
          <a:graphicData uri="http://schemas.openxmlformats.org/drawingml/2006/chart">
            <c:chart xmlns:c="http://schemas.openxmlformats.org/drawingml/2006/chart" xmlns:r="http://schemas.openxmlformats.org/officeDocument/2006/relationships" r:id="rId7"/>
          </a:graphicData>
        </a:graphic>
      </p:graphicFrame>
      <p:sp>
        <p:nvSpPr>
          <p:cNvPr id="61" name="Shape 7">
            <a:extLst>
              <a:ext uri="{FF2B5EF4-FFF2-40B4-BE49-F238E27FC236}">
                <a16:creationId xmlns:a16="http://schemas.microsoft.com/office/drawing/2014/main" id="{D312DFE5-443D-63DE-8370-90BA3EC1B38A}"/>
              </a:ext>
            </a:extLst>
          </p:cNvPr>
          <p:cNvSpPr/>
          <p:nvPr/>
        </p:nvSpPr>
        <p:spPr>
          <a:xfrm>
            <a:off x="6336792" y="1810512"/>
            <a:ext cx="292608" cy="292608"/>
          </a:xfrm>
          <a:prstGeom prst="roundRect">
            <a:avLst>
              <a:gd name="adj" fmla="val 12500"/>
            </a:avLst>
          </a:prstGeom>
          <a:solidFill>
            <a:srgbClr val="A14438"/>
          </a:solidFill>
          <a:ln/>
        </p:spPr>
      </p:sp>
      <p:pic>
        <p:nvPicPr>
          <p:cNvPr id="62" name="Image 3" descr="/home/claude/coffee_deck/icons/warning_white.png">
            <a:extLst>
              <a:ext uri="{FF2B5EF4-FFF2-40B4-BE49-F238E27FC236}">
                <a16:creationId xmlns:a16="http://schemas.microsoft.com/office/drawing/2014/main" id="{1BA4F277-4771-3AA3-5F3D-7A93079F030D}"/>
              </a:ext>
            </a:extLst>
          </p:cNvPr>
          <p:cNvPicPr>
            <a:picLocks noChangeAspect="1"/>
          </p:cNvPicPr>
          <p:nvPr/>
        </p:nvPicPr>
        <p:blipFill>
          <a:blip r:embed="rId3"/>
          <a:stretch>
            <a:fillRect/>
          </a:stretch>
        </p:blipFill>
        <p:spPr>
          <a:xfrm>
            <a:off x="6409944" y="1883664"/>
            <a:ext cx="146304" cy="146304"/>
          </a:xfrm>
          <a:prstGeom prst="rect">
            <a:avLst/>
          </a:prstGeom>
        </p:spPr>
      </p:pic>
      <p:sp>
        <p:nvSpPr>
          <p:cNvPr id="63" name="Text 8">
            <a:extLst>
              <a:ext uri="{FF2B5EF4-FFF2-40B4-BE49-F238E27FC236}">
                <a16:creationId xmlns:a16="http://schemas.microsoft.com/office/drawing/2014/main" id="{6204441D-3157-E094-40EF-44265A5AFEE6}"/>
              </a:ext>
            </a:extLst>
          </p:cNvPr>
          <p:cNvSpPr/>
          <p:nvPr/>
        </p:nvSpPr>
        <p:spPr>
          <a:xfrm>
            <a:off x="6748272" y="1810512"/>
            <a:ext cx="4937760" cy="292608"/>
          </a:xfrm>
          <a:prstGeom prst="rect">
            <a:avLst/>
          </a:prstGeom>
          <a:noFill/>
          <a:ln/>
        </p:spPr>
        <p:txBody>
          <a:bodyPr wrap="square" lIns="0" tIns="0" rIns="0" bIns="0" rtlCol="0" anchor="ctr"/>
          <a:lstStyle/>
          <a:p>
            <a:pPr marL="0" indent="0">
              <a:buNone/>
            </a:pPr>
            <a:r>
              <a:rPr lang="en-US" sz="1250" b="1" kern="0" spc="50" dirty="0">
                <a:solidFill>
                  <a:srgbClr val="4A2C1A"/>
                </a:solidFill>
                <a:latin typeface="Calibri" pitchFamily="34" charset="0"/>
                <a:ea typeface="Calibri" pitchFamily="34" charset="-122"/>
                <a:cs typeface="Calibri" pitchFamily="34" charset="-120"/>
              </a:rPr>
              <a:t>BOTTOM 5  ·  Underperformers by Revenue</a:t>
            </a:r>
            <a:endParaRPr lang="en-US" sz="1250" dirty="0"/>
          </a:p>
        </p:txBody>
      </p:sp>
      <p:graphicFrame>
        <p:nvGraphicFramePr>
          <p:cNvPr id="64" name="Chart 1">
            <a:extLst>
              <a:ext uri="{FF2B5EF4-FFF2-40B4-BE49-F238E27FC236}">
                <a16:creationId xmlns:a16="http://schemas.microsoft.com/office/drawing/2014/main" id="{AC8363F2-2BD5-3C94-A8F0-E162B984C788}"/>
              </a:ext>
            </a:extLst>
          </p:cNvPr>
          <p:cNvGraphicFramePr/>
          <p:nvPr>
            <p:extLst>
              <p:ext uri="{D42A27DB-BD31-4B8C-83A1-F6EECF244321}">
                <p14:modId xmlns:p14="http://schemas.microsoft.com/office/powerpoint/2010/main" val="70990460"/>
              </p:ext>
            </p:extLst>
          </p:nvPr>
        </p:nvGraphicFramePr>
        <p:xfrm>
          <a:off x="6336792" y="2176272"/>
          <a:ext cx="5349240" cy="4069080"/>
        </p:xfrm>
        <a:graphic>
          <a:graphicData uri="http://schemas.openxmlformats.org/drawingml/2006/chart">
            <c:chart xmlns:c="http://schemas.openxmlformats.org/drawingml/2006/chart" xmlns:r="http://schemas.openxmlformats.org/officeDocument/2006/relationships" r:id="rId8"/>
          </a:graphicData>
        </a:graphic>
      </p:graphicFrame>
      <p:sp>
        <p:nvSpPr>
          <p:cNvPr id="65" name="Shape 9">
            <a:extLst>
              <a:ext uri="{FF2B5EF4-FFF2-40B4-BE49-F238E27FC236}">
                <a16:creationId xmlns:a16="http://schemas.microsoft.com/office/drawing/2014/main" id="{271DA462-025E-8C4B-4744-D5AFAF6FDB3F}"/>
              </a:ext>
            </a:extLst>
          </p:cNvPr>
          <p:cNvSpPr/>
          <p:nvPr/>
        </p:nvSpPr>
        <p:spPr>
          <a:xfrm>
            <a:off x="6062472" y="1810512"/>
            <a:ext cx="0" cy="4480560"/>
          </a:xfrm>
          <a:prstGeom prst="line">
            <a:avLst/>
          </a:prstGeom>
          <a:noFill/>
          <a:ln w="15240">
            <a:solidFill>
              <a:srgbClr val="E7DCCB"/>
            </a:solidFill>
            <a:prstDash val="solid"/>
          </a:ln>
        </p:spPr>
      </p:sp>
      <p:sp>
        <p:nvSpPr>
          <p:cNvPr id="66" name="Text 10">
            <a:extLst>
              <a:ext uri="{FF2B5EF4-FFF2-40B4-BE49-F238E27FC236}">
                <a16:creationId xmlns:a16="http://schemas.microsoft.com/office/drawing/2014/main" id="{C86FF293-572E-BD2A-032F-D3A8CD98005E}"/>
              </a:ext>
            </a:extLst>
          </p:cNvPr>
          <p:cNvSpPr/>
          <p:nvPr/>
        </p:nvSpPr>
        <p:spPr>
          <a:xfrm>
            <a:off x="1895921" y="6364224"/>
            <a:ext cx="10652760" cy="292608"/>
          </a:xfrm>
          <a:prstGeom prst="rect">
            <a:avLst/>
          </a:prstGeom>
          <a:noFill/>
          <a:ln/>
        </p:spPr>
        <p:txBody>
          <a:bodyPr wrap="square" lIns="0" tIns="0" rIns="0" bIns="0" rtlCol="0" anchor="ctr"/>
          <a:lstStyle/>
          <a:p>
            <a:pPr marL="0" indent="0">
              <a:buNone/>
            </a:pPr>
            <a:r>
              <a:rPr lang="en-US" sz="1050" i="1" dirty="0">
                <a:solidFill>
                  <a:srgbClr val="8A6A52"/>
                </a:solidFill>
                <a:latin typeface="Calibri" pitchFamily="34" charset="0"/>
                <a:ea typeface="Calibri" pitchFamily="34" charset="-122"/>
                <a:cs typeface="Calibri" pitchFamily="34" charset="-120"/>
              </a:rPr>
              <a:t>The best-seller (R21,152) earns 28× more than the weakest product (R755) — a strong case for bundling or retiring the latter.</a:t>
            </a:r>
            <a:endParaRPr lang="en-US" sz="1050" dirty="0"/>
          </a:p>
        </p:txBody>
      </p:sp>
      <p:sp>
        <p:nvSpPr>
          <p:cNvPr id="67" name="Text 11">
            <a:extLst>
              <a:ext uri="{FF2B5EF4-FFF2-40B4-BE49-F238E27FC236}">
                <a16:creationId xmlns:a16="http://schemas.microsoft.com/office/drawing/2014/main" id="{F463BD59-371E-9CC0-7918-1869389B60FB}"/>
              </a:ext>
            </a:extLst>
          </p:cNvPr>
          <p:cNvSpPr/>
          <p:nvPr/>
        </p:nvSpPr>
        <p:spPr>
          <a:xfrm>
            <a:off x="347472" y="6620256"/>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68" name="Text 12">
            <a:extLst>
              <a:ext uri="{FF2B5EF4-FFF2-40B4-BE49-F238E27FC236}">
                <a16:creationId xmlns:a16="http://schemas.microsoft.com/office/drawing/2014/main" id="{4179503A-2076-6012-0207-A4833D8CE37A}"/>
              </a:ext>
            </a:extLst>
          </p:cNvPr>
          <p:cNvSpPr/>
          <p:nvPr/>
        </p:nvSpPr>
        <p:spPr>
          <a:xfrm>
            <a:off x="11045952" y="6492240"/>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pin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WHERE WE SELL</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Revenue by Store Location</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graphicFrame>
        <p:nvGraphicFramePr>
          <p:cNvPr id="8" name="Chart 0"/>
          <p:cNvGraphicFramePr/>
          <p:nvPr/>
        </p:nvGraphicFramePr>
        <p:xfrm>
          <a:off x="777240" y="1463040"/>
          <a:ext cx="5120640" cy="4572000"/>
        </p:xfrm>
        <a:graphic>
          <a:graphicData uri="http://schemas.openxmlformats.org/drawingml/2006/chart">
            <c:chart xmlns:c="http://schemas.openxmlformats.org/drawingml/2006/chart" xmlns:r="http://schemas.openxmlformats.org/officeDocument/2006/relationships" r:id="rId6"/>
          </a:graphicData>
        </a:graphic>
      </p:graphicFrame>
      <p:sp>
        <p:nvSpPr>
          <p:cNvPr id="9" name="Shape 4"/>
          <p:cNvSpPr/>
          <p:nvPr/>
        </p:nvSpPr>
        <p:spPr>
          <a:xfrm>
            <a:off x="6263640" y="1508760"/>
            <a:ext cx="5166360" cy="1325880"/>
          </a:xfrm>
          <a:prstGeom prst="roundRect">
            <a:avLst>
              <a:gd name="adj" fmla="val 6897"/>
            </a:avLst>
          </a:prstGeom>
          <a:solidFill>
            <a:srgbClr val="F2E6D8"/>
          </a:solidFill>
          <a:ln/>
          <a:effectLst>
            <a:outerShdw blurRad="88900" dist="38100" dir="2700000" algn="bl" rotWithShape="0">
              <a:srgbClr val="2E1A0F">
                <a:alpha val="18000"/>
              </a:srgbClr>
            </a:outerShdw>
          </a:effectLst>
        </p:spPr>
      </p:sp>
      <p:sp>
        <p:nvSpPr>
          <p:cNvPr id="10" name="Shape 5"/>
          <p:cNvSpPr/>
          <p:nvPr/>
        </p:nvSpPr>
        <p:spPr>
          <a:xfrm>
            <a:off x="6446520" y="1714500"/>
            <a:ext cx="914400" cy="914400"/>
          </a:xfrm>
          <a:prstGeom prst="ellipse">
            <a:avLst/>
          </a:prstGeom>
          <a:solidFill>
            <a:srgbClr val="C17817"/>
          </a:solidFill>
          <a:ln/>
        </p:spPr>
      </p:sp>
      <p:pic>
        <p:nvPicPr>
          <p:cNvPr id="11" name="Image 2" descr="/home/claude/coffee_deck/icons/pin_white.png"/>
          <p:cNvPicPr>
            <a:picLocks noChangeAspect="1"/>
          </p:cNvPicPr>
          <p:nvPr/>
        </p:nvPicPr>
        <p:blipFill>
          <a:blip r:embed="rId3"/>
          <a:stretch>
            <a:fillRect/>
          </a:stretch>
        </p:blipFill>
        <p:spPr>
          <a:xfrm>
            <a:off x="6675120" y="1943100"/>
            <a:ext cx="457200" cy="457200"/>
          </a:xfrm>
          <a:prstGeom prst="rect">
            <a:avLst/>
          </a:prstGeom>
        </p:spPr>
      </p:pic>
      <p:sp>
        <p:nvSpPr>
          <p:cNvPr id="12" name="Text 6"/>
          <p:cNvSpPr/>
          <p:nvPr/>
        </p:nvSpPr>
        <p:spPr>
          <a:xfrm>
            <a:off x="7543800" y="1673352"/>
            <a:ext cx="2377440" cy="365760"/>
          </a:xfrm>
          <a:prstGeom prst="rect">
            <a:avLst/>
          </a:prstGeom>
          <a:noFill/>
          <a:ln/>
        </p:spPr>
        <p:txBody>
          <a:bodyPr wrap="square" lIns="0" tIns="0" rIns="0" bIns="0" rtlCol="0" anchor="ctr"/>
          <a:lstStyle/>
          <a:p>
            <a:pPr marL="0" indent="0">
              <a:buNone/>
            </a:pPr>
            <a:r>
              <a:rPr lang="en-US" sz="1500" b="1" dirty="0">
                <a:solidFill>
                  <a:srgbClr val="4A2C1A"/>
                </a:solidFill>
                <a:latin typeface="Calibri" pitchFamily="34" charset="0"/>
                <a:ea typeface="Calibri" pitchFamily="34" charset="-122"/>
                <a:cs typeface="Calibri" pitchFamily="34" charset="-120"/>
              </a:rPr>
              <a:t>Hell's Kitchen</a:t>
            </a:r>
            <a:endParaRPr lang="en-US" sz="1500" dirty="0"/>
          </a:p>
        </p:txBody>
      </p:sp>
      <p:sp>
        <p:nvSpPr>
          <p:cNvPr id="13" name="Text 7"/>
          <p:cNvSpPr/>
          <p:nvPr/>
        </p:nvSpPr>
        <p:spPr>
          <a:xfrm>
            <a:off x="7543800" y="2039112"/>
            <a:ext cx="2377440" cy="457200"/>
          </a:xfrm>
          <a:prstGeom prst="rect">
            <a:avLst/>
          </a:prstGeom>
          <a:noFill/>
          <a:ln/>
        </p:spPr>
        <p:txBody>
          <a:bodyPr wrap="square" lIns="0" tIns="0" rIns="0" bIns="0" rtlCol="0" anchor="ctr"/>
          <a:lstStyle/>
          <a:p>
            <a:pPr marL="0" indent="0">
              <a:buNone/>
            </a:pPr>
            <a:r>
              <a:rPr lang="en-US" sz="1900" b="1" dirty="0">
                <a:solidFill>
                  <a:srgbClr val="4A2C1A"/>
                </a:solidFill>
                <a:latin typeface="Cambria" pitchFamily="34" charset="0"/>
                <a:ea typeface="Cambria" pitchFamily="34" charset="-122"/>
                <a:cs typeface="Cambria" pitchFamily="34" charset="-120"/>
              </a:rPr>
              <a:t>R236,511.17</a:t>
            </a:r>
            <a:endParaRPr lang="en-US" sz="1900" dirty="0"/>
          </a:p>
        </p:txBody>
      </p:sp>
      <p:sp>
        <p:nvSpPr>
          <p:cNvPr id="14" name="Text 8"/>
          <p:cNvSpPr/>
          <p:nvPr/>
        </p:nvSpPr>
        <p:spPr>
          <a:xfrm>
            <a:off x="9784080" y="2011680"/>
            <a:ext cx="1463040" cy="502920"/>
          </a:xfrm>
          <a:prstGeom prst="rect">
            <a:avLst/>
          </a:prstGeom>
          <a:noFill/>
          <a:ln/>
        </p:spPr>
        <p:txBody>
          <a:bodyPr wrap="square" lIns="0" tIns="0" rIns="0" bIns="0" rtlCol="0" anchor="ctr"/>
          <a:lstStyle/>
          <a:p>
            <a:pPr marL="0" indent="0">
              <a:buNone/>
            </a:pPr>
            <a:r>
              <a:rPr lang="en-US" sz="1150" i="1" dirty="0">
                <a:solidFill>
                  <a:srgbClr val="8A6A52"/>
                </a:solidFill>
                <a:latin typeface="Calibri" pitchFamily="34" charset="0"/>
                <a:ea typeface="Calibri" pitchFamily="34" charset="-122"/>
                <a:cs typeface="Calibri" pitchFamily="34" charset="-120"/>
              </a:rPr>
              <a:t>33.84% of revenue</a:t>
            </a:r>
            <a:endParaRPr lang="en-US" sz="1150" dirty="0"/>
          </a:p>
        </p:txBody>
      </p:sp>
      <p:sp>
        <p:nvSpPr>
          <p:cNvPr id="15" name="Shape 9"/>
          <p:cNvSpPr/>
          <p:nvPr/>
        </p:nvSpPr>
        <p:spPr>
          <a:xfrm>
            <a:off x="6263640" y="2999232"/>
            <a:ext cx="5166360" cy="1325880"/>
          </a:xfrm>
          <a:prstGeom prst="roundRect">
            <a:avLst>
              <a:gd name="adj" fmla="val 6897"/>
            </a:avLst>
          </a:prstGeom>
          <a:solidFill>
            <a:srgbClr val="F2E6D8"/>
          </a:solidFill>
          <a:ln/>
          <a:effectLst>
            <a:outerShdw blurRad="88900" dist="38100" dir="2700000" algn="bl" rotWithShape="0">
              <a:srgbClr val="2E1A0F">
                <a:alpha val="18000"/>
              </a:srgbClr>
            </a:outerShdw>
          </a:effectLst>
        </p:spPr>
      </p:sp>
      <p:sp>
        <p:nvSpPr>
          <p:cNvPr id="16" name="Shape 10"/>
          <p:cNvSpPr/>
          <p:nvPr/>
        </p:nvSpPr>
        <p:spPr>
          <a:xfrm>
            <a:off x="6446520" y="3204972"/>
            <a:ext cx="914400" cy="914400"/>
          </a:xfrm>
          <a:prstGeom prst="ellipse">
            <a:avLst/>
          </a:prstGeom>
          <a:solidFill>
            <a:srgbClr val="B5651D"/>
          </a:solidFill>
          <a:ln/>
        </p:spPr>
      </p:sp>
      <p:pic>
        <p:nvPicPr>
          <p:cNvPr id="17" name="Image 3" descr="/home/claude/coffee_deck/icons/pin_white.png"/>
          <p:cNvPicPr>
            <a:picLocks noChangeAspect="1"/>
          </p:cNvPicPr>
          <p:nvPr/>
        </p:nvPicPr>
        <p:blipFill>
          <a:blip r:embed="rId3"/>
          <a:stretch>
            <a:fillRect/>
          </a:stretch>
        </p:blipFill>
        <p:spPr>
          <a:xfrm>
            <a:off x="6675120" y="3433572"/>
            <a:ext cx="457200" cy="457200"/>
          </a:xfrm>
          <a:prstGeom prst="rect">
            <a:avLst/>
          </a:prstGeom>
        </p:spPr>
      </p:pic>
      <p:sp>
        <p:nvSpPr>
          <p:cNvPr id="18" name="Text 11"/>
          <p:cNvSpPr/>
          <p:nvPr/>
        </p:nvSpPr>
        <p:spPr>
          <a:xfrm>
            <a:off x="7543800" y="3163824"/>
            <a:ext cx="2377440" cy="365760"/>
          </a:xfrm>
          <a:prstGeom prst="rect">
            <a:avLst/>
          </a:prstGeom>
          <a:noFill/>
          <a:ln/>
        </p:spPr>
        <p:txBody>
          <a:bodyPr wrap="square" lIns="0" tIns="0" rIns="0" bIns="0" rtlCol="0" anchor="ctr"/>
          <a:lstStyle/>
          <a:p>
            <a:pPr marL="0" indent="0">
              <a:buNone/>
            </a:pPr>
            <a:r>
              <a:rPr lang="en-US" sz="1500" b="1" dirty="0">
                <a:solidFill>
                  <a:srgbClr val="4A2C1A"/>
                </a:solidFill>
                <a:latin typeface="Calibri" pitchFamily="34" charset="0"/>
                <a:ea typeface="Calibri" pitchFamily="34" charset="-122"/>
                <a:cs typeface="Calibri" pitchFamily="34" charset="-120"/>
              </a:rPr>
              <a:t>Astoria</a:t>
            </a:r>
            <a:endParaRPr lang="en-US" sz="1500" dirty="0"/>
          </a:p>
        </p:txBody>
      </p:sp>
      <p:sp>
        <p:nvSpPr>
          <p:cNvPr id="19" name="Text 12"/>
          <p:cNvSpPr/>
          <p:nvPr/>
        </p:nvSpPr>
        <p:spPr>
          <a:xfrm>
            <a:off x="7543800" y="3529584"/>
            <a:ext cx="2377440" cy="457200"/>
          </a:xfrm>
          <a:prstGeom prst="rect">
            <a:avLst/>
          </a:prstGeom>
          <a:noFill/>
          <a:ln/>
        </p:spPr>
        <p:txBody>
          <a:bodyPr wrap="square" lIns="0" tIns="0" rIns="0" bIns="0" rtlCol="0" anchor="ctr"/>
          <a:lstStyle/>
          <a:p>
            <a:pPr marL="0" indent="0">
              <a:buNone/>
            </a:pPr>
            <a:r>
              <a:rPr lang="en-US" sz="1900" b="1" dirty="0">
                <a:solidFill>
                  <a:srgbClr val="4A2C1A"/>
                </a:solidFill>
                <a:latin typeface="Cambria" pitchFamily="34" charset="0"/>
                <a:ea typeface="Cambria" pitchFamily="34" charset="-122"/>
                <a:cs typeface="Cambria" pitchFamily="34" charset="-120"/>
              </a:rPr>
              <a:t>R232,243.91</a:t>
            </a:r>
            <a:endParaRPr lang="en-US" sz="1900" dirty="0"/>
          </a:p>
        </p:txBody>
      </p:sp>
      <p:sp>
        <p:nvSpPr>
          <p:cNvPr id="20" name="Text 13"/>
          <p:cNvSpPr/>
          <p:nvPr/>
        </p:nvSpPr>
        <p:spPr>
          <a:xfrm>
            <a:off x="9784080" y="3502152"/>
            <a:ext cx="1463040" cy="502920"/>
          </a:xfrm>
          <a:prstGeom prst="rect">
            <a:avLst/>
          </a:prstGeom>
          <a:noFill/>
          <a:ln/>
        </p:spPr>
        <p:txBody>
          <a:bodyPr wrap="square" lIns="0" tIns="0" rIns="0" bIns="0" rtlCol="0" anchor="ctr"/>
          <a:lstStyle/>
          <a:p>
            <a:pPr marL="0" indent="0">
              <a:buNone/>
            </a:pPr>
            <a:r>
              <a:rPr lang="en-US" sz="1150" i="1" dirty="0">
                <a:solidFill>
                  <a:srgbClr val="8A6A52"/>
                </a:solidFill>
                <a:latin typeface="Calibri" pitchFamily="34" charset="0"/>
                <a:ea typeface="Calibri" pitchFamily="34" charset="-122"/>
                <a:cs typeface="Calibri" pitchFamily="34" charset="-120"/>
              </a:rPr>
              <a:t>33.23% of revenue</a:t>
            </a:r>
            <a:endParaRPr lang="en-US" sz="1150" dirty="0"/>
          </a:p>
        </p:txBody>
      </p:sp>
      <p:sp>
        <p:nvSpPr>
          <p:cNvPr id="21" name="Shape 14"/>
          <p:cNvSpPr/>
          <p:nvPr/>
        </p:nvSpPr>
        <p:spPr>
          <a:xfrm>
            <a:off x="6263640" y="4489704"/>
            <a:ext cx="5166360" cy="1325880"/>
          </a:xfrm>
          <a:prstGeom prst="roundRect">
            <a:avLst>
              <a:gd name="adj" fmla="val 6897"/>
            </a:avLst>
          </a:prstGeom>
          <a:solidFill>
            <a:srgbClr val="F2E6D8"/>
          </a:solidFill>
          <a:ln/>
          <a:effectLst>
            <a:outerShdw blurRad="88900" dist="38100" dir="2700000" algn="bl" rotWithShape="0">
              <a:srgbClr val="2E1A0F">
                <a:alpha val="18000"/>
              </a:srgbClr>
            </a:outerShdw>
          </a:effectLst>
        </p:spPr>
      </p:sp>
      <p:sp>
        <p:nvSpPr>
          <p:cNvPr id="22" name="Shape 15"/>
          <p:cNvSpPr/>
          <p:nvPr/>
        </p:nvSpPr>
        <p:spPr>
          <a:xfrm>
            <a:off x="6446520" y="4695444"/>
            <a:ext cx="914400" cy="914400"/>
          </a:xfrm>
          <a:prstGeom prst="ellipse">
            <a:avLst/>
          </a:prstGeom>
          <a:solidFill>
            <a:srgbClr val="D4A24C"/>
          </a:solidFill>
          <a:ln/>
        </p:spPr>
      </p:sp>
      <p:pic>
        <p:nvPicPr>
          <p:cNvPr id="23" name="Image 4" descr="/home/claude/coffee_deck/icons/pin_white.png"/>
          <p:cNvPicPr>
            <a:picLocks noChangeAspect="1"/>
          </p:cNvPicPr>
          <p:nvPr/>
        </p:nvPicPr>
        <p:blipFill>
          <a:blip r:embed="rId3"/>
          <a:stretch>
            <a:fillRect/>
          </a:stretch>
        </p:blipFill>
        <p:spPr>
          <a:xfrm>
            <a:off x="6675120" y="4924044"/>
            <a:ext cx="457200" cy="457200"/>
          </a:xfrm>
          <a:prstGeom prst="rect">
            <a:avLst/>
          </a:prstGeom>
        </p:spPr>
      </p:pic>
      <p:sp>
        <p:nvSpPr>
          <p:cNvPr id="24" name="Text 16"/>
          <p:cNvSpPr/>
          <p:nvPr/>
        </p:nvSpPr>
        <p:spPr>
          <a:xfrm>
            <a:off x="7543800" y="4654296"/>
            <a:ext cx="2377440" cy="365760"/>
          </a:xfrm>
          <a:prstGeom prst="rect">
            <a:avLst/>
          </a:prstGeom>
          <a:noFill/>
          <a:ln/>
        </p:spPr>
        <p:txBody>
          <a:bodyPr wrap="square" lIns="0" tIns="0" rIns="0" bIns="0" rtlCol="0" anchor="ctr"/>
          <a:lstStyle/>
          <a:p>
            <a:pPr marL="0" indent="0">
              <a:buNone/>
            </a:pPr>
            <a:r>
              <a:rPr lang="en-US" sz="1500" b="1" dirty="0">
                <a:solidFill>
                  <a:srgbClr val="4A2C1A"/>
                </a:solidFill>
                <a:latin typeface="Calibri" pitchFamily="34" charset="0"/>
                <a:ea typeface="Calibri" pitchFamily="34" charset="-122"/>
                <a:cs typeface="Calibri" pitchFamily="34" charset="-120"/>
              </a:rPr>
              <a:t>Lower Manhattan</a:t>
            </a:r>
            <a:endParaRPr lang="en-US" sz="1500" dirty="0"/>
          </a:p>
        </p:txBody>
      </p:sp>
      <p:sp>
        <p:nvSpPr>
          <p:cNvPr id="25" name="Text 17"/>
          <p:cNvSpPr/>
          <p:nvPr/>
        </p:nvSpPr>
        <p:spPr>
          <a:xfrm>
            <a:off x="7543800" y="5020056"/>
            <a:ext cx="2377440" cy="457200"/>
          </a:xfrm>
          <a:prstGeom prst="rect">
            <a:avLst/>
          </a:prstGeom>
          <a:noFill/>
          <a:ln/>
        </p:spPr>
        <p:txBody>
          <a:bodyPr wrap="square" lIns="0" tIns="0" rIns="0" bIns="0" rtlCol="0" anchor="ctr"/>
          <a:lstStyle/>
          <a:p>
            <a:pPr marL="0" indent="0">
              <a:buNone/>
            </a:pPr>
            <a:r>
              <a:rPr lang="en-US" sz="1900" b="1" dirty="0">
                <a:solidFill>
                  <a:srgbClr val="4A2C1A"/>
                </a:solidFill>
                <a:latin typeface="Cambria" pitchFamily="34" charset="0"/>
                <a:ea typeface="Cambria" pitchFamily="34" charset="-122"/>
                <a:cs typeface="Cambria" pitchFamily="34" charset="-120"/>
              </a:rPr>
              <a:t>R230,057.25</a:t>
            </a:r>
            <a:endParaRPr lang="en-US" sz="1900" dirty="0"/>
          </a:p>
        </p:txBody>
      </p:sp>
      <p:sp>
        <p:nvSpPr>
          <p:cNvPr id="26" name="Text 18"/>
          <p:cNvSpPr/>
          <p:nvPr/>
        </p:nvSpPr>
        <p:spPr>
          <a:xfrm>
            <a:off x="9784080" y="4992624"/>
            <a:ext cx="1463040" cy="502920"/>
          </a:xfrm>
          <a:prstGeom prst="rect">
            <a:avLst/>
          </a:prstGeom>
          <a:noFill/>
          <a:ln/>
        </p:spPr>
        <p:txBody>
          <a:bodyPr wrap="square" lIns="0" tIns="0" rIns="0" bIns="0" rtlCol="0" anchor="ctr"/>
          <a:lstStyle/>
          <a:p>
            <a:pPr marL="0" indent="0">
              <a:buNone/>
            </a:pPr>
            <a:r>
              <a:rPr lang="en-US" sz="1150" i="1" dirty="0">
                <a:solidFill>
                  <a:srgbClr val="8A6A52"/>
                </a:solidFill>
                <a:latin typeface="Calibri" pitchFamily="34" charset="0"/>
                <a:ea typeface="Calibri" pitchFamily="34" charset="-122"/>
                <a:cs typeface="Calibri" pitchFamily="34" charset="-120"/>
              </a:rPr>
              <a:t>32.92% of revenue</a:t>
            </a:r>
            <a:endParaRPr lang="en-US" sz="1150" dirty="0"/>
          </a:p>
        </p:txBody>
      </p:sp>
      <p:sp>
        <p:nvSpPr>
          <p:cNvPr id="27" name="Text 19"/>
          <p:cNvSpPr/>
          <p:nvPr/>
        </p:nvSpPr>
        <p:spPr>
          <a:xfrm>
            <a:off x="6263640" y="5989320"/>
            <a:ext cx="5166360" cy="502920"/>
          </a:xfrm>
          <a:prstGeom prst="rect">
            <a:avLst/>
          </a:prstGeom>
          <a:noFill/>
          <a:ln/>
        </p:spPr>
        <p:txBody>
          <a:bodyPr wrap="square" lIns="0" tIns="0" rIns="0" bIns="0" rtlCol="0" anchor="ctr"/>
          <a:lstStyle/>
          <a:p>
            <a:pPr marL="0" indent="0">
              <a:lnSpc>
                <a:spcPct val="112000"/>
              </a:lnSpc>
              <a:buNone/>
            </a:pPr>
            <a:r>
              <a:rPr lang="en-US" sz="1150" i="1" dirty="0">
                <a:solidFill>
                  <a:srgbClr val="4A2C1A"/>
                </a:solidFill>
                <a:latin typeface="Calibri" pitchFamily="34" charset="0"/>
                <a:ea typeface="Calibri" pitchFamily="34" charset="-122"/>
                <a:cs typeface="Calibri" pitchFamily="34" charset="-120"/>
              </a:rPr>
              <a:t>Revenue is almost perfectly split three ways — within 1.6 percentage points of each other. No single store is underperforming when compared to others. </a:t>
            </a:r>
          </a:p>
        </p:txBody>
      </p:sp>
      <p:sp>
        <p:nvSpPr>
          <p:cNvPr id="28" name="Text 20"/>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29" name="Text 21"/>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clock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WHEN WE SELL · 1 OF 3</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Sales Performance by Time of Day</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graphicFrame>
        <p:nvGraphicFramePr>
          <p:cNvPr id="8" name="Chart 0"/>
          <p:cNvGraphicFramePr/>
          <p:nvPr>
            <p:extLst>
              <p:ext uri="{D42A27DB-BD31-4B8C-83A1-F6EECF244321}">
                <p14:modId xmlns:p14="http://schemas.microsoft.com/office/powerpoint/2010/main" val="4064449263"/>
              </p:ext>
            </p:extLst>
          </p:nvPr>
        </p:nvGraphicFramePr>
        <p:xfrm>
          <a:off x="640080" y="1417320"/>
          <a:ext cx="7315200" cy="36576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Chart 1"/>
          <p:cNvGraphicFramePr/>
          <p:nvPr/>
        </p:nvGraphicFramePr>
        <p:xfrm>
          <a:off x="640080" y="5102352"/>
          <a:ext cx="7315200" cy="1261872"/>
        </p:xfrm>
        <a:graphic>
          <a:graphicData uri="http://schemas.openxmlformats.org/drawingml/2006/chart">
            <c:chart xmlns:c="http://schemas.openxmlformats.org/drawingml/2006/chart" xmlns:r="http://schemas.openxmlformats.org/officeDocument/2006/relationships" r:id="rId7"/>
          </a:graphicData>
        </a:graphic>
      </p:graphicFrame>
      <p:sp>
        <p:nvSpPr>
          <p:cNvPr id="10" name="Shape 4"/>
          <p:cNvSpPr/>
          <p:nvPr/>
        </p:nvSpPr>
        <p:spPr>
          <a:xfrm>
            <a:off x="8229600" y="1417320"/>
            <a:ext cx="3337560" cy="4937760"/>
          </a:xfrm>
          <a:prstGeom prst="roundRect">
            <a:avLst>
              <a:gd name="adj" fmla="val 2740"/>
            </a:avLst>
          </a:prstGeom>
          <a:solidFill>
            <a:srgbClr val="F2E6D8"/>
          </a:solidFill>
          <a:ln/>
          <a:effectLst>
            <a:outerShdw blurRad="88900" dist="38100" dir="2700000" algn="bl" rotWithShape="0">
              <a:srgbClr val="2E1A0F">
                <a:alpha val="18000"/>
              </a:srgbClr>
            </a:outerShdw>
          </a:effectLst>
        </p:spPr>
      </p:sp>
      <p:sp>
        <p:nvSpPr>
          <p:cNvPr id="11" name="Text 5"/>
          <p:cNvSpPr/>
          <p:nvPr/>
        </p:nvSpPr>
        <p:spPr>
          <a:xfrm>
            <a:off x="8458200" y="1600200"/>
            <a:ext cx="2880360" cy="32004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Reading the pattern</a:t>
            </a:r>
            <a:endParaRPr lang="en-US" sz="1400" dirty="0"/>
          </a:p>
        </p:txBody>
      </p:sp>
      <p:sp>
        <p:nvSpPr>
          <p:cNvPr id="12" name="Text 6"/>
          <p:cNvSpPr/>
          <p:nvPr/>
        </p:nvSpPr>
        <p:spPr>
          <a:xfrm>
            <a:off x="8503920" y="2011680"/>
            <a:ext cx="2834640" cy="416052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Mid-Morning (9–11am) is the single best-performing window, ahead of even the traditional rush hour.</a:t>
            </a:r>
            <a:endParaRPr lang="en-US" sz="1150" dirty="0"/>
          </a:p>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Revenue climbs steadily from 6am, peaks around 10am (R88,673), then steps down through the day.</a:t>
            </a:r>
            <a:endParaRPr lang="en-US" sz="1150" dirty="0"/>
          </a:p>
          <a:p>
            <a:pPr marL="342900" indent="-342900">
              <a:spcAft>
                <a:spcPts val="1200"/>
              </a:spcAft>
              <a:buSzPct val="100000"/>
              <a:buChar char="•"/>
            </a:pPr>
            <a:r>
              <a:rPr lang="en-US" sz="1150" dirty="0">
                <a:solidFill>
                  <a:srgbClr val="4A2C1A"/>
                </a:solidFill>
                <a:latin typeface="Calibri" pitchFamily="34" charset="0"/>
                <a:ea typeface="Calibri" pitchFamily="34" charset="-122"/>
                <a:cs typeface="Calibri" pitchFamily="34" charset="-120"/>
              </a:rPr>
              <a:t>Evening and Night combined contribute just 21% of revenue — the clearest opportunity for promotions.</a:t>
            </a:r>
            <a:endParaRPr lang="en-US" sz="1150" dirty="0"/>
          </a:p>
        </p:txBody>
      </p:sp>
      <p:sp>
        <p:nvSpPr>
          <p:cNvPr id="13" name="Text 7"/>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14" name="Text 8"/>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calendar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WHEN WE SELL · 2 OF 3</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Weekday vs Weekend Performance</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sp>
        <p:nvSpPr>
          <p:cNvPr id="8" name="Shape 4"/>
          <p:cNvSpPr/>
          <p:nvPr/>
        </p:nvSpPr>
        <p:spPr>
          <a:xfrm>
            <a:off x="777240" y="1463040"/>
            <a:ext cx="5074920" cy="1874520"/>
          </a:xfrm>
          <a:prstGeom prst="roundRect">
            <a:avLst>
              <a:gd name="adj" fmla="val 4878"/>
            </a:avLst>
          </a:prstGeom>
          <a:solidFill>
            <a:srgbClr val="F2E6D8"/>
          </a:solidFill>
          <a:ln/>
          <a:effectLst>
            <a:outerShdw blurRad="88900" dist="38100" dir="2700000" algn="bl" rotWithShape="0">
              <a:srgbClr val="2E1A0F">
                <a:alpha val="18000"/>
              </a:srgbClr>
            </a:outerShdw>
          </a:effectLst>
        </p:spPr>
      </p:sp>
      <p:sp>
        <p:nvSpPr>
          <p:cNvPr id="9" name="Text 5"/>
          <p:cNvSpPr/>
          <p:nvPr/>
        </p:nvSpPr>
        <p:spPr>
          <a:xfrm>
            <a:off x="1051560" y="1627632"/>
            <a:ext cx="4114800" cy="274320"/>
          </a:xfrm>
          <a:prstGeom prst="rect">
            <a:avLst/>
          </a:prstGeom>
          <a:noFill/>
          <a:ln/>
        </p:spPr>
        <p:txBody>
          <a:bodyPr wrap="square" lIns="0" tIns="0" rIns="0" bIns="0" rtlCol="0" anchor="ctr"/>
          <a:lstStyle/>
          <a:p>
            <a:pPr marL="0" indent="0">
              <a:buNone/>
            </a:pPr>
            <a:r>
              <a:rPr lang="en-US" sz="1200" b="1" kern="0" spc="150" dirty="0">
                <a:solidFill>
                  <a:srgbClr val="C17817"/>
                </a:solidFill>
                <a:latin typeface="Calibri" pitchFamily="34" charset="0"/>
                <a:ea typeface="Calibri" pitchFamily="34" charset="-122"/>
                <a:cs typeface="Calibri" pitchFamily="34" charset="-120"/>
              </a:rPr>
              <a:t>WEEKDAY</a:t>
            </a:r>
            <a:endParaRPr lang="en-US" sz="1200" dirty="0"/>
          </a:p>
        </p:txBody>
      </p:sp>
      <p:sp>
        <p:nvSpPr>
          <p:cNvPr id="10" name="Text 6"/>
          <p:cNvSpPr/>
          <p:nvPr/>
        </p:nvSpPr>
        <p:spPr>
          <a:xfrm>
            <a:off x="1051560" y="1874520"/>
            <a:ext cx="4114800" cy="594360"/>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R503,588</a:t>
            </a:r>
            <a:endParaRPr lang="en-US" sz="3000" dirty="0"/>
          </a:p>
        </p:txBody>
      </p:sp>
      <p:sp>
        <p:nvSpPr>
          <p:cNvPr id="11" name="Text 7"/>
          <p:cNvSpPr/>
          <p:nvPr/>
        </p:nvSpPr>
        <p:spPr>
          <a:xfrm>
            <a:off x="1051560" y="2468880"/>
            <a:ext cx="4114800" cy="292608"/>
          </a:xfrm>
          <a:prstGeom prst="rect">
            <a:avLst/>
          </a:prstGeom>
          <a:noFill/>
          <a:ln/>
        </p:spPr>
        <p:txBody>
          <a:bodyPr wrap="square" lIns="0" tIns="0" rIns="0" bIns="0" rtlCol="0" anchor="ctr"/>
          <a:lstStyle/>
          <a:p>
            <a:pPr marL="0" indent="0">
              <a:buNone/>
            </a:pPr>
            <a:r>
              <a:rPr lang="en-US" sz="1150" dirty="0">
                <a:solidFill>
                  <a:srgbClr val="8A6A52"/>
                </a:solidFill>
                <a:latin typeface="Calibri" pitchFamily="34" charset="0"/>
                <a:ea typeface="Calibri" pitchFamily="34" charset="-122"/>
                <a:cs typeface="Calibri" pitchFamily="34" charset="-120"/>
              </a:rPr>
              <a:t>72.06% of revenue · 5 trading days</a:t>
            </a:r>
            <a:endParaRPr lang="en-US" sz="1150" dirty="0"/>
          </a:p>
        </p:txBody>
      </p:sp>
      <p:sp>
        <p:nvSpPr>
          <p:cNvPr id="12" name="Text 8"/>
          <p:cNvSpPr/>
          <p:nvPr/>
        </p:nvSpPr>
        <p:spPr>
          <a:xfrm>
            <a:off x="1051560" y="2761488"/>
            <a:ext cx="4114800" cy="292608"/>
          </a:xfrm>
          <a:prstGeom prst="rect">
            <a:avLst/>
          </a:prstGeom>
          <a:noFill/>
          <a:ln/>
        </p:spPr>
        <p:txBody>
          <a:bodyPr wrap="square" lIns="0" tIns="0" rIns="0" bIns="0" rtlCol="0" anchor="ctr"/>
          <a:lstStyle/>
          <a:p>
            <a:pPr marL="0" indent="0">
              <a:buNone/>
            </a:pPr>
            <a:r>
              <a:rPr lang="en-US" sz="1300" b="1" i="1" dirty="0">
                <a:solidFill>
                  <a:srgbClr val="C17817"/>
                </a:solidFill>
                <a:latin typeface="Calibri" pitchFamily="34" charset="0"/>
                <a:ea typeface="Calibri" pitchFamily="34" charset="-122"/>
                <a:cs typeface="Calibri" pitchFamily="34" charset="-120"/>
              </a:rPr>
              <a:t>R100,718 / day</a:t>
            </a:r>
            <a:endParaRPr lang="en-US" sz="1300" dirty="0"/>
          </a:p>
        </p:txBody>
      </p:sp>
      <p:sp>
        <p:nvSpPr>
          <p:cNvPr id="13" name="Shape 9"/>
          <p:cNvSpPr/>
          <p:nvPr/>
        </p:nvSpPr>
        <p:spPr>
          <a:xfrm>
            <a:off x="6126480" y="1463040"/>
            <a:ext cx="5074920" cy="1874520"/>
          </a:xfrm>
          <a:prstGeom prst="roundRect">
            <a:avLst>
              <a:gd name="adj" fmla="val 4878"/>
            </a:avLst>
          </a:prstGeom>
          <a:solidFill>
            <a:srgbClr val="F2E6D8"/>
          </a:solidFill>
          <a:ln/>
          <a:effectLst>
            <a:outerShdw blurRad="88900" dist="38100" dir="2700000" algn="bl" rotWithShape="0">
              <a:srgbClr val="2E1A0F">
                <a:alpha val="18000"/>
              </a:srgbClr>
            </a:outerShdw>
          </a:effectLst>
        </p:spPr>
      </p:sp>
      <p:sp>
        <p:nvSpPr>
          <p:cNvPr id="14" name="Text 10"/>
          <p:cNvSpPr/>
          <p:nvPr/>
        </p:nvSpPr>
        <p:spPr>
          <a:xfrm>
            <a:off x="6400800" y="1627632"/>
            <a:ext cx="4114800" cy="274320"/>
          </a:xfrm>
          <a:prstGeom prst="rect">
            <a:avLst/>
          </a:prstGeom>
          <a:noFill/>
          <a:ln/>
        </p:spPr>
        <p:txBody>
          <a:bodyPr wrap="square" lIns="0" tIns="0" rIns="0" bIns="0" rtlCol="0" anchor="ctr"/>
          <a:lstStyle/>
          <a:p>
            <a:pPr marL="0" indent="0">
              <a:buNone/>
            </a:pPr>
            <a:r>
              <a:rPr lang="en-US" sz="1200" b="1" kern="0" spc="150" dirty="0">
                <a:solidFill>
                  <a:srgbClr val="B5651D"/>
                </a:solidFill>
                <a:latin typeface="Calibri" pitchFamily="34" charset="0"/>
                <a:ea typeface="Calibri" pitchFamily="34" charset="-122"/>
                <a:cs typeface="Calibri" pitchFamily="34" charset="-120"/>
              </a:rPr>
              <a:t>WEEKEND</a:t>
            </a:r>
            <a:endParaRPr lang="en-US" sz="1200" dirty="0"/>
          </a:p>
        </p:txBody>
      </p:sp>
      <p:sp>
        <p:nvSpPr>
          <p:cNvPr id="15" name="Text 11"/>
          <p:cNvSpPr/>
          <p:nvPr/>
        </p:nvSpPr>
        <p:spPr>
          <a:xfrm>
            <a:off x="6400800" y="1874520"/>
            <a:ext cx="4114800" cy="594360"/>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R195,225</a:t>
            </a:r>
            <a:endParaRPr lang="en-US" sz="3000" dirty="0"/>
          </a:p>
        </p:txBody>
      </p:sp>
      <p:sp>
        <p:nvSpPr>
          <p:cNvPr id="16" name="Text 12"/>
          <p:cNvSpPr/>
          <p:nvPr/>
        </p:nvSpPr>
        <p:spPr>
          <a:xfrm>
            <a:off x="6400800" y="2468880"/>
            <a:ext cx="4114800" cy="292608"/>
          </a:xfrm>
          <a:prstGeom prst="rect">
            <a:avLst/>
          </a:prstGeom>
          <a:noFill/>
          <a:ln/>
        </p:spPr>
        <p:txBody>
          <a:bodyPr wrap="square" lIns="0" tIns="0" rIns="0" bIns="0" rtlCol="0" anchor="ctr"/>
          <a:lstStyle/>
          <a:p>
            <a:pPr marL="0" indent="0">
              <a:buNone/>
            </a:pPr>
            <a:r>
              <a:rPr lang="en-US" sz="1150" dirty="0">
                <a:solidFill>
                  <a:srgbClr val="8A6A52"/>
                </a:solidFill>
                <a:latin typeface="Calibri" pitchFamily="34" charset="0"/>
                <a:ea typeface="Calibri" pitchFamily="34" charset="-122"/>
                <a:cs typeface="Calibri" pitchFamily="34" charset="-120"/>
              </a:rPr>
              <a:t>27.94% of revenue · 2 trading days</a:t>
            </a:r>
            <a:endParaRPr lang="en-US" sz="1150" dirty="0"/>
          </a:p>
        </p:txBody>
      </p:sp>
      <p:sp>
        <p:nvSpPr>
          <p:cNvPr id="17" name="Text 13"/>
          <p:cNvSpPr/>
          <p:nvPr/>
        </p:nvSpPr>
        <p:spPr>
          <a:xfrm>
            <a:off x="6400800" y="2761488"/>
            <a:ext cx="4114800" cy="292608"/>
          </a:xfrm>
          <a:prstGeom prst="rect">
            <a:avLst/>
          </a:prstGeom>
          <a:noFill/>
          <a:ln/>
        </p:spPr>
        <p:txBody>
          <a:bodyPr wrap="square" lIns="0" tIns="0" rIns="0" bIns="0" rtlCol="0" anchor="ctr"/>
          <a:lstStyle/>
          <a:p>
            <a:pPr marL="0" indent="0">
              <a:buNone/>
            </a:pPr>
            <a:r>
              <a:rPr lang="en-US" sz="1300" b="1" i="1" dirty="0">
                <a:solidFill>
                  <a:srgbClr val="B5651D"/>
                </a:solidFill>
                <a:latin typeface="Calibri" pitchFamily="34" charset="0"/>
                <a:ea typeface="Calibri" pitchFamily="34" charset="-122"/>
                <a:cs typeface="Calibri" pitchFamily="34" charset="-120"/>
              </a:rPr>
              <a:t>R97,612 / day</a:t>
            </a:r>
            <a:endParaRPr lang="en-US" sz="1300" dirty="0"/>
          </a:p>
        </p:txBody>
      </p:sp>
      <p:graphicFrame>
        <p:nvGraphicFramePr>
          <p:cNvPr id="18" name="Chart 0"/>
          <p:cNvGraphicFramePr/>
          <p:nvPr/>
        </p:nvGraphicFramePr>
        <p:xfrm>
          <a:off x="777240" y="3520440"/>
          <a:ext cx="10607040" cy="233172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 14"/>
          <p:cNvSpPr/>
          <p:nvPr/>
        </p:nvSpPr>
        <p:spPr>
          <a:xfrm>
            <a:off x="777240" y="5989320"/>
            <a:ext cx="10607040" cy="457200"/>
          </a:xfrm>
          <a:prstGeom prst="rect">
            <a:avLst/>
          </a:prstGeom>
          <a:noFill/>
          <a:ln/>
        </p:spPr>
        <p:txBody>
          <a:bodyPr wrap="square" lIns="0" tIns="0" rIns="0" bIns="0" rtlCol="0" anchor="t"/>
          <a:lstStyle/>
          <a:p>
            <a:pPr marL="0" indent="0">
              <a:buNone/>
            </a:pPr>
            <a:r>
              <a:rPr lang="en-US" sz="1050" i="1" dirty="0">
                <a:solidFill>
                  <a:srgbClr val="8A6A52"/>
                </a:solidFill>
                <a:latin typeface="Calibri" pitchFamily="34" charset="0"/>
                <a:ea typeface="Calibri" pitchFamily="34" charset="-122"/>
                <a:cs typeface="Calibri" pitchFamily="34" charset="-120"/>
              </a:rPr>
              <a:t>Once normalised per day, weekday and weekend performance are almost identical (R100,718 vs R97,612) — demand is steady across the whole week, but is highest on Mondays and Fridays. </a:t>
            </a:r>
            <a:endParaRPr lang="en-US" sz="1050" dirty="0"/>
          </a:p>
        </p:txBody>
      </p:sp>
      <p:sp>
        <p:nvSpPr>
          <p:cNvPr id="20" name="Text 15"/>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21" name="Text 16"/>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chartline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WHEN WE SELL · 3 OF 3</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Monthly Revenue Trend</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graphicFrame>
        <p:nvGraphicFramePr>
          <p:cNvPr id="8" name="Chart 0"/>
          <p:cNvGraphicFramePr/>
          <p:nvPr/>
        </p:nvGraphicFramePr>
        <p:xfrm>
          <a:off x="640080" y="1417320"/>
          <a:ext cx="7315200" cy="4572000"/>
        </p:xfrm>
        <a:graphic>
          <a:graphicData uri="http://schemas.openxmlformats.org/drawingml/2006/chart">
            <c:chart xmlns:c="http://schemas.openxmlformats.org/drawingml/2006/chart" xmlns:r="http://schemas.openxmlformats.org/officeDocument/2006/relationships" r:id="rId6"/>
          </a:graphicData>
        </a:graphic>
      </p:graphicFrame>
      <p:sp>
        <p:nvSpPr>
          <p:cNvPr id="9" name="Shape 4"/>
          <p:cNvSpPr/>
          <p:nvPr/>
        </p:nvSpPr>
        <p:spPr>
          <a:xfrm>
            <a:off x="8229600" y="1417320"/>
            <a:ext cx="3337560" cy="4572000"/>
          </a:xfrm>
          <a:prstGeom prst="roundRect">
            <a:avLst>
              <a:gd name="adj" fmla="val 2740"/>
            </a:avLst>
          </a:prstGeom>
          <a:solidFill>
            <a:srgbClr val="F2E6D8"/>
          </a:solidFill>
          <a:ln/>
          <a:effectLst>
            <a:outerShdw blurRad="88900" dist="38100" dir="2700000" algn="bl" rotWithShape="0">
              <a:srgbClr val="2E1A0F">
                <a:alpha val="18000"/>
              </a:srgbClr>
            </a:outerShdw>
          </a:effectLst>
        </p:spPr>
      </p:sp>
      <p:sp>
        <p:nvSpPr>
          <p:cNvPr id="10" name="Shape 5"/>
          <p:cNvSpPr/>
          <p:nvPr/>
        </p:nvSpPr>
        <p:spPr>
          <a:xfrm>
            <a:off x="8458200" y="1600200"/>
            <a:ext cx="457200" cy="457200"/>
          </a:xfrm>
          <a:prstGeom prst="ellipse">
            <a:avLst/>
          </a:prstGeom>
          <a:solidFill>
            <a:srgbClr val="5C7A4E"/>
          </a:solidFill>
          <a:ln/>
        </p:spPr>
      </p:sp>
      <p:pic>
        <p:nvPicPr>
          <p:cNvPr id="11" name="Image 2" descr="/home/claude/coffee_deck/icons/arrowup_white.png"/>
          <p:cNvPicPr>
            <a:picLocks noChangeAspect="1"/>
          </p:cNvPicPr>
          <p:nvPr/>
        </p:nvPicPr>
        <p:blipFill>
          <a:blip r:embed="rId7"/>
          <a:stretch>
            <a:fillRect/>
          </a:stretch>
        </p:blipFill>
        <p:spPr>
          <a:xfrm>
            <a:off x="8577072" y="1719072"/>
            <a:ext cx="219456" cy="219456"/>
          </a:xfrm>
          <a:prstGeom prst="rect">
            <a:avLst/>
          </a:prstGeom>
        </p:spPr>
      </p:pic>
      <p:sp>
        <p:nvSpPr>
          <p:cNvPr id="12" name="Text 6"/>
          <p:cNvSpPr/>
          <p:nvPr/>
        </p:nvSpPr>
        <p:spPr>
          <a:xfrm>
            <a:off x="9052560" y="1572768"/>
            <a:ext cx="2377440" cy="502920"/>
          </a:xfrm>
          <a:prstGeom prst="rect">
            <a:avLst/>
          </a:prstGeom>
          <a:noFill/>
          <a:ln/>
        </p:spPr>
        <p:txBody>
          <a:bodyPr wrap="square" lIns="0" tIns="0" rIns="0" bIns="0" rtlCol="0" anchor="ctr"/>
          <a:lstStyle/>
          <a:p>
            <a:pPr marL="0" indent="0">
              <a:buNone/>
            </a:pPr>
            <a:r>
              <a:rPr lang="en-US" sz="2600" b="1" dirty="0">
                <a:solidFill>
                  <a:srgbClr val="5C7A4E"/>
                </a:solidFill>
                <a:latin typeface="Cambria" pitchFamily="34" charset="0"/>
                <a:ea typeface="Cambria" pitchFamily="34" charset="-122"/>
                <a:cs typeface="Cambria" pitchFamily="34" charset="-120"/>
              </a:rPr>
              <a:t>+104%</a:t>
            </a:r>
            <a:endParaRPr lang="en-US" sz="2600" dirty="0"/>
          </a:p>
        </p:txBody>
      </p:sp>
      <p:sp>
        <p:nvSpPr>
          <p:cNvPr id="13" name="Text 7"/>
          <p:cNvSpPr/>
          <p:nvPr/>
        </p:nvSpPr>
        <p:spPr>
          <a:xfrm>
            <a:off x="8458200" y="2103120"/>
            <a:ext cx="2880360" cy="411480"/>
          </a:xfrm>
          <a:prstGeom prst="rect">
            <a:avLst/>
          </a:prstGeom>
          <a:noFill/>
          <a:ln/>
        </p:spPr>
        <p:txBody>
          <a:bodyPr wrap="square" lIns="0" tIns="0" rIns="0" bIns="0" rtlCol="0" anchor="ctr"/>
          <a:lstStyle/>
          <a:p>
            <a:pPr marL="0" indent="0">
              <a:buNone/>
            </a:pPr>
            <a:r>
              <a:rPr lang="en-US" sz="1100" i="1" dirty="0">
                <a:solidFill>
                  <a:srgbClr val="8A6A52"/>
                </a:solidFill>
                <a:latin typeface="Calibri" pitchFamily="34" charset="0"/>
                <a:ea typeface="Calibri" pitchFamily="34" charset="-122"/>
                <a:cs typeface="Calibri" pitchFamily="34" charset="-120"/>
              </a:rPr>
              <a:t>Revenue growth, Jan → Jun</a:t>
            </a:r>
            <a:endParaRPr lang="en-US" sz="1100" dirty="0"/>
          </a:p>
        </p:txBody>
      </p:sp>
      <p:sp>
        <p:nvSpPr>
          <p:cNvPr id="14" name="Text 8"/>
          <p:cNvSpPr/>
          <p:nvPr/>
        </p:nvSpPr>
        <p:spPr>
          <a:xfrm>
            <a:off x="8458200" y="2697480"/>
            <a:ext cx="2880360" cy="310896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4A2C1A"/>
                </a:solidFill>
                <a:latin typeface="Calibri" pitchFamily="34" charset="0"/>
                <a:ea typeface="Calibri" pitchFamily="34" charset="-122"/>
                <a:cs typeface="Calibri" pitchFamily="34" charset="-120"/>
              </a:rPr>
              <a:t>Revenue more than doubled across the period — from R81,678 in January to R166,486 in June.</a:t>
            </a:r>
            <a:endParaRPr lang="en-US" sz="1100" dirty="0"/>
          </a:p>
          <a:p>
            <a:pPr marL="342900" indent="-342900">
              <a:spcAft>
                <a:spcPts val="1000"/>
              </a:spcAft>
              <a:buSzPct val="100000"/>
              <a:buChar char="•"/>
            </a:pPr>
            <a:r>
              <a:rPr lang="en-US" sz="1100" dirty="0">
                <a:solidFill>
                  <a:srgbClr val="4A2C1A"/>
                </a:solidFill>
                <a:latin typeface="Calibri" pitchFamily="34" charset="0"/>
                <a:ea typeface="Calibri" pitchFamily="34" charset="-122"/>
                <a:cs typeface="Calibri" pitchFamily="34" charset="-120"/>
              </a:rPr>
              <a:t>A dip in February is followed by uninterrupted month-on-month growth from March onward.</a:t>
            </a:r>
            <a:endParaRPr lang="en-US" sz="1100" dirty="0"/>
          </a:p>
          <a:p>
            <a:pPr marL="342900" indent="-342900">
              <a:spcAft>
                <a:spcPts val="1000"/>
              </a:spcAft>
              <a:buSzPct val="100000"/>
              <a:buChar char="•"/>
            </a:pPr>
            <a:r>
              <a:rPr lang="en-US" sz="1100" dirty="0">
                <a:solidFill>
                  <a:srgbClr val="4A2C1A"/>
                </a:solidFill>
                <a:latin typeface="Calibri" pitchFamily="34" charset="0"/>
                <a:ea typeface="Calibri" pitchFamily="34" charset="-122"/>
                <a:cs typeface="Calibri" pitchFamily="34" charset="-120"/>
              </a:rPr>
              <a:t>If the trend holds, the second half of the year should outperform the first comfortably.</a:t>
            </a:r>
            <a:endParaRPr lang="en-US" sz="1100" dirty="0"/>
          </a:p>
        </p:txBody>
      </p:sp>
      <p:sp>
        <p:nvSpPr>
          <p:cNvPr id="15" name="Text 9"/>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16" name="Text 10"/>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17817"/>
          </a:solidFill>
          <a:ln/>
        </p:spPr>
      </p:sp>
      <p:pic>
        <p:nvPicPr>
          <p:cNvPr id="3" name="Image 0" descr="/home/claude/coffee_deck/icons/basket_white.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CUSTOMER BEHAVIOUR · 1 OF 2</a:t>
            </a:r>
            <a:endParaRPr lang="en-US" sz="1250" dirty="0"/>
          </a:p>
        </p:txBody>
      </p:sp>
      <p:sp>
        <p:nvSpPr>
          <p:cNvPr id="5" name="Text 2"/>
          <p:cNvSpPr/>
          <p:nvPr/>
        </p:nvSpPr>
        <p:spPr>
          <a:xfrm>
            <a:off x="1216152" y="713232"/>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Basket Size &amp; Purchase Behaviour</a:t>
            </a:r>
            <a:endParaRPr lang="en-US" sz="3000" dirty="0"/>
          </a:p>
        </p:txBody>
      </p:sp>
      <p:sp>
        <p:nvSpPr>
          <p:cNvPr id="6" name="Shape 3">
            <a:hlinkClick r:id="rId4" action="ppaction://hlinksldjump" tooltip="Back to Agenda"/>
          </p:cNvPr>
          <p:cNvSpPr/>
          <p:nvPr/>
        </p:nvSpPr>
        <p:spPr>
          <a:xfrm>
            <a:off x="11384280" y="411480"/>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4" action="ppaction://hlinksldjump" tooltip="Back to Agenda"/>
          </p:cNvPr>
          <p:cNvPicPr>
            <a:picLocks noChangeAspect="1"/>
          </p:cNvPicPr>
          <p:nvPr/>
        </p:nvPicPr>
        <p:blipFill>
          <a:blip r:embed="rId5"/>
          <a:stretch>
            <a:fillRect/>
          </a:stretch>
        </p:blipFill>
        <p:spPr>
          <a:xfrm>
            <a:off x="11484864" y="512064"/>
            <a:ext cx="182880" cy="182880"/>
          </a:xfrm>
          <a:prstGeom prst="rect">
            <a:avLst/>
          </a:prstGeom>
        </p:spPr>
      </p:pic>
      <p:sp>
        <p:nvSpPr>
          <p:cNvPr id="8" name="Text 4"/>
          <p:cNvSpPr/>
          <p:nvPr/>
        </p:nvSpPr>
        <p:spPr>
          <a:xfrm>
            <a:off x="777240" y="1417320"/>
            <a:ext cx="5120640" cy="32004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Items per transaction</a:t>
            </a:r>
            <a:endParaRPr lang="en-US" sz="1400" dirty="0"/>
          </a:p>
        </p:txBody>
      </p:sp>
      <p:graphicFrame>
        <p:nvGraphicFramePr>
          <p:cNvPr id="9" name="Chart 0"/>
          <p:cNvGraphicFramePr/>
          <p:nvPr/>
        </p:nvGraphicFramePr>
        <p:xfrm>
          <a:off x="640080" y="1783080"/>
          <a:ext cx="5349240" cy="2286000"/>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 5"/>
          <p:cNvSpPr/>
          <p:nvPr/>
        </p:nvSpPr>
        <p:spPr>
          <a:xfrm>
            <a:off x="6263640" y="1417320"/>
            <a:ext cx="5120640" cy="32004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Revenue by basket value</a:t>
            </a:r>
            <a:endParaRPr lang="en-US" sz="1400" dirty="0"/>
          </a:p>
        </p:txBody>
      </p:sp>
      <p:graphicFrame>
        <p:nvGraphicFramePr>
          <p:cNvPr id="11" name="Chart 1"/>
          <p:cNvGraphicFramePr/>
          <p:nvPr>
            <p:extLst>
              <p:ext uri="{D42A27DB-BD31-4B8C-83A1-F6EECF244321}">
                <p14:modId xmlns:p14="http://schemas.microsoft.com/office/powerpoint/2010/main" val="746979677"/>
              </p:ext>
            </p:extLst>
          </p:nvPr>
        </p:nvGraphicFramePr>
        <p:xfrm>
          <a:off x="6126480" y="1783080"/>
          <a:ext cx="5349240" cy="2286000"/>
        </p:xfrm>
        <a:graphic>
          <a:graphicData uri="http://schemas.openxmlformats.org/drawingml/2006/chart">
            <c:chart xmlns:c="http://schemas.openxmlformats.org/drawingml/2006/chart" xmlns:r="http://schemas.openxmlformats.org/officeDocument/2006/relationships" r:id="rId7"/>
          </a:graphicData>
        </a:graphic>
      </p:graphicFrame>
      <p:sp>
        <p:nvSpPr>
          <p:cNvPr id="12" name="Shape 6"/>
          <p:cNvSpPr/>
          <p:nvPr/>
        </p:nvSpPr>
        <p:spPr>
          <a:xfrm>
            <a:off x="777240" y="4343400"/>
            <a:ext cx="10607040" cy="1783080"/>
          </a:xfrm>
          <a:prstGeom prst="roundRect">
            <a:avLst>
              <a:gd name="adj" fmla="val 5128"/>
            </a:avLst>
          </a:prstGeom>
          <a:solidFill>
            <a:srgbClr val="F2E6D8"/>
          </a:solidFill>
          <a:ln/>
          <a:effectLst>
            <a:outerShdw blurRad="88900" dist="38100" dir="2700000" algn="bl" rotWithShape="0">
              <a:srgbClr val="2E1A0F">
                <a:alpha val="18000"/>
              </a:srgbClr>
            </a:outerShdw>
          </a:effectLst>
        </p:spPr>
      </p:sp>
      <p:sp>
        <p:nvSpPr>
          <p:cNvPr id="13" name="Shape 7"/>
          <p:cNvSpPr/>
          <p:nvPr/>
        </p:nvSpPr>
        <p:spPr>
          <a:xfrm>
            <a:off x="1005840" y="4544568"/>
            <a:ext cx="457200" cy="457200"/>
          </a:xfrm>
          <a:prstGeom prst="ellipse">
            <a:avLst/>
          </a:prstGeom>
          <a:solidFill>
            <a:srgbClr val="C17817"/>
          </a:solidFill>
          <a:ln/>
        </p:spPr>
      </p:sp>
      <p:pic>
        <p:nvPicPr>
          <p:cNvPr id="14" name="Image 2" descr="/home/claude/coffee_deck/icons/bulb_white.png"/>
          <p:cNvPicPr>
            <a:picLocks noChangeAspect="1"/>
          </p:cNvPicPr>
          <p:nvPr/>
        </p:nvPicPr>
        <p:blipFill>
          <a:blip r:embed="rId8"/>
          <a:stretch>
            <a:fillRect/>
          </a:stretch>
        </p:blipFill>
        <p:spPr>
          <a:xfrm>
            <a:off x="1124712" y="4663440"/>
            <a:ext cx="219456" cy="219456"/>
          </a:xfrm>
          <a:prstGeom prst="rect">
            <a:avLst/>
          </a:prstGeom>
        </p:spPr>
      </p:pic>
      <p:sp>
        <p:nvSpPr>
          <p:cNvPr id="15" name="Text 8"/>
          <p:cNvSpPr/>
          <p:nvPr/>
        </p:nvSpPr>
        <p:spPr>
          <a:xfrm>
            <a:off x="1600200" y="4526280"/>
            <a:ext cx="3657600" cy="365760"/>
          </a:xfrm>
          <a:prstGeom prst="rect">
            <a:avLst/>
          </a:prstGeom>
          <a:noFill/>
          <a:ln/>
        </p:spPr>
        <p:txBody>
          <a:bodyPr wrap="square" lIns="0" tIns="0" rIns="0" bIns="0" rtlCol="0" anchor="ctr"/>
          <a:lstStyle/>
          <a:p>
            <a:pPr marL="0" indent="0">
              <a:buNone/>
            </a:pPr>
            <a:r>
              <a:rPr lang="en-US" sz="1400" b="1" dirty="0">
                <a:solidFill>
                  <a:srgbClr val="4A2C1A"/>
                </a:solidFill>
                <a:latin typeface="Calibri" pitchFamily="34" charset="0"/>
                <a:ea typeface="Calibri" pitchFamily="34" charset="-122"/>
                <a:cs typeface="Calibri" pitchFamily="34" charset="-120"/>
              </a:rPr>
              <a:t>The opportunity</a:t>
            </a:r>
            <a:endParaRPr lang="en-US" sz="1400" dirty="0"/>
          </a:p>
        </p:txBody>
      </p:sp>
      <p:sp>
        <p:nvSpPr>
          <p:cNvPr id="16" name="Text 9"/>
          <p:cNvSpPr/>
          <p:nvPr/>
        </p:nvSpPr>
        <p:spPr>
          <a:xfrm>
            <a:off x="1600200" y="4937760"/>
            <a:ext cx="9509760" cy="1143000"/>
          </a:xfrm>
          <a:prstGeom prst="rect">
            <a:avLst/>
          </a:prstGeom>
          <a:noFill/>
          <a:ln/>
        </p:spPr>
        <p:txBody>
          <a:bodyPr wrap="square" lIns="0" tIns="0" rIns="0" bIns="0" rtlCol="0" anchor="t"/>
          <a:lstStyle/>
          <a:p>
            <a:pPr marL="0" indent="0">
              <a:lnSpc>
                <a:spcPct val="120000"/>
              </a:lnSpc>
              <a:buNone/>
            </a:pPr>
            <a:r>
              <a:rPr lang="en-US" sz="1250" dirty="0">
                <a:solidFill>
                  <a:srgbClr val="4A2C1A"/>
                </a:solidFill>
                <a:latin typeface="Calibri" pitchFamily="34" charset="0"/>
                <a:ea typeface="Calibri" pitchFamily="34" charset="-122"/>
                <a:cs typeface="Calibri" pitchFamily="34" charset="-120"/>
              </a:rPr>
              <a:t>Nearly 6 in 10 transactions (58.4%) involve just a single item, and the R3–R5 band alone accounts for over a third of total revenue. Encouraging customers to add a second item — a pastry with their coffee, for example — is one of the most direct levers available to lift average transaction value above the current R4.69.</a:t>
            </a:r>
            <a:endParaRPr lang="en-US" sz="1250" dirty="0"/>
          </a:p>
        </p:txBody>
      </p:sp>
      <p:sp>
        <p:nvSpPr>
          <p:cNvPr id="17" name="Text 10"/>
          <p:cNvSpPr/>
          <p:nvPr/>
        </p:nvSpPr>
        <p:spPr>
          <a:xfrm>
            <a:off x="502920" y="6510528"/>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18" name="Text 11"/>
          <p:cNvSpPr/>
          <p:nvPr/>
        </p:nvSpPr>
        <p:spPr>
          <a:xfrm>
            <a:off x="11064240" y="6510528"/>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C7E3286-B0B4-FDC8-6CA6-27364616F7B4}"/>
              </a:ext>
            </a:extLst>
          </p:cNvPr>
          <p:cNvSpPr/>
          <p:nvPr/>
        </p:nvSpPr>
        <p:spPr>
          <a:xfrm>
            <a:off x="429768" y="301752"/>
            <a:ext cx="566928" cy="566928"/>
          </a:xfrm>
          <a:prstGeom prst="ellipse">
            <a:avLst/>
          </a:prstGeom>
          <a:solidFill>
            <a:srgbClr val="C17817"/>
          </a:solidFill>
          <a:ln/>
        </p:spPr>
      </p:sp>
      <p:pic>
        <p:nvPicPr>
          <p:cNvPr id="3" name="Image 0" descr="/home/claude/coffee_deck/icons/users_white.png">
            <a:extLst>
              <a:ext uri="{FF2B5EF4-FFF2-40B4-BE49-F238E27FC236}">
                <a16:creationId xmlns:a16="http://schemas.microsoft.com/office/drawing/2014/main" id="{D2C0FE10-2AFE-4890-1E57-44549BBB7B57}"/>
              </a:ext>
            </a:extLst>
          </p:cNvPr>
          <p:cNvPicPr>
            <a:picLocks noChangeAspect="1"/>
          </p:cNvPicPr>
          <p:nvPr/>
        </p:nvPicPr>
        <p:blipFill>
          <a:blip r:embed="rId2"/>
          <a:stretch>
            <a:fillRect/>
          </a:stretch>
        </p:blipFill>
        <p:spPr>
          <a:xfrm>
            <a:off x="576072" y="448056"/>
            <a:ext cx="274320" cy="274320"/>
          </a:xfrm>
          <a:prstGeom prst="rect">
            <a:avLst/>
          </a:prstGeom>
        </p:spPr>
      </p:pic>
      <p:sp>
        <p:nvSpPr>
          <p:cNvPr id="5" name="Text 2">
            <a:extLst>
              <a:ext uri="{FF2B5EF4-FFF2-40B4-BE49-F238E27FC236}">
                <a16:creationId xmlns:a16="http://schemas.microsoft.com/office/drawing/2014/main" id="{9D312EF8-2DC1-38FA-B86E-D1FC35411DF7}"/>
              </a:ext>
            </a:extLst>
          </p:cNvPr>
          <p:cNvSpPr/>
          <p:nvPr/>
        </p:nvSpPr>
        <p:spPr>
          <a:xfrm>
            <a:off x="1143000" y="557784"/>
            <a:ext cx="9601200" cy="566928"/>
          </a:xfrm>
          <a:prstGeom prst="rect">
            <a:avLst/>
          </a:prstGeom>
          <a:noFill/>
          <a:ln/>
        </p:spPr>
        <p:txBody>
          <a:bodyPr wrap="square" lIns="0" tIns="0" rIns="0" bIns="0" rtlCol="0" anchor="ctr"/>
          <a:lstStyle/>
          <a:p>
            <a:pPr marL="0" indent="0">
              <a:buNone/>
            </a:pPr>
            <a:r>
              <a:rPr lang="en-US" sz="3000" b="1" dirty="0">
                <a:solidFill>
                  <a:srgbClr val="4A2C1A"/>
                </a:solidFill>
                <a:latin typeface="Cambria" pitchFamily="34" charset="0"/>
                <a:ea typeface="Cambria" pitchFamily="34" charset="-122"/>
                <a:cs typeface="Cambria" pitchFamily="34" charset="-120"/>
              </a:rPr>
              <a:t>Spend Segments: Where They Shop &amp; What They Buy</a:t>
            </a:r>
            <a:endParaRPr lang="en-US" sz="3000" dirty="0"/>
          </a:p>
        </p:txBody>
      </p:sp>
      <p:sp>
        <p:nvSpPr>
          <p:cNvPr id="6" name="Shape 3">
            <a:hlinkClick r:id="rId3" action="ppaction://hlinksldjump" tooltip="Back to Agenda"/>
            <a:extLst>
              <a:ext uri="{FF2B5EF4-FFF2-40B4-BE49-F238E27FC236}">
                <a16:creationId xmlns:a16="http://schemas.microsoft.com/office/drawing/2014/main" id="{333301D7-6B9E-1714-72A4-4C7CCBFC2BF5}"/>
              </a:ext>
            </a:extLst>
          </p:cNvPr>
          <p:cNvSpPr/>
          <p:nvPr/>
        </p:nvSpPr>
        <p:spPr>
          <a:xfrm>
            <a:off x="11311128" y="256032"/>
            <a:ext cx="384048" cy="384048"/>
          </a:xfrm>
          <a:prstGeom prst="ellipse">
            <a:avLst/>
          </a:prstGeom>
          <a:solidFill>
            <a:srgbClr val="F2E6D8"/>
          </a:solidFill>
          <a:ln w="12700">
            <a:solidFill>
              <a:srgbClr val="E7DCCB"/>
            </a:solidFill>
            <a:prstDash val="solid"/>
          </a:ln>
        </p:spPr>
      </p:sp>
      <p:pic>
        <p:nvPicPr>
          <p:cNvPr id="7" name="Image 1" descr="/home/claude/coffee_deck/icons/home_brown.png">
            <a:hlinkClick r:id="rId3" action="ppaction://hlinksldjump" tooltip="Back to Agenda"/>
            <a:extLst>
              <a:ext uri="{FF2B5EF4-FFF2-40B4-BE49-F238E27FC236}">
                <a16:creationId xmlns:a16="http://schemas.microsoft.com/office/drawing/2014/main" id="{AD8AEDDF-2220-5B4F-062E-FE677FC3473C}"/>
              </a:ext>
            </a:extLst>
          </p:cNvPr>
          <p:cNvPicPr>
            <a:picLocks noChangeAspect="1"/>
          </p:cNvPicPr>
          <p:nvPr/>
        </p:nvPicPr>
        <p:blipFill>
          <a:blip r:embed="rId4"/>
          <a:stretch>
            <a:fillRect/>
          </a:stretch>
        </p:blipFill>
        <p:spPr>
          <a:xfrm>
            <a:off x="11411712" y="356616"/>
            <a:ext cx="182880" cy="182880"/>
          </a:xfrm>
          <a:prstGeom prst="rect">
            <a:avLst/>
          </a:prstGeom>
        </p:spPr>
      </p:pic>
      <p:sp>
        <p:nvSpPr>
          <p:cNvPr id="8" name="Shape 4">
            <a:extLst>
              <a:ext uri="{FF2B5EF4-FFF2-40B4-BE49-F238E27FC236}">
                <a16:creationId xmlns:a16="http://schemas.microsoft.com/office/drawing/2014/main" id="{73C43CFC-3376-0EA4-F548-532104C45DAF}"/>
              </a:ext>
            </a:extLst>
          </p:cNvPr>
          <p:cNvSpPr/>
          <p:nvPr/>
        </p:nvSpPr>
        <p:spPr>
          <a:xfrm>
            <a:off x="429768" y="1234440"/>
            <a:ext cx="3429000" cy="1170432"/>
          </a:xfrm>
          <a:prstGeom prst="roundRect">
            <a:avLst>
              <a:gd name="adj" fmla="val 7031"/>
            </a:avLst>
          </a:prstGeom>
          <a:solidFill>
            <a:srgbClr val="8B5A2B"/>
          </a:solidFill>
          <a:ln/>
          <a:effectLst>
            <a:outerShdw blurRad="88900" dist="38100" dir="2700000" algn="bl" rotWithShape="0">
              <a:srgbClr val="2E1A0F">
                <a:alpha val="18000"/>
              </a:srgbClr>
            </a:outerShdw>
          </a:effectLst>
        </p:spPr>
      </p:sp>
      <p:sp>
        <p:nvSpPr>
          <p:cNvPr id="9" name="Text 5">
            <a:extLst>
              <a:ext uri="{FF2B5EF4-FFF2-40B4-BE49-F238E27FC236}">
                <a16:creationId xmlns:a16="http://schemas.microsoft.com/office/drawing/2014/main" id="{73272118-A627-83C2-0142-68998BFB9836}"/>
              </a:ext>
            </a:extLst>
          </p:cNvPr>
          <p:cNvSpPr/>
          <p:nvPr/>
        </p:nvSpPr>
        <p:spPr>
          <a:xfrm>
            <a:off x="630936" y="1325880"/>
            <a:ext cx="3026664" cy="256032"/>
          </a:xfrm>
          <a:prstGeom prst="rect">
            <a:avLst/>
          </a:prstGeom>
          <a:noFill/>
          <a:ln/>
        </p:spPr>
        <p:txBody>
          <a:bodyPr wrap="square" lIns="0" tIns="0" rIns="0" bIns="0" rtlCol="0" anchor="ctr"/>
          <a:lstStyle/>
          <a:p>
            <a:pPr marL="0" indent="0">
              <a:buNone/>
            </a:pPr>
            <a:r>
              <a:rPr lang="en-US" sz="1100" b="1" kern="0" spc="150" dirty="0">
                <a:solidFill>
                  <a:srgbClr val="F7EFE3"/>
                </a:solidFill>
                <a:latin typeface="Calibri" pitchFamily="34" charset="0"/>
                <a:ea typeface="Calibri" pitchFamily="34" charset="-122"/>
                <a:cs typeface="Calibri" pitchFamily="34" charset="-120"/>
              </a:rPr>
              <a:t>LOW SPENDER</a:t>
            </a:r>
            <a:endParaRPr lang="en-US" sz="1100" dirty="0"/>
          </a:p>
        </p:txBody>
      </p:sp>
      <p:sp>
        <p:nvSpPr>
          <p:cNvPr id="10" name="Text 6">
            <a:extLst>
              <a:ext uri="{FF2B5EF4-FFF2-40B4-BE49-F238E27FC236}">
                <a16:creationId xmlns:a16="http://schemas.microsoft.com/office/drawing/2014/main" id="{459048E3-AF1C-51FB-CA86-EBC161ADA03F}"/>
              </a:ext>
            </a:extLst>
          </p:cNvPr>
          <p:cNvSpPr/>
          <p:nvPr/>
        </p:nvSpPr>
        <p:spPr>
          <a:xfrm>
            <a:off x="630936" y="1554480"/>
            <a:ext cx="14630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R4.66</a:t>
            </a:r>
            <a:endParaRPr lang="en-US" sz="2200" dirty="0"/>
          </a:p>
        </p:txBody>
      </p:sp>
      <p:sp>
        <p:nvSpPr>
          <p:cNvPr id="11" name="Text 7">
            <a:extLst>
              <a:ext uri="{FF2B5EF4-FFF2-40B4-BE49-F238E27FC236}">
                <a16:creationId xmlns:a16="http://schemas.microsoft.com/office/drawing/2014/main" id="{C488E712-805E-959A-318E-F005E0BC0155}"/>
              </a:ext>
            </a:extLst>
          </p:cNvPr>
          <p:cNvSpPr/>
          <p:nvPr/>
        </p:nvSpPr>
        <p:spPr>
          <a:xfrm>
            <a:off x="2121408" y="1627632"/>
            <a:ext cx="1508760" cy="347472"/>
          </a:xfrm>
          <a:prstGeom prst="rect">
            <a:avLst/>
          </a:prstGeom>
          <a:noFill/>
          <a:ln/>
        </p:spPr>
        <p:txBody>
          <a:bodyPr wrap="square" lIns="0" tIns="0" rIns="0" bIns="0" rtlCol="0" anchor="ctr"/>
          <a:lstStyle/>
          <a:p>
            <a:pPr marL="0" indent="0">
              <a:buNone/>
            </a:pPr>
            <a:r>
              <a:rPr lang="en-US" sz="900" i="1" dirty="0">
                <a:solidFill>
                  <a:srgbClr val="F7EFE3"/>
                </a:solidFill>
                <a:latin typeface="Calibri" pitchFamily="34" charset="0"/>
                <a:ea typeface="Calibri" pitchFamily="34" charset="-122"/>
                <a:cs typeface="Calibri" pitchFamily="34" charset="-120"/>
              </a:rPr>
              <a:t>avg per transaction</a:t>
            </a:r>
            <a:endParaRPr lang="en-US" sz="900" dirty="0"/>
          </a:p>
        </p:txBody>
      </p:sp>
      <p:sp>
        <p:nvSpPr>
          <p:cNvPr id="12" name="Text 8">
            <a:extLst>
              <a:ext uri="{FF2B5EF4-FFF2-40B4-BE49-F238E27FC236}">
                <a16:creationId xmlns:a16="http://schemas.microsoft.com/office/drawing/2014/main" id="{58EFCF4C-AA87-F492-9D4C-4B90D3EFD183}"/>
              </a:ext>
            </a:extLst>
          </p:cNvPr>
          <p:cNvSpPr/>
          <p:nvPr/>
        </p:nvSpPr>
        <p:spPr>
          <a:xfrm>
            <a:off x="630936" y="2011680"/>
            <a:ext cx="3026664" cy="320040"/>
          </a:xfrm>
          <a:prstGeom prst="rect">
            <a:avLst/>
          </a:prstGeom>
          <a:noFill/>
          <a:ln/>
        </p:spPr>
        <p:txBody>
          <a:bodyPr wrap="square" lIns="0" tIns="0" rIns="0" bIns="0" rtlCol="0" anchor="ctr"/>
          <a:lstStyle/>
          <a:p>
            <a:pPr marL="0" indent="0">
              <a:buNone/>
            </a:pPr>
            <a:r>
              <a:rPr lang="en-US" sz="950" i="1" dirty="0">
                <a:solidFill>
                  <a:srgbClr val="F7EFE3"/>
                </a:solidFill>
                <a:latin typeface="Calibri" pitchFamily="34" charset="0"/>
                <a:ea typeface="Calibri" pitchFamily="34" charset="-122"/>
                <a:cs typeface="Calibri" pitchFamily="34" charset="-120"/>
              </a:rPr>
              <a:t>Shops at all 3 stores · Buys coffee, tea &amp; bakery</a:t>
            </a:r>
            <a:endParaRPr lang="en-US" sz="950" dirty="0"/>
          </a:p>
        </p:txBody>
      </p:sp>
      <p:sp>
        <p:nvSpPr>
          <p:cNvPr id="13" name="Shape 9">
            <a:extLst>
              <a:ext uri="{FF2B5EF4-FFF2-40B4-BE49-F238E27FC236}">
                <a16:creationId xmlns:a16="http://schemas.microsoft.com/office/drawing/2014/main" id="{200B7B68-2D7A-321D-63D6-09938C73186C}"/>
              </a:ext>
            </a:extLst>
          </p:cNvPr>
          <p:cNvSpPr/>
          <p:nvPr/>
        </p:nvSpPr>
        <p:spPr>
          <a:xfrm>
            <a:off x="3200400" y="1307592"/>
            <a:ext cx="530352" cy="292608"/>
          </a:xfrm>
          <a:prstGeom prst="ellipse">
            <a:avLst/>
          </a:prstGeom>
          <a:solidFill>
            <a:srgbClr val="FFFFFF">
              <a:alpha val="20000"/>
            </a:srgbClr>
          </a:solidFill>
          <a:ln/>
        </p:spPr>
      </p:sp>
      <p:sp>
        <p:nvSpPr>
          <p:cNvPr id="14" name="Text 10">
            <a:extLst>
              <a:ext uri="{FF2B5EF4-FFF2-40B4-BE49-F238E27FC236}">
                <a16:creationId xmlns:a16="http://schemas.microsoft.com/office/drawing/2014/main" id="{5701664A-D443-9406-594F-63D955DCA5DF}"/>
              </a:ext>
            </a:extLst>
          </p:cNvPr>
          <p:cNvSpPr/>
          <p:nvPr/>
        </p:nvSpPr>
        <p:spPr>
          <a:xfrm>
            <a:off x="3182112" y="1316736"/>
            <a:ext cx="548640"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149,101 transactions</a:t>
            </a:r>
            <a:endParaRPr lang="en-US" sz="750" dirty="0"/>
          </a:p>
        </p:txBody>
      </p:sp>
      <p:sp>
        <p:nvSpPr>
          <p:cNvPr id="15" name="Shape 11">
            <a:extLst>
              <a:ext uri="{FF2B5EF4-FFF2-40B4-BE49-F238E27FC236}">
                <a16:creationId xmlns:a16="http://schemas.microsoft.com/office/drawing/2014/main" id="{131FB561-FD5B-D5FD-61FD-E9D7F88679D5}"/>
              </a:ext>
            </a:extLst>
          </p:cNvPr>
          <p:cNvSpPr/>
          <p:nvPr/>
        </p:nvSpPr>
        <p:spPr>
          <a:xfrm>
            <a:off x="4064508" y="1234440"/>
            <a:ext cx="3429000" cy="1170432"/>
          </a:xfrm>
          <a:prstGeom prst="roundRect">
            <a:avLst>
              <a:gd name="adj" fmla="val 7031"/>
            </a:avLst>
          </a:prstGeom>
          <a:solidFill>
            <a:srgbClr val="C17817"/>
          </a:solidFill>
          <a:ln/>
          <a:effectLst>
            <a:outerShdw blurRad="88900" dist="38100" dir="2700000" algn="bl" rotWithShape="0">
              <a:srgbClr val="2E1A0F">
                <a:alpha val="18000"/>
              </a:srgbClr>
            </a:outerShdw>
          </a:effectLst>
        </p:spPr>
      </p:sp>
      <p:sp>
        <p:nvSpPr>
          <p:cNvPr id="16" name="Text 12">
            <a:extLst>
              <a:ext uri="{FF2B5EF4-FFF2-40B4-BE49-F238E27FC236}">
                <a16:creationId xmlns:a16="http://schemas.microsoft.com/office/drawing/2014/main" id="{B32AADCF-5272-E93F-1BEC-B0139347F3B5}"/>
              </a:ext>
            </a:extLst>
          </p:cNvPr>
          <p:cNvSpPr/>
          <p:nvPr/>
        </p:nvSpPr>
        <p:spPr>
          <a:xfrm>
            <a:off x="4265676" y="1325880"/>
            <a:ext cx="3026664" cy="256032"/>
          </a:xfrm>
          <a:prstGeom prst="rect">
            <a:avLst/>
          </a:prstGeom>
          <a:noFill/>
          <a:ln/>
        </p:spPr>
        <p:txBody>
          <a:bodyPr wrap="square" lIns="0" tIns="0" rIns="0" bIns="0" rtlCol="0" anchor="ctr"/>
          <a:lstStyle/>
          <a:p>
            <a:pPr marL="0" indent="0">
              <a:buNone/>
            </a:pPr>
            <a:r>
              <a:rPr lang="en-US" sz="1100" b="1" kern="0" spc="150" dirty="0">
                <a:solidFill>
                  <a:srgbClr val="F7EFE3"/>
                </a:solidFill>
                <a:latin typeface="Calibri" pitchFamily="34" charset="0"/>
                <a:ea typeface="Calibri" pitchFamily="34" charset="-122"/>
                <a:cs typeface="Calibri" pitchFamily="34" charset="-120"/>
              </a:rPr>
              <a:t>MEDIUM SPENDER</a:t>
            </a:r>
            <a:endParaRPr lang="en-US" sz="1100" dirty="0"/>
          </a:p>
        </p:txBody>
      </p:sp>
      <p:sp>
        <p:nvSpPr>
          <p:cNvPr id="17" name="Text 13">
            <a:extLst>
              <a:ext uri="{FF2B5EF4-FFF2-40B4-BE49-F238E27FC236}">
                <a16:creationId xmlns:a16="http://schemas.microsoft.com/office/drawing/2014/main" id="{91F598C4-DA3D-5FCA-4563-2DECFDDD66F9}"/>
              </a:ext>
            </a:extLst>
          </p:cNvPr>
          <p:cNvSpPr/>
          <p:nvPr/>
        </p:nvSpPr>
        <p:spPr>
          <a:xfrm>
            <a:off x="4265676" y="1554480"/>
            <a:ext cx="14630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R65.60</a:t>
            </a:r>
            <a:endParaRPr lang="en-US" sz="2200" dirty="0"/>
          </a:p>
        </p:txBody>
      </p:sp>
      <p:sp>
        <p:nvSpPr>
          <p:cNvPr id="18" name="Text 14">
            <a:extLst>
              <a:ext uri="{FF2B5EF4-FFF2-40B4-BE49-F238E27FC236}">
                <a16:creationId xmlns:a16="http://schemas.microsoft.com/office/drawing/2014/main" id="{99BD35B8-1504-5314-CDE8-28AD0D5A9E06}"/>
              </a:ext>
            </a:extLst>
          </p:cNvPr>
          <p:cNvSpPr/>
          <p:nvPr/>
        </p:nvSpPr>
        <p:spPr>
          <a:xfrm>
            <a:off x="5756148" y="1627632"/>
            <a:ext cx="1508760" cy="347472"/>
          </a:xfrm>
          <a:prstGeom prst="rect">
            <a:avLst/>
          </a:prstGeom>
          <a:noFill/>
          <a:ln/>
        </p:spPr>
        <p:txBody>
          <a:bodyPr wrap="square" lIns="0" tIns="0" rIns="0" bIns="0" rtlCol="0" anchor="ctr"/>
          <a:lstStyle/>
          <a:p>
            <a:pPr marL="0" indent="0">
              <a:buNone/>
            </a:pPr>
            <a:r>
              <a:rPr lang="en-US" sz="900" i="1" dirty="0">
                <a:solidFill>
                  <a:srgbClr val="F7EFE3"/>
                </a:solidFill>
                <a:latin typeface="Calibri" pitchFamily="34" charset="0"/>
                <a:ea typeface="Calibri" pitchFamily="34" charset="-122"/>
                <a:cs typeface="Calibri" pitchFamily="34" charset="-120"/>
              </a:rPr>
              <a:t>avg per transaction</a:t>
            </a:r>
            <a:endParaRPr lang="en-US" sz="900" dirty="0"/>
          </a:p>
        </p:txBody>
      </p:sp>
      <p:sp>
        <p:nvSpPr>
          <p:cNvPr id="19" name="Text 15">
            <a:extLst>
              <a:ext uri="{FF2B5EF4-FFF2-40B4-BE49-F238E27FC236}">
                <a16:creationId xmlns:a16="http://schemas.microsoft.com/office/drawing/2014/main" id="{F06F989E-15AA-C49B-3829-6E5EFF7396A2}"/>
              </a:ext>
            </a:extLst>
          </p:cNvPr>
          <p:cNvSpPr/>
          <p:nvPr/>
        </p:nvSpPr>
        <p:spPr>
          <a:xfrm>
            <a:off x="4265676" y="2011680"/>
            <a:ext cx="3026664" cy="320040"/>
          </a:xfrm>
          <a:prstGeom prst="rect">
            <a:avLst/>
          </a:prstGeom>
          <a:noFill/>
          <a:ln/>
        </p:spPr>
        <p:txBody>
          <a:bodyPr wrap="square" lIns="0" tIns="0" rIns="0" bIns="0" rtlCol="0" anchor="ctr"/>
          <a:lstStyle/>
          <a:p>
            <a:pPr marL="0" indent="0">
              <a:buNone/>
            </a:pPr>
            <a:r>
              <a:rPr lang="en-US" sz="950" i="1" dirty="0">
                <a:solidFill>
                  <a:srgbClr val="F7EFE3"/>
                </a:solidFill>
                <a:latin typeface="Calibri" pitchFamily="34" charset="0"/>
                <a:ea typeface="Calibri" pitchFamily="34" charset="-122"/>
                <a:cs typeface="Calibri" pitchFamily="34" charset="-120"/>
              </a:rPr>
              <a:t>Only at Lower Manhattan · Only Branded merch</a:t>
            </a:r>
            <a:endParaRPr lang="en-US" sz="950" dirty="0"/>
          </a:p>
        </p:txBody>
      </p:sp>
      <p:sp>
        <p:nvSpPr>
          <p:cNvPr id="20" name="Shape 16">
            <a:extLst>
              <a:ext uri="{FF2B5EF4-FFF2-40B4-BE49-F238E27FC236}">
                <a16:creationId xmlns:a16="http://schemas.microsoft.com/office/drawing/2014/main" id="{210DA3B0-66B3-CD9F-3FED-03E647DF7DEC}"/>
              </a:ext>
            </a:extLst>
          </p:cNvPr>
          <p:cNvSpPr/>
          <p:nvPr/>
        </p:nvSpPr>
        <p:spPr>
          <a:xfrm>
            <a:off x="6835140" y="1307592"/>
            <a:ext cx="530352" cy="292608"/>
          </a:xfrm>
          <a:prstGeom prst="ellipse">
            <a:avLst/>
          </a:prstGeom>
          <a:solidFill>
            <a:srgbClr val="FFFFFF">
              <a:alpha val="20000"/>
            </a:srgbClr>
          </a:solidFill>
          <a:ln/>
        </p:spPr>
      </p:sp>
      <p:sp>
        <p:nvSpPr>
          <p:cNvPr id="21" name="Text 17">
            <a:extLst>
              <a:ext uri="{FF2B5EF4-FFF2-40B4-BE49-F238E27FC236}">
                <a16:creationId xmlns:a16="http://schemas.microsoft.com/office/drawing/2014/main" id="{6DF63640-429E-8A08-F005-ECBD79D5DF73}"/>
              </a:ext>
            </a:extLst>
          </p:cNvPr>
          <p:cNvSpPr/>
          <p:nvPr/>
        </p:nvSpPr>
        <p:spPr>
          <a:xfrm>
            <a:off x="6816852" y="1316736"/>
            <a:ext cx="548640" cy="25603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5 transactions</a:t>
            </a:r>
            <a:endParaRPr lang="en-US" sz="750" dirty="0"/>
          </a:p>
        </p:txBody>
      </p:sp>
      <p:sp>
        <p:nvSpPr>
          <p:cNvPr id="22" name="Shape 18">
            <a:extLst>
              <a:ext uri="{FF2B5EF4-FFF2-40B4-BE49-F238E27FC236}">
                <a16:creationId xmlns:a16="http://schemas.microsoft.com/office/drawing/2014/main" id="{32CCEE0C-D5A6-876E-78B4-13BDBB526EA0}"/>
              </a:ext>
            </a:extLst>
          </p:cNvPr>
          <p:cNvSpPr/>
          <p:nvPr/>
        </p:nvSpPr>
        <p:spPr>
          <a:xfrm>
            <a:off x="7699248" y="1234440"/>
            <a:ext cx="3429000" cy="1170432"/>
          </a:xfrm>
          <a:prstGeom prst="roundRect">
            <a:avLst>
              <a:gd name="adj" fmla="val 7031"/>
            </a:avLst>
          </a:prstGeom>
          <a:solidFill>
            <a:srgbClr val="2E1A0F"/>
          </a:solidFill>
          <a:ln/>
          <a:effectLst>
            <a:outerShdw blurRad="88900" dist="38100" dir="2700000" algn="bl" rotWithShape="0">
              <a:srgbClr val="2E1A0F">
                <a:alpha val="18000"/>
              </a:srgbClr>
            </a:outerShdw>
          </a:effectLst>
        </p:spPr>
      </p:sp>
      <p:sp>
        <p:nvSpPr>
          <p:cNvPr id="23" name="Text 19">
            <a:extLst>
              <a:ext uri="{FF2B5EF4-FFF2-40B4-BE49-F238E27FC236}">
                <a16:creationId xmlns:a16="http://schemas.microsoft.com/office/drawing/2014/main" id="{0ADA8B5B-AA5C-E498-5386-DD170F8B8D3A}"/>
              </a:ext>
            </a:extLst>
          </p:cNvPr>
          <p:cNvSpPr/>
          <p:nvPr/>
        </p:nvSpPr>
        <p:spPr>
          <a:xfrm>
            <a:off x="7900416" y="1325880"/>
            <a:ext cx="3026664" cy="256032"/>
          </a:xfrm>
          <a:prstGeom prst="rect">
            <a:avLst/>
          </a:prstGeom>
          <a:noFill/>
          <a:ln/>
        </p:spPr>
        <p:txBody>
          <a:bodyPr wrap="square" lIns="0" tIns="0" rIns="0" bIns="0" rtlCol="0" anchor="ctr"/>
          <a:lstStyle/>
          <a:p>
            <a:pPr marL="0" indent="0">
              <a:buNone/>
            </a:pPr>
            <a:r>
              <a:rPr lang="en-US" sz="1100" b="1" kern="0" spc="150" dirty="0">
                <a:solidFill>
                  <a:srgbClr val="F7EFE3"/>
                </a:solidFill>
                <a:latin typeface="Calibri" pitchFamily="34" charset="0"/>
                <a:ea typeface="Calibri" pitchFamily="34" charset="-122"/>
                <a:cs typeface="Calibri" pitchFamily="34" charset="-120"/>
              </a:rPr>
              <a:t>ULTRA SPENDER</a:t>
            </a:r>
            <a:endParaRPr lang="en-US" sz="1100" dirty="0"/>
          </a:p>
        </p:txBody>
      </p:sp>
      <p:sp>
        <p:nvSpPr>
          <p:cNvPr id="24" name="Text 20">
            <a:extLst>
              <a:ext uri="{FF2B5EF4-FFF2-40B4-BE49-F238E27FC236}">
                <a16:creationId xmlns:a16="http://schemas.microsoft.com/office/drawing/2014/main" id="{58CD9DD7-636A-2E87-65A6-98929AF0F99C}"/>
              </a:ext>
            </a:extLst>
          </p:cNvPr>
          <p:cNvSpPr/>
          <p:nvPr/>
        </p:nvSpPr>
        <p:spPr>
          <a:xfrm>
            <a:off x="7900416" y="1554480"/>
            <a:ext cx="14630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R360</a:t>
            </a:r>
            <a:endParaRPr lang="en-US" sz="2200" dirty="0"/>
          </a:p>
        </p:txBody>
      </p:sp>
      <p:sp>
        <p:nvSpPr>
          <p:cNvPr id="25" name="Text 21">
            <a:extLst>
              <a:ext uri="{FF2B5EF4-FFF2-40B4-BE49-F238E27FC236}">
                <a16:creationId xmlns:a16="http://schemas.microsoft.com/office/drawing/2014/main" id="{395A4E04-F8D9-C25E-3835-82EC5EF68F4F}"/>
              </a:ext>
            </a:extLst>
          </p:cNvPr>
          <p:cNvSpPr/>
          <p:nvPr/>
        </p:nvSpPr>
        <p:spPr>
          <a:xfrm>
            <a:off x="9390888" y="1627632"/>
            <a:ext cx="1508760" cy="347472"/>
          </a:xfrm>
          <a:prstGeom prst="rect">
            <a:avLst/>
          </a:prstGeom>
          <a:noFill/>
          <a:ln/>
        </p:spPr>
        <p:txBody>
          <a:bodyPr wrap="square" lIns="0" tIns="0" rIns="0" bIns="0" rtlCol="0" anchor="ctr"/>
          <a:lstStyle/>
          <a:p>
            <a:pPr marL="0" indent="0">
              <a:buNone/>
            </a:pPr>
            <a:r>
              <a:rPr lang="en-US" sz="900" i="1" dirty="0">
                <a:solidFill>
                  <a:srgbClr val="F7EFE3"/>
                </a:solidFill>
                <a:latin typeface="Calibri" pitchFamily="34" charset="0"/>
                <a:ea typeface="Calibri" pitchFamily="34" charset="-122"/>
                <a:cs typeface="Calibri" pitchFamily="34" charset="-120"/>
              </a:rPr>
              <a:t>avg per transaction</a:t>
            </a:r>
            <a:endParaRPr lang="en-US" sz="900" dirty="0"/>
          </a:p>
        </p:txBody>
      </p:sp>
      <p:sp>
        <p:nvSpPr>
          <p:cNvPr id="26" name="Text 22">
            <a:extLst>
              <a:ext uri="{FF2B5EF4-FFF2-40B4-BE49-F238E27FC236}">
                <a16:creationId xmlns:a16="http://schemas.microsoft.com/office/drawing/2014/main" id="{04B0D9BA-639B-C9D5-B52B-580A14D2664E}"/>
              </a:ext>
            </a:extLst>
          </p:cNvPr>
          <p:cNvSpPr/>
          <p:nvPr/>
        </p:nvSpPr>
        <p:spPr>
          <a:xfrm>
            <a:off x="7900416" y="2011680"/>
            <a:ext cx="3026664" cy="320040"/>
          </a:xfrm>
          <a:prstGeom prst="rect">
            <a:avLst/>
          </a:prstGeom>
          <a:noFill/>
          <a:ln/>
        </p:spPr>
        <p:txBody>
          <a:bodyPr wrap="square" lIns="0" tIns="0" rIns="0" bIns="0" rtlCol="0" anchor="ctr"/>
          <a:lstStyle/>
          <a:p>
            <a:pPr marL="0" indent="0">
              <a:buNone/>
            </a:pPr>
            <a:r>
              <a:rPr lang="en-US" sz="950" i="1" dirty="0">
                <a:solidFill>
                  <a:srgbClr val="F7EFE3"/>
                </a:solidFill>
                <a:latin typeface="Calibri" pitchFamily="34" charset="0"/>
                <a:ea typeface="Calibri" pitchFamily="34" charset="-122"/>
                <a:cs typeface="Calibri" pitchFamily="34" charset="-120"/>
              </a:rPr>
              <a:t>Only at Hell's Kitchen · Only Coffee Beans (bulk)</a:t>
            </a:r>
            <a:endParaRPr lang="en-US" sz="950" dirty="0"/>
          </a:p>
        </p:txBody>
      </p:sp>
      <p:sp>
        <p:nvSpPr>
          <p:cNvPr id="27" name="Shape 23">
            <a:extLst>
              <a:ext uri="{FF2B5EF4-FFF2-40B4-BE49-F238E27FC236}">
                <a16:creationId xmlns:a16="http://schemas.microsoft.com/office/drawing/2014/main" id="{4FF1F369-6027-2533-A27E-FEA2084E67DB}"/>
              </a:ext>
            </a:extLst>
          </p:cNvPr>
          <p:cNvSpPr/>
          <p:nvPr/>
        </p:nvSpPr>
        <p:spPr>
          <a:xfrm>
            <a:off x="10469880" y="1307592"/>
            <a:ext cx="530352" cy="292608"/>
          </a:xfrm>
          <a:prstGeom prst="ellipse">
            <a:avLst/>
          </a:prstGeom>
          <a:solidFill>
            <a:srgbClr val="FFFFFF">
              <a:alpha val="20000"/>
            </a:srgbClr>
          </a:solidFill>
          <a:ln/>
        </p:spPr>
      </p:sp>
      <p:sp>
        <p:nvSpPr>
          <p:cNvPr id="28" name="Text 24">
            <a:extLst>
              <a:ext uri="{FF2B5EF4-FFF2-40B4-BE49-F238E27FC236}">
                <a16:creationId xmlns:a16="http://schemas.microsoft.com/office/drawing/2014/main" id="{71572F08-0CF3-2ED1-9E26-1D2A1357C845}"/>
              </a:ext>
            </a:extLst>
          </p:cNvPr>
          <p:cNvSpPr/>
          <p:nvPr/>
        </p:nvSpPr>
        <p:spPr>
          <a:xfrm>
            <a:off x="10451592" y="1316736"/>
            <a:ext cx="548640" cy="25603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10 transactions</a:t>
            </a:r>
            <a:endParaRPr lang="en-US" sz="750" dirty="0"/>
          </a:p>
        </p:txBody>
      </p:sp>
      <p:sp>
        <p:nvSpPr>
          <p:cNvPr id="29" name="Text 25">
            <a:extLst>
              <a:ext uri="{FF2B5EF4-FFF2-40B4-BE49-F238E27FC236}">
                <a16:creationId xmlns:a16="http://schemas.microsoft.com/office/drawing/2014/main" id="{9F0C93D7-7179-1ABF-B78D-D5F3D45331D4}"/>
              </a:ext>
            </a:extLst>
          </p:cNvPr>
          <p:cNvSpPr/>
          <p:nvPr/>
        </p:nvSpPr>
        <p:spPr>
          <a:xfrm>
            <a:off x="429768" y="2523744"/>
            <a:ext cx="5394960" cy="256032"/>
          </a:xfrm>
          <a:prstGeom prst="rect">
            <a:avLst/>
          </a:prstGeom>
          <a:noFill/>
          <a:ln/>
        </p:spPr>
        <p:txBody>
          <a:bodyPr wrap="square" lIns="0" tIns="0" rIns="0" bIns="0" rtlCol="0" anchor="ctr"/>
          <a:lstStyle/>
          <a:p>
            <a:pPr marL="0" indent="0">
              <a:buNone/>
            </a:pPr>
            <a:r>
              <a:rPr lang="en-US" sz="1100" b="1" kern="0" spc="150" dirty="0">
                <a:solidFill>
                  <a:srgbClr val="C17817"/>
                </a:solidFill>
                <a:latin typeface="Calibri" pitchFamily="34" charset="0"/>
                <a:ea typeface="Calibri" pitchFamily="34" charset="-122"/>
                <a:cs typeface="Calibri" pitchFamily="34" charset="-120"/>
              </a:rPr>
              <a:t>WHERE THEY SHOP</a:t>
            </a:r>
            <a:endParaRPr lang="en-US" sz="1100" dirty="0"/>
          </a:p>
        </p:txBody>
      </p:sp>
      <p:sp>
        <p:nvSpPr>
          <p:cNvPr id="30" name="Text 26">
            <a:extLst>
              <a:ext uri="{FF2B5EF4-FFF2-40B4-BE49-F238E27FC236}">
                <a16:creationId xmlns:a16="http://schemas.microsoft.com/office/drawing/2014/main" id="{E898BBE8-354E-7094-14C6-36B74E093845}"/>
              </a:ext>
            </a:extLst>
          </p:cNvPr>
          <p:cNvSpPr/>
          <p:nvPr/>
        </p:nvSpPr>
        <p:spPr>
          <a:xfrm>
            <a:off x="429768" y="2752344"/>
            <a:ext cx="5394960" cy="201168"/>
          </a:xfrm>
          <a:prstGeom prst="rect">
            <a:avLst/>
          </a:prstGeom>
          <a:noFill/>
          <a:ln/>
        </p:spPr>
        <p:txBody>
          <a:bodyPr wrap="square" lIns="0" tIns="0" rIns="0" bIns="0" rtlCol="0" anchor="ctr"/>
          <a:lstStyle/>
          <a:p>
            <a:pPr marL="0" indent="0">
              <a:buNone/>
            </a:pPr>
            <a:r>
              <a:rPr lang="en-US" sz="950" i="1" dirty="0">
                <a:solidFill>
                  <a:srgbClr val="8A6A52"/>
                </a:solidFill>
                <a:latin typeface="Calibri" pitchFamily="34" charset="0"/>
                <a:ea typeface="Calibri" pitchFamily="34" charset="-122"/>
                <a:cs typeface="Calibri" pitchFamily="34" charset="-120"/>
              </a:rPr>
              <a:t>% of each segment's transactions per store location</a:t>
            </a:r>
            <a:endParaRPr lang="en-US" sz="950" dirty="0"/>
          </a:p>
        </p:txBody>
      </p:sp>
      <p:sp>
        <p:nvSpPr>
          <p:cNvPr id="31" name="Text 27">
            <a:extLst>
              <a:ext uri="{FF2B5EF4-FFF2-40B4-BE49-F238E27FC236}">
                <a16:creationId xmlns:a16="http://schemas.microsoft.com/office/drawing/2014/main" id="{1EE3C215-DE8D-8352-4082-43FDE4E2861F}"/>
              </a:ext>
            </a:extLst>
          </p:cNvPr>
          <p:cNvSpPr/>
          <p:nvPr/>
        </p:nvSpPr>
        <p:spPr>
          <a:xfrm>
            <a:off x="6217920" y="2523744"/>
            <a:ext cx="5486400" cy="256032"/>
          </a:xfrm>
          <a:prstGeom prst="rect">
            <a:avLst/>
          </a:prstGeom>
          <a:noFill/>
          <a:ln/>
        </p:spPr>
        <p:txBody>
          <a:bodyPr wrap="square" lIns="0" tIns="0" rIns="0" bIns="0" rtlCol="0" anchor="ctr"/>
          <a:lstStyle/>
          <a:p>
            <a:pPr marL="0" indent="0">
              <a:buNone/>
            </a:pPr>
            <a:r>
              <a:rPr lang="en-US" sz="1100" b="1" kern="0" spc="150" dirty="0">
                <a:solidFill>
                  <a:srgbClr val="C17817"/>
                </a:solidFill>
                <a:latin typeface="Calibri" pitchFamily="34" charset="0"/>
                <a:ea typeface="Calibri" pitchFamily="34" charset="-122"/>
                <a:cs typeface="Calibri" pitchFamily="34" charset="-120"/>
              </a:rPr>
              <a:t>WHAT THEY BUY</a:t>
            </a:r>
            <a:endParaRPr lang="en-US" sz="1100" dirty="0"/>
          </a:p>
        </p:txBody>
      </p:sp>
      <p:sp>
        <p:nvSpPr>
          <p:cNvPr id="32" name="Text 28">
            <a:extLst>
              <a:ext uri="{FF2B5EF4-FFF2-40B4-BE49-F238E27FC236}">
                <a16:creationId xmlns:a16="http://schemas.microsoft.com/office/drawing/2014/main" id="{144C5E6C-3372-F763-6E89-1F3D48F55F9C}"/>
              </a:ext>
            </a:extLst>
          </p:cNvPr>
          <p:cNvSpPr/>
          <p:nvPr/>
        </p:nvSpPr>
        <p:spPr>
          <a:xfrm>
            <a:off x="6217920" y="2752344"/>
            <a:ext cx="5486400" cy="201168"/>
          </a:xfrm>
          <a:prstGeom prst="rect">
            <a:avLst/>
          </a:prstGeom>
          <a:noFill/>
          <a:ln/>
        </p:spPr>
        <p:txBody>
          <a:bodyPr wrap="square" lIns="0" tIns="0" rIns="0" bIns="0" rtlCol="0" anchor="ctr"/>
          <a:lstStyle/>
          <a:p>
            <a:pPr marL="0" indent="0">
              <a:buNone/>
            </a:pPr>
            <a:r>
              <a:rPr lang="en-US" sz="950" i="1" dirty="0">
                <a:solidFill>
                  <a:srgbClr val="8A6A52"/>
                </a:solidFill>
                <a:latin typeface="Calibri" pitchFamily="34" charset="0"/>
                <a:ea typeface="Calibri" pitchFamily="34" charset="-122"/>
                <a:cs typeface="Calibri" pitchFamily="34" charset="-120"/>
              </a:rPr>
              <a:t>% of each segment's revenue by product category</a:t>
            </a:r>
            <a:endParaRPr lang="en-US" sz="950" dirty="0"/>
          </a:p>
        </p:txBody>
      </p:sp>
      <p:sp>
        <p:nvSpPr>
          <p:cNvPr id="33" name="Shape 29">
            <a:extLst>
              <a:ext uri="{FF2B5EF4-FFF2-40B4-BE49-F238E27FC236}">
                <a16:creationId xmlns:a16="http://schemas.microsoft.com/office/drawing/2014/main" id="{7BE99456-95D1-A176-2769-74AB9237624F}"/>
              </a:ext>
            </a:extLst>
          </p:cNvPr>
          <p:cNvSpPr/>
          <p:nvPr/>
        </p:nvSpPr>
        <p:spPr>
          <a:xfrm>
            <a:off x="6007608" y="2523744"/>
            <a:ext cx="0" cy="3611880"/>
          </a:xfrm>
          <a:prstGeom prst="line">
            <a:avLst/>
          </a:prstGeom>
          <a:noFill/>
          <a:ln w="15240">
            <a:solidFill>
              <a:srgbClr val="E7DCCB"/>
            </a:solidFill>
            <a:prstDash val="solid"/>
          </a:ln>
        </p:spPr>
      </p:sp>
      <p:graphicFrame>
        <p:nvGraphicFramePr>
          <p:cNvPr id="34" name="Chart 0">
            <a:extLst>
              <a:ext uri="{FF2B5EF4-FFF2-40B4-BE49-F238E27FC236}">
                <a16:creationId xmlns:a16="http://schemas.microsoft.com/office/drawing/2014/main" id="{58B7C5C6-9F38-8B86-C4F1-70994268A7D2}"/>
              </a:ext>
            </a:extLst>
          </p:cNvPr>
          <p:cNvGraphicFramePr/>
          <p:nvPr>
            <p:extLst>
              <p:ext uri="{D42A27DB-BD31-4B8C-83A1-F6EECF244321}">
                <p14:modId xmlns:p14="http://schemas.microsoft.com/office/powerpoint/2010/main" val="1518803835"/>
              </p:ext>
            </p:extLst>
          </p:nvPr>
        </p:nvGraphicFramePr>
        <p:xfrm>
          <a:off x="429768" y="2971800"/>
          <a:ext cx="5394960" cy="30632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Chart 1">
            <a:extLst>
              <a:ext uri="{FF2B5EF4-FFF2-40B4-BE49-F238E27FC236}">
                <a16:creationId xmlns:a16="http://schemas.microsoft.com/office/drawing/2014/main" id="{74EDDAB1-63DB-3801-54C8-4A5DE11D5879}"/>
              </a:ext>
            </a:extLst>
          </p:cNvPr>
          <p:cNvGraphicFramePr/>
          <p:nvPr>
            <p:extLst>
              <p:ext uri="{D42A27DB-BD31-4B8C-83A1-F6EECF244321}">
                <p14:modId xmlns:p14="http://schemas.microsoft.com/office/powerpoint/2010/main" val="2904235089"/>
              </p:ext>
            </p:extLst>
          </p:nvPr>
        </p:nvGraphicFramePr>
        <p:xfrm>
          <a:off x="6217920" y="2971800"/>
          <a:ext cx="5486400" cy="3063240"/>
        </p:xfrm>
        <a:graphic>
          <a:graphicData uri="http://schemas.openxmlformats.org/drawingml/2006/chart">
            <c:chart xmlns:c="http://schemas.openxmlformats.org/drawingml/2006/chart" xmlns:r="http://schemas.openxmlformats.org/officeDocument/2006/relationships" r:id="rId6"/>
          </a:graphicData>
        </a:graphic>
      </p:graphicFrame>
      <p:sp>
        <p:nvSpPr>
          <p:cNvPr id="36" name="Shape 30">
            <a:extLst>
              <a:ext uri="{FF2B5EF4-FFF2-40B4-BE49-F238E27FC236}">
                <a16:creationId xmlns:a16="http://schemas.microsoft.com/office/drawing/2014/main" id="{8CFA1CF5-5BDA-A92A-AD3F-2EACA29319D2}"/>
              </a:ext>
            </a:extLst>
          </p:cNvPr>
          <p:cNvSpPr/>
          <p:nvPr/>
        </p:nvSpPr>
        <p:spPr>
          <a:xfrm>
            <a:off x="429768" y="6089904"/>
            <a:ext cx="11274552" cy="347472"/>
          </a:xfrm>
          <a:prstGeom prst="roundRect">
            <a:avLst>
              <a:gd name="adj" fmla="val 15789"/>
            </a:avLst>
          </a:prstGeom>
          <a:solidFill>
            <a:srgbClr val="F2E6D8"/>
          </a:solidFill>
          <a:ln/>
        </p:spPr>
      </p:sp>
      <p:sp>
        <p:nvSpPr>
          <p:cNvPr id="37" name="Shape 31">
            <a:extLst>
              <a:ext uri="{FF2B5EF4-FFF2-40B4-BE49-F238E27FC236}">
                <a16:creationId xmlns:a16="http://schemas.microsoft.com/office/drawing/2014/main" id="{11A4F53F-86F2-AAA3-84A3-8584857CA161}"/>
              </a:ext>
            </a:extLst>
          </p:cNvPr>
          <p:cNvSpPr/>
          <p:nvPr/>
        </p:nvSpPr>
        <p:spPr>
          <a:xfrm>
            <a:off x="585216" y="6144768"/>
            <a:ext cx="237744" cy="237744"/>
          </a:xfrm>
          <a:prstGeom prst="ellipse">
            <a:avLst/>
          </a:prstGeom>
          <a:solidFill>
            <a:srgbClr val="C17817"/>
          </a:solidFill>
          <a:ln/>
        </p:spPr>
      </p:sp>
      <p:pic>
        <p:nvPicPr>
          <p:cNvPr id="38" name="Image 2" descr="/home/claude/coffee_deck/icons/bulb_white.png">
            <a:extLst>
              <a:ext uri="{FF2B5EF4-FFF2-40B4-BE49-F238E27FC236}">
                <a16:creationId xmlns:a16="http://schemas.microsoft.com/office/drawing/2014/main" id="{5164A0C8-2C37-16C8-4EE3-18B8C6D6F899}"/>
              </a:ext>
            </a:extLst>
          </p:cNvPr>
          <p:cNvPicPr>
            <a:picLocks noChangeAspect="1"/>
          </p:cNvPicPr>
          <p:nvPr/>
        </p:nvPicPr>
        <p:blipFill>
          <a:blip r:embed="rId7"/>
          <a:stretch>
            <a:fillRect/>
          </a:stretch>
        </p:blipFill>
        <p:spPr>
          <a:xfrm>
            <a:off x="649224" y="6208776"/>
            <a:ext cx="109728" cy="109728"/>
          </a:xfrm>
          <a:prstGeom prst="rect">
            <a:avLst/>
          </a:prstGeom>
        </p:spPr>
      </p:pic>
      <p:sp>
        <p:nvSpPr>
          <p:cNvPr id="39" name="Text 32">
            <a:extLst>
              <a:ext uri="{FF2B5EF4-FFF2-40B4-BE49-F238E27FC236}">
                <a16:creationId xmlns:a16="http://schemas.microsoft.com/office/drawing/2014/main" id="{E3A6F5F5-A479-94B4-EC19-82E5D4262B44}"/>
              </a:ext>
            </a:extLst>
          </p:cNvPr>
          <p:cNvSpPr/>
          <p:nvPr/>
        </p:nvSpPr>
        <p:spPr>
          <a:xfrm>
            <a:off x="932688" y="6108192"/>
            <a:ext cx="10652760" cy="310896"/>
          </a:xfrm>
          <a:prstGeom prst="rect">
            <a:avLst/>
          </a:prstGeom>
          <a:noFill/>
          <a:ln/>
        </p:spPr>
        <p:txBody>
          <a:bodyPr wrap="square" lIns="0" tIns="0" rIns="0" bIns="0" rtlCol="0" anchor="ctr"/>
          <a:lstStyle/>
          <a:p>
            <a:pPr marL="0" indent="0">
              <a:buNone/>
            </a:pPr>
            <a:r>
              <a:rPr lang="en-US" sz="950" i="1" dirty="0">
                <a:solidFill>
                  <a:srgbClr val="4A2C1A"/>
                </a:solidFill>
                <a:latin typeface="Calibri" pitchFamily="34" charset="0"/>
                <a:ea typeface="Calibri" pitchFamily="34" charset="-122"/>
                <a:cs typeface="Calibri" pitchFamily="34" charset="-120"/>
              </a:rPr>
              <a:t>Ultra Spenders visit Hell's Kitchen exclusively to buy bulk Coffee Beans (R360/purchase). Medium Spenders head to Lower Manhattan for Branded merchandise. Every other customer is a Low Spender , and approximately all low spenders are equally distributed between all three stores </a:t>
            </a:r>
            <a:endParaRPr lang="en-US" sz="950" dirty="0"/>
          </a:p>
        </p:txBody>
      </p:sp>
      <p:sp>
        <p:nvSpPr>
          <p:cNvPr id="40" name="Text 33">
            <a:extLst>
              <a:ext uri="{FF2B5EF4-FFF2-40B4-BE49-F238E27FC236}">
                <a16:creationId xmlns:a16="http://schemas.microsoft.com/office/drawing/2014/main" id="{D154AADA-0875-5774-8439-57E123AF599B}"/>
              </a:ext>
            </a:extLst>
          </p:cNvPr>
          <p:cNvSpPr/>
          <p:nvPr/>
        </p:nvSpPr>
        <p:spPr>
          <a:xfrm>
            <a:off x="448056" y="6528816"/>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41" name="Text 34">
            <a:extLst>
              <a:ext uri="{FF2B5EF4-FFF2-40B4-BE49-F238E27FC236}">
                <a16:creationId xmlns:a16="http://schemas.microsoft.com/office/drawing/2014/main" id="{12C5E5FA-53EE-A4D3-642D-97D1CB1243EC}"/>
              </a:ext>
            </a:extLst>
          </p:cNvPr>
          <p:cNvSpPr/>
          <p:nvPr/>
        </p:nvSpPr>
        <p:spPr>
          <a:xfrm>
            <a:off x="11009376" y="6528816"/>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13 / 17</a:t>
            </a:r>
            <a:endParaRPr lang="en-US" sz="900" dirty="0"/>
          </a:p>
        </p:txBody>
      </p:sp>
      <p:sp>
        <p:nvSpPr>
          <p:cNvPr id="42" name="Text 1">
            <a:extLst>
              <a:ext uri="{FF2B5EF4-FFF2-40B4-BE49-F238E27FC236}">
                <a16:creationId xmlns:a16="http://schemas.microsoft.com/office/drawing/2014/main" id="{77B6D22C-94D0-5707-2FD1-EAF091973D70}"/>
              </a:ext>
            </a:extLst>
          </p:cNvPr>
          <p:cNvSpPr/>
          <p:nvPr/>
        </p:nvSpPr>
        <p:spPr>
          <a:xfrm>
            <a:off x="1234440" y="457200"/>
            <a:ext cx="8229600" cy="256032"/>
          </a:xfrm>
          <a:prstGeom prst="rect">
            <a:avLst/>
          </a:prstGeom>
          <a:noFill/>
          <a:ln/>
        </p:spPr>
        <p:txBody>
          <a:bodyPr wrap="square" lIns="0" tIns="0" rIns="0" bIns="0" rtlCol="0" anchor="ctr"/>
          <a:lstStyle/>
          <a:p>
            <a:pPr marL="0" indent="0">
              <a:buNone/>
            </a:pPr>
            <a:r>
              <a:rPr lang="en-US" sz="1250" b="1" kern="0" spc="200" dirty="0">
                <a:solidFill>
                  <a:srgbClr val="8A6A52"/>
                </a:solidFill>
                <a:latin typeface="Calibri" pitchFamily="34" charset="0"/>
                <a:ea typeface="Calibri" pitchFamily="34" charset="-122"/>
                <a:cs typeface="Calibri" pitchFamily="34" charset="-120"/>
              </a:rPr>
              <a:t>CUSTOMER BEHAVIOUR · 2 OF 2</a:t>
            </a:r>
            <a:endParaRPr lang="en-US" sz="1250" dirty="0"/>
          </a:p>
        </p:txBody>
      </p:sp>
    </p:spTree>
    <p:extLst>
      <p:ext uri="{BB962C8B-B14F-4D97-AF65-F5344CB8AC3E}">
        <p14:creationId xmlns:p14="http://schemas.microsoft.com/office/powerpoint/2010/main" val="1181558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40" name="Shape 0">
            <a:extLst>
              <a:ext uri="{FF2B5EF4-FFF2-40B4-BE49-F238E27FC236}">
                <a16:creationId xmlns:a16="http://schemas.microsoft.com/office/drawing/2014/main" id="{CF8E258B-FE11-C8E7-B6E5-741DDEFA5DD4}"/>
              </a:ext>
            </a:extLst>
          </p:cNvPr>
          <p:cNvSpPr/>
          <p:nvPr/>
        </p:nvSpPr>
        <p:spPr>
          <a:xfrm>
            <a:off x="463296" y="297180"/>
            <a:ext cx="566928" cy="566928"/>
          </a:xfrm>
          <a:prstGeom prst="ellipse">
            <a:avLst/>
          </a:prstGeom>
          <a:solidFill>
            <a:srgbClr val="C17817"/>
          </a:solidFill>
          <a:ln/>
        </p:spPr>
        <p:txBody>
          <a:bodyPr/>
          <a:lstStyle/>
          <a:p>
            <a:endParaRPr lang="en-ZA"/>
          </a:p>
        </p:txBody>
      </p:sp>
      <p:pic>
        <p:nvPicPr>
          <p:cNvPr id="41" name="Image 0">
            <a:extLst>
              <a:ext uri="{FF2B5EF4-FFF2-40B4-BE49-F238E27FC236}">
                <a16:creationId xmlns:a16="http://schemas.microsoft.com/office/drawing/2014/main" id="{53BA8263-815B-1E00-06A9-A61DE2DA361C}"/>
              </a:ext>
            </a:extLst>
          </p:cNvPr>
          <p:cNvPicPr>
            <a:picLocks noChangeAspect="1"/>
          </p:cNvPicPr>
          <p:nvPr/>
        </p:nvPicPr>
        <p:blipFill>
          <a:blip r:embed="rId3"/>
          <a:stretch>
            <a:fillRect/>
          </a:stretch>
        </p:blipFill>
        <p:spPr>
          <a:xfrm>
            <a:off x="609600" y="443484"/>
            <a:ext cx="274320" cy="274320"/>
          </a:xfrm>
          <a:prstGeom prst="rect">
            <a:avLst/>
          </a:prstGeom>
        </p:spPr>
      </p:pic>
      <p:sp>
        <p:nvSpPr>
          <p:cNvPr id="42" name="Text 1">
            <a:extLst>
              <a:ext uri="{FF2B5EF4-FFF2-40B4-BE49-F238E27FC236}">
                <a16:creationId xmlns:a16="http://schemas.microsoft.com/office/drawing/2014/main" id="{A7CAE1C0-1B1F-D107-F281-DC80584A19E9}"/>
              </a:ext>
            </a:extLst>
          </p:cNvPr>
          <p:cNvSpPr/>
          <p:nvPr/>
        </p:nvSpPr>
        <p:spPr>
          <a:xfrm>
            <a:off x="1194816" y="297180"/>
            <a:ext cx="8229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kern="0" spc="200" dirty="0">
                <a:solidFill>
                  <a:srgbClr val="8A6A52"/>
                </a:solidFill>
                <a:latin typeface="Calibri" pitchFamily="34" charset="0"/>
                <a:ea typeface="Calibri" pitchFamily="34" charset="-122"/>
                <a:cs typeface="Calibri" pitchFamily="34" charset="-120"/>
              </a:rPr>
              <a:t>INSIGHTS &amp; RECOMMENDATIONS · 1 OF 3</a:t>
            </a:r>
            <a:endParaRPr lang="en-US" sz="1250" dirty="0"/>
          </a:p>
        </p:txBody>
      </p:sp>
      <p:sp>
        <p:nvSpPr>
          <p:cNvPr id="43" name="Text 2">
            <a:extLst>
              <a:ext uri="{FF2B5EF4-FFF2-40B4-BE49-F238E27FC236}">
                <a16:creationId xmlns:a16="http://schemas.microsoft.com/office/drawing/2014/main" id="{A8800FC2-F4C1-3618-EF87-1087C427567E}"/>
              </a:ext>
            </a:extLst>
          </p:cNvPr>
          <p:cNvSpPr/>
          <p:nvPr/>
        </p:nvSpPr>
        <p:spPr>
          <a:xfrm>
            <a:off x="1176528" y="553212"/>
            <a:ext cx="960120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4A2C1A"/>
                </a:solidFill>
                <a:latin typeface="Cambria" pitchFamily="34" charset="0"/>
                <a:ea typeface="Cambria" pitchFamily="34" charset="-122"/>
                <a:cs typeface="Cambria" pitchFamily="34" charset="-120"/>
              </a:rPr>
              <a:t>Key Insights Summary</a:t>
            </a:r>
            <a:endParaRPr lang="en-US" sz="3000" dirty="0"/>
          </a:p>
        </p:txBody>
      </p:sp>
      <p:sp>
        <p:nvSpPr>
          <p:cNvPr id="44" name="Shape 3">
            <a:hlinkClick r:id="rId4" action="ppaction://hlinksldjump" tooltip="Back to Agenda"/>
            <a:extLst>
              <a:ext uri="{FF2B5EF4-FFF2-40B4-BE49-F238E27FC236}">
                <a16:creationId xmlns:a16="http://schemas.microsoft.com/office/drawing/2014/main" id="{D17EFF92-798E-FF2F-52C8-F4D9BF76D9FC}"/>
              </a:ext>
            </a:extLst>
          </p:cNvPr>
          <p:cNvSpPr/>
          <p:nvPr/>
        </p:nvSpPr>
        <p:spPr>
          <a:xfrm>
            <a:off x="11344656" y="251460"/>
            <a:ext cx="384048" cy="384048"/>
          </a:xfrm>
          <a:prstGeom prst="ellipse">
            <a:avLst/>
          </a:prstGeom>
          <a:solidFill>
            <a:srgbClr val="F2E6D8"/>
          </a:solidFill>
          <a:ln w="12700">
            <a:solidFill>
              <a:srgbClr val="E7DCCB"/>
            </a:solidFill>
            <a:prstDash val="solid"/>
          </a:ln>
        </p:spPr>
        <p:txBody>
          <a:bodyPr/>
          <a:lstStyle/>
          <a:p>
            <a:endParaRPr lang="en-ZA"/>
          </a:p>
        </p:txBody>
      </p:sp>
      <p:pic>
        <p:nvPicPr>
          <p:cNvPr id="45" name="Image 1">
            <a:hlinkClick r:id="rId4" action="ppaction://hlinksldjump" tooltip="Back to Agenda"/>
            <a:extLst>
              <a:ext uri="{FF2B5EF4-FFF2-40B4-BE49-F238E27FC236}">
                <a16:creationId xmlns:a16="http://schemas.microsoft.com/office/drawing/2014/main" id="{7EB7F46A-5159-D180-C909-4C9513E52088}"/>
              </a:ext>
            </a:extLst>
          </p:cNvPr>
          <p:cNvPicPr>
            <a:picLocks noChangeAspect="1"/>
          </p:cNvPicPr>
          <p:nvPr/>
        </p:nvPicPr>
        <p:blipFill>
          <a:blip r:embed="rId5"/>
          <a:stretch>
            <a:fillRect/>
          </a:stretch>
        </p:blipFill>
        <p:spPr>
          <a:xfrm>
            <a:off x="11445240" y="352044"/>
            <a:ext cx="182880" cy="182880"/>
          </a:xfrm>
          <a:prstGeom prst="rect">
            <a:avLst/>
          </a:prstGeom>
        </p:spPr>
      </p:pic>
      <p:sp>
        <p:nvSpPr>
          <p:cNvPr id="46" name="Shape 4">
            <a:extLst>
              <a:ext uri="{FF2B5EF4-FFF2-40B4-BE49-F238E27FC236}">
                <a16:creationId xmlns:a16="http://schemas.microsoft.com/office/drawing/2014/main" id="{7A5C2BE1-4339-8A02-F6CB-98F4EE018D9E}"/>
              </a:ext>
            </a:extLst>
          </p:cNvPr>
          <p:cNvSpPr/>
          <p:nvPr/>
        </p:nvSpPr>
        <p:spPr>
          <a:xfrm>
            <a:off x="737616" y="1229868"/>
            <a:ext cx="5212080" cy="1298448"/>
          </a:xfrm>
          <a:prstGeom prst="roundRect">
            <a:avLst>
              <a:gd name="adj" fmla="val 6338"/>
            </a:avLst>
          </a:prstGeom>
          <a:solidFill>
            <a:srgbClr val="F2E6D8"/>
          </a:solidFill>
          <a:ln/>
          <a:effectLst>
            <a:outerShdw blurRad="88900" dist="38100" dir="2700000" algn="bl" rotWithShape="0">
              <a:srgbClr val="2E1A0F">
                <a:alpha val="18000"/>
              </a:srgbClr>
            </a:outerShdw>
          </a:effectLst>
        </p:spPr>
        <p:txBody>
          <a:bodyPr/>
          <a:lstStyle/>
          <a:p>
            <a:endParaRPr lang="en-ZA"/>
          </a:p>
        </p:txBody>
      </p:sp>
      <p:sp>
        <p:nvSpPr>
          <p:cNvPr id="47" name="Shape 5">
            <a:extLst>
              <a:ext uri="{FF2B5EF4-FFF2-40B4-BE49-F238E27FC236}">
                <a16:creationId xmlns:a16="http://schemas.microsoft.com/office/drawing/2014/main" id="{3468D702-B314-F14A-4909-2987C2F23D2E}"/>
              </a:ext>
            </a:extLst>
          </p:cNvPr>
          <p:cNvSpPr/>
          <p:nvPr/>
        </p:nvSpPr>
        <p:spPr>
          <a:xfrm>
            <a:off x="902208" y="1394460"/>
            <a:ext cx="402336" cy="402336"/>
          </a:xfrm>
          <a:prstGeom prst="ellipse">
            <a:avLst/>
          </a:prstGeom>
          <a:solidFill>
            <a:srgbClr val="C17817"/>
          </a:solidFill>
          <a:ln/>
        </p:spPr>
        <p:txBody>
          <a:bodyPr/>
          <a:lstStyle/>
          <a:p>
            <a:endParaRPr lang="en-ZA"/>
          </a:p>
        </p:txBody>
      </p:sp>
      <p:pic>
        <p:nvPicPr>
          <p:cNvPr id="48" name="Image 2">
            <a:extLst>
              <a:ext uri="{FF2B5EF4-FFF2-40B4-BE49-F238E27FC236}">
                <a16:creationId xmlns:a16="http://schemas.microsoft.com/office/drawing/2014/main" id="{6AC39E1B-4010-7252-2A7B-95F78482BFA8}"/>
              </a:ext>
            </a:extLst>
          </p:cNvPr>
          <p:cNvPicPr>
            <a:picLocks noChangeAspect="1"/>
          </p:cNvPicPr>
          <p:nvPr/>
        </p:nvPicPr>
        <p:blipFill>
          <a:blip r:embed="rId6"/>
          <a:stretch>
            <a:fillRect/>
          </a:stretch>
        </p:blipFill>
        <p:spPr>
          <a:xfrm>
            <a:off x="1002792" y="1495044"/>
            <a:ext cx="201168" cy="201168"/>
          </a:xfrm>
          <a:prstGeom prst="rect">
            <a:avLst/>
          </a:prstGeom>
        </p:spPr>
      </p:pic>
      <p:sp>
        <p:nvSpPr>
          <p:cNvPr id="49" name="Text 6">
            <a:extLst>
              <a:ext uri="{FF2B5EF4-FFF2-40B4-BE49-F238E27FC236}">
                <a16:creationId xmlns:a16="http://schemas.microsoft.com/office/drawing/2014/main" id="{8A2D9216-1383-ACFC-88CC-16A1DBF4C26D}"/>
              </a:ext>
            </a:extLst>
          </p:cNvPr>
          <p:cNvSpPr/>
          <p:nvPr/>
        </p:nvSpPr>
        <p:spPr>
          <a:xfrm>
            <a:off x="1441704" y="1339596"/>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Two categories, two-thirds of revenue</a:t>
            </a:r>
            <a:endParaRPr lang="en-US" sz="1300" dirty="0"/>
          </a:p>
        </p:txBody>
      </p:sp>
      <p:sp>
        <p:nvSpPr>
          <p:cNvPr id="50" name="Text 7">
            <a:extLst>
              <a:ext uri="{FF2B5EF4-FFF2-40B4-BE49-F238E27FC236}">
                <a16:creationId xmlns:a16="http://schemas.microsoft.com/office/drawing/2014/main" id="{75EC6C3A-C6C3-87A7-A5E4-01E1131CD3E6}"/>
              </a:ext>
            </a:extLst>
          </p:cNvPr>
          <p:cNvSpPr/>
          <p:nvPr/>
        </p:nvSpPr>
        <p:spPr>
          <a:xfrm>
            <a:off x="1441704" y="1705356"/>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Coffee (38.6%) and Tea (28.1%) together generate 66.7% of revenue — protecting these two categories is non-negotiable.</a:t>
            </a:r>
            <a:endParaRPr lang="en-US" sz="1000" dirty="0"/>
          </a:p>
        </p:txBody>
      </p:sp>
      <p:sp>
        <p:nvSpPr>
          <p:cNvPr id="51" name="Shape 8">
            <a:extLst>
              <a:ext uri="{FF2B5EF4-FFF2-40B4-BE49-F238E27FC236}">
                <a16:creationId xmlns:a16="http://schemas.microsoft.com/office/drawing/2014/main" id="{2F949A0E-6277-32EF-61C9-735E80484113}"/>
              </a:ext>
            </a:extLst>
          </p:cNvPr>
          <p:cNvSpPr/>
          <p:nvPr/>
        </p:nvSpPr>
        <p:spPr>
          <a:xfrm>
            <a:off x="6178296" y="1229868"/>
            <a:ext cx="5212080" cy="1298448"/>
          </a:xfrm>
          <a:prstGeom prst="roundRect">
            <a:avLst>
              <a:gd name="adj" fmla="val 6338"/>
            </a:avLst>
          </a:prstGeom>
          <a:solidFill>
            <a:srgbClr val="F2E6D8"/>
          </a:solidFill>
          <a:ln/>
          <a:effectLst>
            <a:outerShdw blurRad="88900" dist="38100" dir="2700000" algn="bl" rotWithShape="0">
              <a:srgbClr val="2E1A0F">
                <a:alpha val="18000"/>
              </a:srgbClr>
            </a:outerShdw>
          </a:effectLst>
        </p:spPr>
        <p:txBody>
          <a:bodyPr/>
          <a:lstStyle/>
          <a:p>
            <a:endParaRPr lang="en-ZA"/>
          </a:p>
        </p:txBody>
      </p:sp>
      <p:sp>
        <p:nvSpPr>
          <p:cNvPr id="52" name="Shape 9">
            <a:extLst>
              <a:ext uri="{FF2B5EF4-FFF2-40B4-BE49-F238E27FC236}">
                <a16:creationId xmlns:a16="http://schemas.microsoft.com/office/drawing/2014/main" id="{A620948B-3A90-AF41-2A2A-0EA0DF1215FF}"/>
              </a:ext>
            </a:extLst>
          </p:cNvPr>
          <p:cNvSpPr/>
          <p:nvPr/>
        </p:nvSpPr>
        <p:spPr>
          <a:xfrm>
            <a:off x="6342888" y="1394460"/>
            <a:ext cx="402336" cy="402336"/>
          </a:xfrm>
          <a:prstGeom prst="ellipse">
            <a:avLst/>
          </a:prstGeom>
          <a:solidFill>
            <a:srgbClr val="C17817"/>
          </a:solidFill>
          <a:ln/>
        </p:spPr>
        <p:txBody>
          <a:bodyPr/>
          <a:lstStyle/>
          <a:p>
            <a:endParaRPr lang="en-ZA"/>
          </a:p>
        </p:txBody>
      </p:sp>
      <p:pic>
        <p:nvPicPr>
          <p:cNvPr id="53" name="Image 3">
            <a:extLst>
              <a:ext uri="{FF2B5EF4-FFF2-40B4-BE49-F238E27FC236}">
                <a16:creationId xmlns:a16="http://schemas.microsoft.com/office/drawing/2014/main" id="{C2C8BC91-20DA-7BEA-F7E2-3D6E0D94890F}"/>
              </a:ext>
            </a:extLst>
          </p:cNvPr>
          <p:cNvPicPr>
            <a:picLocks noChangeAspect="1"/>
          </p:cNvPicPr>
          <p:nvPr/>
        </p:nvPicPr>
        <p:blipFill>
          <a:blip r:embed="rId7"/>
          <a:stretch>
            <a:fillRect/>
          </a:stretch>
        </p:blipFill>
        <p:spPr>
          <a:xfrm>
            <a:off x="6443472" y="1495044"/>
            <a:ext cx="201168" cy="201168"/>
          </a:xfrm>
          <a:prstGeom prst="rect">
            <a:avLst/>
          </a:prstGeom>
        </p:spPr>
      </p:pic>
      <p:sp>
        <p:nvSpPr>
          <p:cNvPr id="54" name="Text 10">
            <a:extLst>
              <a:ext uri="{FF2B5EF4-FFF2-40B4-BE49-F238E27FC236}">
                <a16:creationId xmlns:a16="http://schemas.microsoft.com/office/drawing/2014/main" id="{F7F101CB-67C7-7A64-52F2-8EEA81FED51E}"/>
              </a:ext>
            </a:extLst>
          </p:cNvPr>
          <p:cNvSpPr/>
          <p:nvPr/>
        </p:nvSpPr>
        <p:spPr>
          <a:xfrm>
            <a:off x="6882384" y="1339596"/>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Mid-Morning beats Rush Hour</a:t>
            </a:r>
            <a:endParaRPr lang="en-US" sz="1300" dirty="0"/>
          </a:p>
        </p:txBody>
      </p:sp>
      <p:sp>
        <p:nvSpPr>
          <p:cNvPr id="55" name="Text 11">
            <a:extLst>
              <a:ext uri="{FF2B5EF4-FFF2-40B4-BE49-F238E27FC236}">
                <a16:creationId xmlns:a16="http://schemas.microsoft.com/office/drawing/2014/main" id="{992D47EB-7C3B-4678-4CCF-FA95B6BE0680}"/>
              </a:ext>
            </a:extLst>
          </p:cNvPr>
          <p:cNvSpPr/>
          <p:nvPr/>
        </p:nvSpPr>
        <p:spPr>
          <a:xfrm>
            <a:off x="6882384" y="1705356"/>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The 9–11am window (R220,162) outsells the traditional 6–8am rush by nearly R52,000 — the real peak is later than expected.</a:t>
            </a:r>
            <a:endParaRPr lang="en-US" sz="1000" dirty="0"/>
          </a:p>
        </p:txBody>
      </p:sp>
      <p:sp>
        <p:nvSpPr>
          <p:cNvPr id="56" name="Shape 12">
            <a:extLst>
              <a:ext uri="{FF2B5EF4-FFF2-40B4-BE49-F238E27FC236}">
                <a16:creationId xmlns:a16="http://schemas.microsoft.com/office/drawing/2014/main" id="{3953ED0A-C148-807B-A1DA-C464975F13E6}"/>
              </a:ext>
            </a:extLst>
          </p:cNvPr>
          <p:cNvSpPr/>
          <p:nvPr/>
        </p:nvSpPr>
        <p:spPr>
          <a:xfrm>
            <a:off x="737616" y="2674620"/>
            <a:ext cx="5212080" cy="1298448"/>
          </a:xfrm>
          <a:prstGeom prst="roundRect">
            <a:avLst>
              <a:gd name="adj" fmla="val 6338"/>
            </a:avLst>
          </a:prstGeom>
          <a:solidFill>
            <a:srgbClr val="EFE0CC"/>
          </a:solidFill>
          <a:ln/>
          <a:effectLst>
            <a:outerShdw blurRad="88900" dist="38100" dir="2700000" algn="bl" rotWithShape="0">
              <a:srgbClr val="2E1A0F">
                <a:alpha val="18000"/>
              </a:srgbClr>
            </a:outerShdw>
          </a:effectLst>
        </p:spPr>
        <p:txBody>
          <a:bodyPr/>
          <a:lstStyle/>
          <a:p>
            <a:endParaRPr lang="en-ZA"/>
          </a:p>
        </p:txBody>
      </p:sp>
      <p:sp>
        <p:nvSpPr>
          <p:cNvPr id="57" name="Shape 13">
            <a:extLst>
              <a:ext uri="{FF2B5EF4-FFF2-40B4-BE49-F238E27FC236}">
                <a16:creationId xmlns:a16="http://schemas.microsoft.com/office/drawing/2014/main" id="{E1E9456D-589E-2CD6-748B-8387279FA36F}"/>
              </a:ext>
            </a:extLst>
          </p:cNvPr>
          <p:cNvSpPr/>
          <p:nvPr/>
        </p:nvSpPr>
        <p:spPr>
          <a:xfrm>
            <a:off x="902208" y="2839212"/>
            <a:ext cx="402336" cy="402336"/>
          </a:xfrm>
          <a:prstGeom prst="ellipse">
            <a:avLst/>
          </a:prstGeom>
          <a:solidFill>
            <a:srgbClr val="C17817"/>
          </a:solidFill>
          <a:ln/>
        </p:spPr>
        <p:txBody>
          <a:bodyPr/>
          <a:lstStyle/>
          <a:p>
            <a:endParaRPr lang="en-ZA"/>
          </a:p>
        </p:txBody>
      </p:sp>
      <p:pic>
        <p:nvPicPr>
          <p:cNvPr id="58" name="Image 4">
            <a:extLst>
              <a:ext uri="{FF2B5EF4-FFF2-40B4-BE49-F238E27FC236}">
                <a16:creationId xmlns:a16="http://schemas.microsoft.com/office/drawing/2014/main" id="{5C225D60-8585-BFEF-29E9-21E02AD0309B}"/>
              </a:ext>
            </a:extLst>
          </p:cNvPr>
          <p:cNvPicPr>
            <a:picLocks noChangeAspect="1"/>
          </p:cNvPicPr>
          <p:nvPr/>
        </p:nvPicPr>
        <p:blipFill>
          <a:blip r:embed="rId8"/>
          <a:stretch>
            <a:fillRect/>
          </a:stretch>
        </p:blipFill>
        <p:spPr>
          <a:xfrm>
            <a:off x="1002792" y="2939796"/>
            <a:ext cx="201168" cy="201168"/>
          </a:xfrm>
          <a:prstGeom prst="rect">
            <a:avLst/>
          </a:prstGeom>
        </p:spPr>
      </p:pic>
      <p:sp>
        <p:nvSpPr>
          <p:cNvPr id="59" name="Text 14">
            <a:extLst>
              <a:ext uri="{FF2B5EF4-FFF2-40B4-BE49-F238E27FC236}">
                <a16:creationId xmlns:a16="http://schemas.microsoft.com/office/drawing/2014/main" id="{890AB845-FD4E-A58A-DD3D-D920ECAD279E}"/>
              </a:ext>
            </a:extLst>
          </p:cNvPr>
          <p:cNvSpPr/>
          <p:nvPr/>
        </p:nvSpPr>
        <p:spPr>
          <a:xfrm>
            <a:off x="1441704" y="2784348"/>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Stores are evenly matched</a:t>
            </a:r>
            <a:endParaRPr lang="en-US" sz="1300" dirty="0"/>
          </a:p>
        </p:txBody>
      </p:sp>
      <p:sp>
        <p:nvSpPr>
          <p:cNvPr id="60" name="Text 15">
            <a:extLst>
              <a:ext uri="{FF2B5EF4-FFF2-40B4-BE49-F238E27FC236}">
                <a16:creationId xmlns:a16="http://schemas.microsoft.com/office/drawing/2014/main" id="{1A31EE0B-B56E-3DD9-C84E-C9D6BED2E3CA}"/>
              </a:ext>
            </a:extLst>
          </p:cNvPr>
          <p:cNvSpPr/>
          <p:nvPr/>
        </p:nvSpPr>
        <p:spPr>
          <a:xfrm>
            <a:off x="1441704" y="3150108"/>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All three locations sit within 1.6 percentage points of a perfect third-share — no site is under- or over-performing.</a:t>
            </a:r>
            <a:endParaRPr lang="en-US" sz="1000" dirty="0"/>
          </a:p>
        </p:txBody>
      </p:sp>
      <p:sp>
        <p:nvSpPr>
          <p:cNvPr id="61" name="Shape 16">
            <a:extLst>
              <a:ext uri="{FF2B5EF4-FFF2-40B4-BE49-F238E27FC236}">
                <a16:creationId xmlns:a16="http://schemas.microsoft.com/office/drawing/2014/main" id="{7D0D06AB-F832-33D9-F56E-EE8AC9CCF318}"/>
              </a:ext>
            </a:extLst>
          </p:cNvPr>
          <p:cNvSpPr/>
          <p:nvPr/>
        </p:nvSpPr>
        <p:spPr>
          <a:xfrm>
            <a:off x="6178296" y="2674620"/>
            <a:ext cx="5212080" cy="1298448"/>
          </a:xfrm>
          <a:prstGeom prst="roundRect">
            <a:avLst>
              <a:gd name="adj" fmla="val 6338"/>
            </a:avLst>
          </a:prstGeom>
          <a:solidFill>
            <a:srgbClr val="EFE0CC"/>
          </a:solidFill>
          <a:ln/>
          <a:effectLst>
            <a:outerShdw blurRad="88900" dist="38100" dir="2700000" algn="bl" rotWithShape="0">
              <a:srgbClr val="2E1A0F">
                <a:alpha val="18000"/>
              </a:srgbClr>
            </a:outerShdw>
          </a:effectLst>
        </p:spPr>
        <p:txBody>
          <a:bodyPr/>
          <a:lstStyle/>
          <a:p>
            <a:endParaRPr lang="en-ZA"/>
          </a:p>
        </p:txBody>
      </p:sp>
      <p:sp>
        <p:nvSpPr>
          <p:cNvPr id="62" name="Shape 17">
            <a:extLst>
              <a:ext uri="{FF2B5EF4-FFF2-40B4-BE49-F238E27FC236}">
                <a16:creationId xmlns:a16="http://schemas.microsoft.com/office/drawing/2014/main" id="{EDDE1E22-1241-55C3-AF7D-9DF596A6D4B1}"/>
              </a:ext>
            </a:extLst>
          </p:cNvPr>
          <p:cNvSpPr/>
          <p:nvPr/>
        </p:nvSpPr>
        <p:spPr>
          <a:xfrm>
            <a:off x="6342888" y="2839212"/>
            <a:ext cx="402336" cy="402336"/>
          </a:xfrm>
          <a:prstGeom prst="ellipse">
            <a:avLst/>
          </a:prstGeom>
          <a:solidFill>
            <a:srgbClr val="C17817"/>
          </a:solidFill>
          <a:ln/>
        </p:spPr>
        <p:txBody>
          <a:bodyPr/>
          <a:lstStyle/>
          <a:p>
            <a:endParaRPr lang="en-ZA"/>
          </a:p>
        </p:txBody>
      </p:sp>
      <p:pic>
        <p:nvPicPr>
          <p:cNvPr id="63" name="Image 5">
            <a:extLst>
              <a:ext uri="{FF2B5EF4-FFF2-40B4-BE49-F238E27FC236}">
                <a16:creationId xmlns:a16="http://schemas.microsoft.com/office/drawing/2014/main" id="{7986DB4B-C9CD-5DA0-70A2-9EACBCD71D7E}"/>
              </a:ext>
            </a:extLst>
          </p:cNvPr>
          <p:cNvPicPr>
            <a:picLocks noChangeAspect="1"/>
          </p:cNvPicPr>
          <p:nvPr/>
        </p:nvPicPr>
        <p:blipFill>
          <a:blip r:embed="rId9"/>
          <a:stretch>
            <a:fillRect/>
          </a:stretch>
        </p:blipFill>
        <p:spPr>
          <a:xfrm>
            <a:off x="6443472" y="2939796"/>
            <a:ext cx="201168" cy="201168"/>
          </a:xfrm>
          <a:prstGeom prst="rect">
            <a:avLst/>
          </a:prstGeom>
        </p:spPr>
      </p:pic>
      <p:sp>
        <p:nvSpPr>
          <p:cNvPr id="64" name="Text 18">
            <a:extLst>
              <a:ext uri="{FF2B5EF4-FFF2-40B4-BE49-F238E27FC236}">
                <a16:creationId xmlns:a16="http://schemas.microsoft.com/office/drawing/2014/main" id="{82EB47FE-65A4-ED2F-B3BB-9A6146619F38}"/>
              </a:ext>
            </a:extLst>
          </p:cNvPr>
          <p:cNvSpPr/>
          <p:nvPr/>
        </p:nvSpPr>
        <p:spPr>
          <a:xfrm>
            <a:off x="6882384" y="2784348"/>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Six months of unbroken growth</a:t>
            </a:r>
            <a:endParaRPr lang="en-US" sz="1300" dirty="0"/>
          </a:p>
        </p:txBody>
      </p:sp>
      <p:sp>
        <p:nvSpPr>
          <p:cNvPr id="65" name="Text 19">
            <a:extLst>
              <a:ext uri="{FF2B5EF4-FFF2-40B4-BE49-F238E27FC236}">
                <a16:creationId xmlns:a16="http://schemas.microsoft.com/office/drawing/2014/main" id="{BE0E4EBA-E72A-CC75-0A42-6FFC6B045E67}"/>
              </a:ext>
            </a:extLst>
          </p:cNvPr>
          <p:cNvSpPr/>
          <p:nvPr/>
        </p:nvSpPr>
        <p:spPr>
          <a:xfrm>
            <a:off x="6882384" y="3150108"/>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Revenue more than doubled from R81,678 in January to R166,486 in June — a +104% trajectory that shows no sign of slowing.</a:t>
            </a:r>
            <a:endParaRPr lang="en-US" sz="1000" dirty="0"/>
          </a:p>
        </p:txBody>
      </p:sp>
      <p:sp>
        <p:nvSpPr>
          <p:cNvPr id="66" name="Shape 20">
            <a:extLst>
              <a:ext uri="{FF2B5EF4-FFF2-40B4-BE49-F238E27FC236}">
                <a16:creationId xmlns:a16="http://schemas.microsoft.com/office/drawing/2014/main" id="{B46BC3F6-B20A-2D27-0875-D76348697398}"/>
              </a:ext>
            </a:extLst>
          </p:cNvPr>
          <p:cNvSpPr/>
          <p:nvPr/>
        </p:nvSpPr>
        <p:spPr>
          <a:xfrm>
            <a:off x="737616" y="4119372"/>
            <a:ext cx="5212080" cy="1298448"/>
          </a:xfrm>
          <a:prstGeom prst="roundRect">
            <a:avLst>
              <a:gd name="adj" fmla="val 6338"/>
            </a:avLst>
          </a:prstGeom>
          <a:solidFill>
            <a:srgbClr val="F2E6D8"/>
          </a:solidFill>
          <a:ln/>
          <a:effectLst>
            <a:outerShdw blurRad="88900" dist="38100" dir="2700000" algn="bl" rotWithShape="0">
              <a:srgbClr val="2E1A0F">
                <a:alpha val="18000"/>
              </a:srgbClr>
            </a:outerShdw>
          </a:effectLst>
        </p:spPr>
        <p:txBody>
          <a:bodyPr/>
          <a:lstStyle/>
          <a:p>
            <a:endParaRPr lang="en-ZA"/>
          </a:p>
        </p:txBody>
      </p:sp>
      <p:sp>
        <p:nvSpPr>
          <p:cNvPr id="67" name="Shape 21">
            <a:extLst>
              <a:ext uri="{FF2B5EF4-FFF2-40B4-BE49-F238E27FC236}">
                <a16:creationId xmlns:a16="http://schemas.microsoft.com/office/drawing/2014/main" id="{CCC740F3-8A2F-6974-346C-A9054531DD54}"/>
              </a:ext>
            </a:extLst>
          </p:cNvPr>
          <p:cNvSpPr/>
          <p:nvPr/>
        </p:nvSpPr>
        <p:spPr>
          <a:xfrm>
            <a:off x="902208" y="4283964"/>
            <a:ext cx="402336" cy="402336"/>
          </a:xfrm>
          <a:prstGeom prst="ellipse">
            <a:avLst/>
          </a:prstGeom>
          <a:solidFill>
            <a:srgbClr val="C17817"/>
          </a:solidFill>
          <a:ln/>
        </p:spPr>
        <p:txBody>
          <a:bodyPr/>
          <a:lstStyle/>
          <a:p>
            <a:endParaRPr lang="en-ZA"/>
          </a:p>
        </p:txBody>
      </p:sp>
      <p:pic>
        <p:nvPicPr>
          <p:cNvPr id="68" name="Image 6">
            <a:extLst>
              <a:ext uri="{FF2B5EF4-FFF2-40B4-BE49-F238E27FC236}">
                <a16:creationId xmlns:a16="http://schemas.microsoft.com/office/drawing/2014/main" id="{491BC898-D2EB-801D-5EBD-3E248FF153DC}"/>
              </a:ext>
            </a:extLst>
          </p:cNvPr>
          <p:cNvPicPr>
            <a:picLocks noChangeAspect="1"/>
          </p:cNvPicPr>
          <p:nvPr/>
        </p:nvPicPr>
        <p:blipFill>
          <a:blip r:embed="rId10"/>
          <a:stretch>
            <a:fillRect/>
          </a:stretch>
        </p:blipFill>
        <p:spPr>
          <a:xfrm>
            <a:off x="1002792" y="4384548"/>
            <a:ext cx="201168" cy="201168"/>
          </a:xfrm>
          <a:prstGeom prst="rect">
            <a:avLst/>
          </a:prstGeom>
        </p:spPr>
      </p:pic>
      <p:sp>
        <p:nvSpPr>
          <p:cNvPr id="69" name="Text 22">
            <a:extLst>
              <a:ext uri="{FF2B5EF4-FFF2-40B4-BE49-F238E27FC236}">
                <a16:creationId xmlns:a16="http://schemas.microsoft.com/office/drawing/2014/main" id="{AB5CB388-0770-C3AD-D14E-38D506F39A38}"/>
              </a:ext>
            </a:extLst>
          </p:cNvPr>
          <p:cNvSpPr/>
          <p:nvPr/>
        </p:nvSpPr>
        <p:spPr>
          <a:xfrm>
            <a:off x="1441704" y="4229100"/>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Single-item baskets are the norm</a:t>
            </a:r>
            <a:endParaRPr lang="en-US" sz="1300" dirty="0"/>
          </a:p>
        </p:txBody>
      </p:sp>
      <p:sp>
        <p:nvSpPr>
          <p:cNvPr id="70" name="Text 23">
            <a:extLst>
              <a:ext uri="{FF2B5EF4-FFF2-40B4-BE49-F238E27FC236}">
                <a16:creationId xmlns:a16="http://schemas.microsoft.com/office/drawing/2014/main" id="{10A8718C-9DC8-8229-D11E-FB2DD8D8E2B8}"/>
              </a:ext>
            </a:extLst>
          </p:cNvPr>
          <p:cNvSpPr/>
          <p:nvPr/>
        </p:nvSpPr>
        <p:spPr>
          <a:xfrm>
            <a:off x="1441704" y="4594860"/>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58.4% of transactions contain just one item. Lifting even half of those to two items would meaningfully raise the R4.66 average.</a:t>
            </a:r>
            <a:endParaRPr lang="en-US" sz="1000" dirty="0"/>
          </a:p>
        </p:txBody>
      </p:sp>
      <p:sp>
        <p:nvSpPr>
          <p:cNvPr id="71" name="Shape 24">
            <a:extLst>
              <a:ext uri="{FF2B5EF4-FFF2-40B4-BE49-F238E27FC236}">
                <a16:creationId xmlns:a16="http://schemas.microsoft.com/office/drawing/2014/main" id="{6C41642B-2CE5-7C41-B9B8-9DEB080AAD1F}"/>
              </a:ext>
            </a:extLst>
          </p:cNvPr>
          <p:cNvSpPr/>
          <p:nvPr/>
        </p:nvSpPr>
        <p:spPr>
          <a:xfrm>
            <a:off x="6178296" y="4119372"/>
            <a:ext cx="5212080" cy="1298448"/>
          </a:xfrm>
          <a:prstGeom prst="roundRect">
            <a:avLst>
              <a:gd name="adj" fmla="val 6338"/>
            </a:avLst>
          </a:prstGeom>
          <a:solidFill>
            <a:srgbClr val="F2E6D8"/>
          </a:solidFill>
          <a:ln/>
          <a:effectLst>
            <a:outerShdw blurRad="88900" dist="38100" dir="2700000" algn="bl" rotWithShape="0">
              <a:srgbClr val="2E1A0F">
                <a:alpha val="18000"/>
              </a:srgbClr>
            </a:outerShdw>
          </a:effectLst>
        </p:spPr>
        <p:txBody>
          <a:bodyPr/>
          <a:lstStyle/>
          <a:p>
            <a:endParaRPr lang="en-ZA"/>
          </a:p>
        </p:txBody>
      </p:sp>
      <p:sp>
        <p:nvSpPr>
          <p:cNvPr id="72" name="Shape 25">
            <a:extLst>
              <a:ext uri="{FF2B5EF4-FFF2-40B4-BE49-F238E27FC236}">
                <a16:creationId xmlns:a16="http://schemas.microsoft.com/office/drawing/2014/main" id="{10E5923B-B3CB-B1E9-0201-D7E4DE153A39}"/>
              </a:ext>
            </a:extLst>
          </p:cNvPr>
          <p:cNvSpPr/>
          <p:nvPr/>
        </p:nvSpPr>
        <p:spPr>
          <a:xfrm>
            <a:off x="6342888" y="4283964"/>
            <a:ext cx="402336" cy="402336"/>
          </a:xfrm>
          <a:prstGeom prst="ellipse">
            <a:avLst/>
          </a:prstGeom>
          <a:solidFill>
            <a:srgbClr val="C17817"/>
          </a:solidFill>
          <a:ln/>
        </p:spPr>
        <p:txBody>
          <a:bodyPr/>
          <a:lstStyle/>
          <a:p>
            <a:endParaRPr lang="en-ZA"/>
          </a:p>
        </p:txBody>
      </p:sp>
      <p:pic>
        <p:nvPicPr>
          <p:cNvPr id="73" name="Image 7">
            <a:extLst>
              <a:ext uri="{FF2B5EF4-FFF2-40B4-BE49-F238E27FC236}">
                <a16:creationId xmlns:a16="http://schemas.microsoft.com/office/drawing/2014/main" id="{16A10770-4F4A-9BEC-7113-522899AD0E2A}"/>
              </a:ext>
            </a:extLst>
          </p:cNvPr>
          <p:cNvPicPr>
            <a:picLocks noChangeAspect="1"/>
          </p:cNvPicPr>
          <p:nvPr/>
        </p:nvPicPr>
        <p:blipFill>
          <a:blip r:embed="rId11"/>
          <a:stretch>
            <a:fillRect/>
          </a:stretch>
        </p:blipFill>
        <p:spPr>
          <a:xfrm>
            <a:off x="6443472" y="4384548"/>
            <a:ext cx="201168" cy="201168"/>
          </a:xfrm>
          <a:prstGeom prst="rect">
            <a:avLst/>
          </a:prstGeom>
        </p:spPr>
      </p:pic>
      <p:sp>
        <p:nvSpPr>
          <p:cNvPr id="74" name="Text 26">
            <a:extLst>
              <a:ext uri="{FF2B5EF4-FFF2-40B4-BE49-F238E27FC236}">
                <a16:creationId xmlns:a16="http://schemas.microsoft.com/office/drawing/2014/main" id="{D2435456-77C5-3E9A-8F5C-FF34340CEA53}"/>
              </a:ext>
            </a:extLst>
          </p:cNvPr>
          <p:cNvSpPr/>
          <p:nvPr/>
        </p:nvSpPr>
        <p:spPr>
          <a:xfrm>
            <a:off x="6882384" y="4229100"/>
            <a:ext cx="4343400"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A2C1A"/>
                </a:solidFill>
                <a:latin typeface="Calibri" pitchFamily="34" charset="0"/>
                <a:ea typeface="Calibri" pitchFamily="34" charset="-122"/>
                <a:cs typeface="Calibri" pitchFamily="34" charset="-120"/>
              </a:rPr>
              <a:t>One product carries outsized weight</a:t>
            </a:r>
            <a:endParaRPr lang="en-US" sz="1300" dirty="0"/>
          </a:p>
        </p:txBody>
      </p:sp>
      <p:pic>
        <p:nvPicPr>
          <p:cNvPr id="78" name="Image 8">
            <a:extLst>
              <a:ext uri="{FF2B5EF4-FFF2-40B4-BE49-F238E27FC236}">
                <a16:creationId xmlns:a16="http://schemas.microsoft.com/office/drawing/2014/main" id="{A68D885F-4321-5339-BB31-61E1CB2307CD}"/>
              </a:ext>
            </a:extLst>
          </p:cNvPr>
          <p:cNvPicPr>
            <a:picLocks noChangeAspect="1"/>
          </p:cNvPicPr>
          <p:nvPr/>
        </p:nvPicPr>
        <p:blipFill>
          <a:blip r:embed="rId12"/>
          <a:stretch>
            <a:fillRect/>
          </a:stretch>
        </p:blipFill>
        <p:spPr>
          <a:xfrm>
            <a:off x="1002792" y="5792724"/>
            <a:ext cx="201168" cy="201168"/>
          </a:xfrm>
          <a:prstGeom prst="rect">
            <a:avLst/>
          </a:prstGeom>
        </p:spPr>
      </p:pic>
      <p:sp>
        <p:nvSpPr>
          <p:cNvPr id="79" name="Text 30">
            <a:extLst>
              <a:ext uri="{FF2B5EF4-FFF2-40B4-BE49-F238E27FC236}">
                <a16:creationId xmlns:a16="http://schemas.microsoft.com/office/drawing/2014/main" id="{F09EB648-BC66-BAC1-3FE0-D9C78F0AFAC5}"/>
              </a:ext>
            </a:extLst>
          </p:cNvPr>
          <p:cNvSpPr/>
          <p:nvPr/>
        </p:nvSpPr>
        <p:spPr>
          <a:xfrm>
            <a:off x="1450848" y="5618988"/>
            <a:ext cx="50292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Spend segments are hyper-concentrated</a:t>
            </a:r>
            <a:endParaRPr lang="en-US" sz="1300" dirty="0"/>
          </a:p>
        </p:txBody>
      </p:sp>
      <p:sp>
        <p:nvSpPr>
          <p:cNvPr id="81" name="Text 32">
            <a:extLst>
              <a:ext uri="{FF2B5EF4-FFF2-40B4-BE49-F238E27FC236}">
                <a16:creationId xmlns:a16="http://schemas.microsoft.com/office/drawing/2014/main" id="{5DA6A195-1A6A-DC23-5F9A-C82674050801}"/>
              </a:ext>
            </a:extLst>
          </p:cNvPr>
          <p:cNvSpPr/>
          <p:nvPr/>
        </p:nvSpPr>
        <p:spPr>
          <a:xfrm>
            <a:off x="463296" y="6542532"/>
            <a:ext cx="64008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82" name="Text 33">
            <a:extLst>
              <a:ext uri="{FF2B5EF4-FFF2-40B4-BE49-F238E27FC236}">
                <a16:creationId xmlns:a16="http://schemas.microsoft.com/office/drawing/2014/main" id="{4FA575C2-015B-C2A3-B593-26B52E548A02}"/>
              </a:ext>
            </a:extLst>
          </p:cNvPr>
          <p:cNvSpPr/>
          <p:nvPr/>
        </p:nvSpPr>
        <p:spPr>
          <a:xfrm>
            <a:off x="11024616" y="6350508"/>
            <a:ext cx="64008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rgbClr val="8A6A52"/>
                </a:solidFill>
                <a:latin typeface="Calibri" pitchFamily="34" charset="0"/>
                <a:ea typeface="Calibri" pitchFamily="34" charset="-122"/>
                <a:cs typeface="Calibri" pitchFamily="34" charset="-120"/>
              </a:rPr>
              <a:t>14 / 17</a:t>
            </a:r>
            <a:endParaRPr lang="en-US" sz="900" dirty="0"/>
          </a:p>
        </p:txBody>
      </p:sp>
      <p:sp>
        <p:nvSpPr>
          <p:cNvPr id="83" name="Shape 20">
            <a:extLst>
              <a:ext uri="{FF2B5EF4-FFF2-40B4-BE49-F238E27FC236}">
                <a16:creationId xmlns:a16="http://schemas.microsoft.com/office/drawing/2014/main" id="{AB0CA81E-0086-7EB5-7A8E-60E4A5AACA22}"/>
              </a:ext>
            </a:extLst>
          </p:cNvPr>
          <p:cNvSpPr/>
          <p:nvPr/>
        </p:nvSpPr>
        <p:spPr>
          <a:xfrm>
            <a:off x="737616" y="5612384"/>
            <a:ext cx="10652760" cy="768096"/>
          </a:xfrm>
          <a:prstGeom prst="roundRect">
            <a:avLst>
              <a:gd name="adj" fmla="val 6338"/>
            </a:avLst>
          </a:prstGeom>
          <a:solidFill>
            <a:srgbClr val="F2E6D8"/>
          </a:solidFill>
          <a:ln/>
          <a:effectLst>
            <a:outerShdw blurRad="88900" dist="38100" dir="2700000" algn="bl" rotWithShape="0">
              <a:srgbClr val="2E1A0F">
                <a:alpha val="18000"/>
              </a:srgbClr>
            </a:outerShdw>
          </a:effectLst>
        </p:spPr>
        <p:txBody>
          <a:bodyPr/>
          <a:lstStyle/>
          <a:p>
            <a:r>
              <a:rPr lang="en-US" sz="1300" b="1" dirty="0">
                <a:solidFill>
                  <a:srgbClr val="4A2C1A"/>
                </a:solidFill>
                <a:latin typeface="Calibri" pitchFamily="34" charset="0"/>
                <a:ea typeface="Calibri" pitchFamily="34" charset="-122"/>
                <a:cs typeface="Calibri" pitchFamily="34" charset="-120"/>
              </a:rPr>
              <a:t>Spend Segments are hyper-concentrated </a:t>
            </a:r>
            <a:endParaRPr lang="en-US" sz="1300" b="1" dirty="0"/>
          </a:p>
          <a:p>
            <a:r>
              <a:rPr lang="en-US" sz="1000" dirty="0">
                <a:solidFill>
                  <a:srgbClr val="8A6A52"/>
                </a:solidFill>
                <a:latin typeface="Calibri" pitchFamily="34" charset="0"/>
                <a:ea typeface="Calibri" pitchFamily="34" charset="-122"/>
                <a:cs typeface="Calibri" pitchFamily="34" charset="-120"/>
              </a:rPr>
              <a:t>Ultra Spenders exist only at Hell’s kitchen, buying bulk coffee beans. Medium Spenders exist only at Lower Manhattan, buying branded goods. Low spenders are majority and they spend across all three locations. </a:t>
            </a:r>
            <a:endParaRPr lang="en-US" sz="1000" dirty="0"/>
          </a:p>
          <a:p>
            <a:endParaRPr lang="en-ZA" dirty="0"/>
          </a:p>
        </p:txBody>
      </p:sp>
      <p:sp>
        <p:nvSpPr>
          <p:cNvPr id="84" name="Text 27">
            <a:extLst>
              <a:ext uri="{FF2B5EF4-FFF2-40B4-BE49-F238E27FC236}">
                <a16:creationId xmlns:a16="http://schemas.microsoft.com/office/drawing/2014/main" id="{08E2EC32-8A8B-0CD1-084F-C9A597F3BE90}"/>
              </a:ext>
            </a:extLst>
          </p:cNvPr>
          <p:cNvSpPr/>
          <p:nvPr/>
        </p:nvSpPr>
        <p:spPr>
          <a:xfrm>
            <a:off x="7034784" y="4747260"/>
            <a:ext cx="4343400"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000" dirty="0">
                <a:solidFill>
                  <a:srgbClr val="8A6A52"/>
                </a:solidFill>
                <a:latin typeface="Calibri" pitchFamily="34" charset="0"/>
                <a:ea typeface="Calibri" pitchFamily="34" charset="-122"/>
                <a:cs typeface="Calibri" pitchFamily="34" charset="-120"/>
              </a:rPr>
              <a:t>Barista Espresso (R91,406) alone out-earns the entire bottom 15 product types combined — protect it at all costs.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0" name="Shape 0">
            <a:extLst>
              <a:ext uri="{FF2B5EF4-FFF2-40B4-BE49-F238E27FC236}">
                <a16:creationId xmlns:a16="http://schemas.microsoft.com/office/drawing/2014/main" id="{9A48E82E-4327-BCC7-7083-4ECC01D7A38F}"/>
              </a:ext>
            </a:extLst>
          </p:cNvPr>
          <p:cNvSpPr/>
          <p:nvPr/>
        </p:nvSpPr>
        <p:spPr>
          <a:xfrm>
            <a:off x="463296" y="297180"/>
            <a:ext cx="566928" cy="566928"/>
          </a:xfrm>
          <a:prstGeom prst="ellipse">
            <a:avLst/>
          </a:prstGeom>
          <a:solidFill>
            <a:srgbClr val="C17817"/>
          </a:solidFill>
          <a:ln/>
        </p:spPr>
        <p:txBody>
          <a:bodyPr/>
          <a:lstStyle/>
          <a:p>
            <a:endParaRPr lang="en-ZA"/>
          </a:p>
        </p:txBody>
      </p:sp>
      <p:pic>
        <p:nvPicPr>
          <p:cNvPr id="31" name="Image 0">
            <a:extLst>
              <a:ext uri="{FF2B5EF4-FFF2-40B4-BE49-F238E27FC236}">
                <a16:creationId xmlns:a16="http://schemas.microsoft.com/office/drawing/2014/main" id="{52874D96-3A87-E591-0E31-83EDA068BDFD}"/>
              </a:ext>
            </a:extLst>
          </p:cNvPr>
          <p:cNvPicPr>
            <a:picLocks noChangeAspect="1"/>
          </p:cNvPicPr>
          <p:nvPr/>
        </p:nvPicPr>
        <p:blipFill>
          <a:blip r:embed="rId3"/>
          <a:stretch>
            <a:fillRect/>
          </a:stretch>
        </p:blipFill>
        <p:spPr>
          <a:xfrm>
            <a:off x="609600" y="443484"/>
            <a:ext cx="274320" cy="274320"/>
          </a:xfrm>
          <a:prstGeom prst="rect">
            <a:avLst/>
          </a:prstGeom>
        </p:spPr>
      </p:pic>
      <p:sp>
        <p:nvSpPr>
          <p:cNvPr id="32" name="Text 1">
            <a:extLst>
              <a:ext uri="{FF2B5EF4-FFF2-40B4-BE49-F238E27FC236}">
                <a16:creationId xmlns:a16="http://schemas.microsoft.com/office/drawing/2014/main" id="{59707782-55AF-A948-C4D9-581B6D808F8E}"/>
              </a:ext>
            </a:extLst>
          </p:cNvPr>
          <p:cNvSpPr/>
          <p:nvPr/>
        </p:nvSpPr>
        <p:spPr>
          <a:xfrm>
            <a:off x="1194816" y="297180"/>
            <a:ext cx="8229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kern="0" spc="200" dirty="0">
                <a:solidFill>
                  <a:srgbClr val="8A6A52"/>
                </a:solidFill>
                <a:latin typeface="Calibri" pitchFamily="34" charset="0"/>
                <a:ea typeface="Calibri" pitchFamily="34" charset="-122"/>
                <a:cs typeface="Calibri" pitchFamily="34" charset="-120"/>
              </a:rPr>
              <a:t>INSIGHTS &amp; RECOMMENDATIONS · 2 OF 3</a:t>
            </a:r>
            <a:endParaRPr lang="en-US" sz="1250" dirty="0"/>
          </a:p>
        </p:txBody>
      </p:sp>
      <p:sp>
        <p:nvSpPr>
          <p:cNvPr id="33" name="Text 2">
            <a:extLst>
              <a:ext uri="{FF2B5EF4-FFF2-40B4-BE49-F238E27FC236}">
                <a16:creationId xmlns:a16="http://schemas.microsoft.com/office/drawing/2014/main" id="{45A4B0DB-A8E6-3EBE-772F-8823BEE0CA80}"/>
              </a:ext>
            </a:extLst>
          </p:cNvPr>
          <p:cNvSpPr/>
          <p:nvPr/>
        </p:nvSpPr>
        <p:spPr>
          <a:xfrm>
            <a:off x="1176528" y="553212"/>
            <a:ext cx="960120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4A2C1A"/>
                </a:solidFill>
                <a:latin typeface="Cambria" pitchFamily="34" charset="0"/>
                <a:ea typeface="Cambria" pitchFamily="34" charset="-122"/>
                <a:cs typeface="Cambria" pitchFamily="34" charset="-120"/>
              </a:rPr>
              <a:t>Recommendations for the CEO</a:t>
            </a:r>
            <a:endParaRPr lang="en-US" sz="3000" dirty="0"/>
          </a:p>
        </p:txBody>
      </p:sp>
      <p:sp>
        <p:nvSpPr>
          <p:cNvPr id="34" name="Shape 3">
            <a:hlinkClick r:id="rId4" action="ppaction://hlinksldjump" tooltip="Back to Agenda"/>
            <a:extLst>
              <a:ext uri="{FF2B5EF4-FFF2-40B4-BE49-F238E27FC236}">
                <a16:creationId xmlns:a16="http://schemas.microsoft.com/office/drawing/2014/main" id="{942FD752-572A-4D6B-AC70-C86E16572EBD}"/>
              </a:ext>
            </a:extLst>
          </p:cNvPr>
          <p:cNvSpPr/>
          <p:nvPr/>
        </p:nvSpPr>
        <p:spPr>
          <a:xfrm>
            <a:off x="11344656" y="251460"/>
            <a:ext cx="384048" cy="384048"/>
          </a:xfrm>
          <a:prstGeom prst="ellipse">
            <a:avLst/>
          </a:prstGeom>
          <a:solidFill>
            <a:srgbClr val="F2E6D8"/>
          </a:solidFill>
          <a:ln w="12700">
            <a:solidFill>
              <a:srgbClr val="E7DCCB"/>
            </a:solidFill>
            <a:prstDash val="solid"/>
          </a:ln>
        </p:spPr>
        <p:txBody>
          <a:bodyPr/>
          <a:lstStyle/>
          <a:p>
            <a:endParaRPr lang="en-ZA"/>
          </a:p>
        </p:txBody>
      </p:sp>
      <p:pic>
        <p:nvPicPr>
          <p:cNvPr id="35" name="Image 1">
            <a:hlinkClick r:id="rId4" action="ppaction://hlinksldjump" tooltip="Back to Agenda"/>
            <a:extLst>
              <a:ext uri="{FF2B5EF4-FFF2-40B4-BE49-F238E27FC236}">
                <a16:creationId xmlns:a16="http://schemas.microsoft.com/office/drawing/2014/main" id="{66941780-7707-9DAE-1171-D46D5EDC0C12}"/>
              </a:ext>
            </a:extLst>
          </p:cNvPr>
          <p:cNvPicPr>
            <a:picLocks noChangeAspect="1"/>
          </p:cNvPicPr>
          <p:nvPr/>
        </p:nvPicPr>
        <p:blipFill>
          <a:blip r:embed="rId5"/>
          <a:stretch>
            <a:fillRect/>
          </a:stretch>
        </p:blipFill>
        <p:spPr>
          <a:xfrm>
            <a:off x="11445240" y="352044"/>
            <a:ext cx="182880" cy="182880"/>
          </a:xfrm>
          <a:prstGeom prst="rect">
            <a:avLst/>
          </a:prstGeom>
        </p:spPr>
      </p:pic>
      <p:sp>
        <p:nvSpPr>
          <p:cNvPr id="36" name="Shape 4">
            <a:extLst>
              <a:ext uri="{FF2B5EF4-FFF2-40B4-BE49-F238E27FC236}">
                <a16:creationId xmlns:a16="http://schemas.microsoft.com/office/drawing/2014/main" id="{1A86D574-D624-FE35-5394-5599C88E3068}"/>
              </a:ext>
            </a:extLst>
          </p:cNvPr>
          <p:cNvSpPr/>
          <p:nvPr/>
        </p:nvSpPr>
        <p:spPr>
          <a:xfrm>
            <a:off x="737616" y="1229868"/>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a:p>
        </p:txBody>
      </p:sp>
      <p:sp>
        <p:nvSpPr>
          <p:cNvPr id="37" name="Shape 5">
            <a:extLst>
              <a:ext uri="{FF2B5EF4-FFF2-40B4-BE49-F238E27FC236}">
                <a16:creationId xmlns:a16="http://schemas.microsoft.com/office/drawing/2014/main" id="{223D2510-3C2C-79BF-7CC2-42D73D6D900F}"/>
              </a:ext>
            </a:extLst>
          </p:cNvPr>
          <p:cNvSpPr/>
          <p:nvPr/>
        </p:nvSpPr>
        <p:spPr>
          <a:xfrm>
            <a:off x="920496" y="1412748"/>
            <a:ext cx="420624" cy="420624"/>
          </a:xfrm>
          <a:prstGeom prst="ellipse">
            <a:avLst/>
          </a:prstGeom>
          <a:solidFill>
            <a:srgbClr val="C17817"/>
          </a:solidFill>
          <a:ln/>
        </p:spPr>
        <p:txBody>
          <a:bodyPr/>
          <a:lstStyle/>
          <a:p>
            <a:endParaRPr lang="en-ZA"/>
          </a:p>
        </p:txBody>
      </p:sp>
      <p:pic>
        <p:nvPicPr>
          <p:cNvPr id="38" name="Image 2">
            <a:extLst>
              <a:ext uri="{FF2B5EF4-FFF2-40B4-BE49-F238E27FC236}">
                <a16:creationId xmlns:a16="http://schemas.microsoft.com/office/drawing/2014/main" id="{63ECAA9E-A929-4522-FFC0-046EB81ACA8B}"/>
              </a:ext>
            </a:extLst>
          </p:cNvPr>
          <p:cNvPicPr>
            <a:picLocks noChangeAspect="1"/>
          </p:cNvPicPr>
          <p:nvPr/>
        </p:nvPicPr>
        <p:blipFill>
          <a:blip r:embed="rId6"/>
          <a:stretch>
            <a:fillRect/>
          </a:stretch>
        </p:blipFill>
        <p:spPr>
          <a:xfrm>
            <a:off x="1030224" y="1522476"/>
            <a:ext cx="201168" cy="201168"/>
          </a:xfrm>
          <a:prstGeom prst="rect">
            <a:avLst/>
          </a:prstGeom>
        </p:spPr>
      </p:pic>
      <p:sp>
        <p:nvSpPr>
          <p:cNvPr id="39" name="Text 6">
            <a:extLst>
              <a:ext uri="{FF2B5EF4-FFF2-40B4-BE49-F238E27FC236}">
                <a16:creationId xmlns:a16="http://schemas.microsoft.com/office/drawing/2014/main" id="{EEE097CF-1B16-A7D4-421D-8A69A0636471}"/>
              </a:ext>
            </a:extLst>
          </p:cNvPr>
          <p:cNvSpPr/>
          <p:nvPr/>
        </p:nvSpPr>
        <p:spPr>
          <a:xfrm>
            <a:off x="1487424" y="1376172"/>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Activate the slow hours</a:t>
            </a:r>
            <a:endParaRPr lang="en-US" sz="1300" dirty="0"/>
          </a:p>
        </p:txBody>
      </p:sp>
      <p:sp>
        <p:nvSpPr>
          <p:cNvPr id="40" name="Text 7">
            <a:extLst>
              <a:ext uri="{FF2B5EF4-FFF2-40B4-BE49-F238E27FC236}">
                <a16:creationId xmlns:a16="http://schemas.microsoft.com/office/drawing/2014/main" id="{3FAC1A78-04FB-9457-EFF6-9C632DEE81C6}"/>
              </a:ext>
            </a:extLst>
          </p:cNvPr>
          <p:cNvSpPr/>
          <p:nvPr/>
        </p:nvSpPr>
        <p:spPr>
          <a:xfrm>
            <a:off x="993648" y="1824228"/>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Run after-work bundles or happy-hour pricing between 4–8pm — currently just 21% of daily revenue. A targeted promotion in this window is the fastest lever to lift daily revenue without touching the morning peak.</a:t>
            </a:r>
            <a:endParaRPr lang="en-US" sz="1000" dirty="0"/>
          </a:p>
        </p:txBody>
      </p:sp>
      <p:sp>
        <p:nvSpPr>
          <p:cNvPr id="41" name="Shape 8">
            <a:extLst>
              <a:ext uri="{FF2B5EF4-FFF2-40B4-BE49-F238E27FC236}">
                <a16:creationId xmlns:a16="http://schemas.microsoft.com/office/drawing/2014/main" id="{420E7675-C221-11D9-E703-4DA7188C85E5}"/>
              </a:ext>
            </a:extLst>
          </p:cNvPr>
          <p:cNvSpPr/>
          <p:nvPr/>
        </p:nvSpPr>
        <p:spPr>
          <a:xfrm>
            <a:off x="6178296" y="1229868"/>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a:p>
        </p:txBody>
      </p:sp>
      <p:sp>
        <p:nvSpPr>
          <p:cNvPr id="42" name="Shape 9">
            <a:extLst>
              <a:ext uri="{FF2B5EF4-FFF2-40B4-BE49-F238E27FC236}">
                <a16:creationId xmlns:a16="http://schemas.microsoft.com/office/drawing/2014/main" id="{D2016F09-7B9C-35BD-CBE8-3C853DE1F6C4}"/>
              </a:ext>
            </a:extLst>
          </p:cNvPr>
          <p:cNvSpPr/>
          <p:nvPr/>
        </p:nvSpPr>
        <p:spPr>
          <a:xfrm>
            <a:off x="6361176" y="1412748"/>
            <a:ext cx="420624" cy="420624"/>
          </a:xfrm>
          <a:prstGeom prst="ellipse">
            <a:avLst/>
          </a:prstGeom>
          <a:solidFill>
            <a:srgbClr val="C17817"/>
          </a:solidFill>
          <a:ln/>
        </p:spPr>
        <p:txBody>
          <a:bodyPr/>
          <a:lstStyle/>
          <a:p>
            <a:endParaRPr lang="en-ZA"/>
          </a:p>
        </p:txBody>
      </p:sp>
      <p:pic>
        <p:nvPicPr>
          <p:cNvPr id="43" name="Image 3">
            <a:extLst>
              <a:ext uri="{FF2B5EF4-FFF2-40B4-BE49-F238E27FC236}">
                <a16:creationId xmlns:a16="http://schemas.microsoft.com/office/drawing/2014/main" id="{4DFF796B-4777-531F-80D6-0B3FEE157E1C}"/>
              </a:ext>
            </a:extLst>
          </p:cNvPr>
          <p:cNvPicPr>
            <a:picLocks noChangeAspect="1"/>
          </p:cNvPicPr>
          <p:nvPr/>
        </p:nvPicPr>
        <p:blipFill>
          <a:blip r:embed="rId7"/>
          <a:stretch>
            <a:fillRect/>
          </a:stretch>
        </p:blipFill>
        <p:spPr>
          <a:xfrm>
            <a:off x="6470904" y="1522476"/>
            <a:ext cx="201168" cy="201168"/>
          </a:xfrm>
          <a:prstGeom prst="rect">
            <a:avLst/>
          </a:prstGeom>
        </p:spPr>
      </p:pic>
      <p:sp>
        <p:nvSpPr>
          <p:cNvPr id="44" name="Text 10">
            <a:extLst>
              <a:ext uri="{FF2B5EF4-FFF2-40B4-BE49-F238E27FC236}">
                <a16:creationId xmlns:a16="http://schemas.microsoft.com/office/drawing/2014/main" id="{644E544A-CD12-EEA1-F67C-5B25B871EC1E}"/>
              </a:ext>
            </a:extLst>
          </p:cNvPr>
          <p:cNvSpPr/>
          <p:nvPr/>
        </p:nvSpPr>
        <p:spPr>
          <a:xfrm>
            <a:off x="6928104" y="1376172"/>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Protect and expand the top four</a:t>
            </a:r>
            <a:endParaRPr lang="en-US" sz="1300" dirty="0"/>
          </a:p>
        </p:txBody>
      </p:sp>
      <p:sp>
        <p:nvSpPr>
          <p:cNvPr id="45" name="Text 11">
            <a:extLst>
              <a:ext uri="{FF2B5EF4-FFF2-40B4-BE49-F238E27FC236}">
                <a16:creationId xmlns:a16="http://schemas.microsoft.com/office/drawing/2014/main" id="{D567D5C0-9758-6DCA-F10B-B0256E8890FC}"/>
              </a:ext>
            </a:extLst>
          </p:cNvPr>
          <p:cNvSpPr/>
          <p:nvPr/>
        </p:nvSpPr>
        <p:spPr>
          <a:xfrm>
            <a:off x="6434328" y="1824228"/>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Barista Espresso, Brewed Chai Tea, Hot Chocolate and Gourmet Brewed Coffee drive the bulk of revenue. Prioritise their stock, staff training and visibility on the menu board at all three stores.</a:t>
            </a:r>
            <a:endParaRPr lang="en-US" sz="1000" dirty="0"/>
          </a:p>
        </p:txBody>
      </p:sp>
      <p:sp>
        <p:nvSpPr>
          <p:cNvPr id="46" name="Shape 12">
            <a:extLst>
              <a:ext uri="{FF2B5EF4-FFF2-40B4-BE49-F238E27FC236}">
                <a16:creationId xmlns:a16="http://schemas.microsoft.com/office/drawing/2014/main" id="{BCA848A7-382A-8C85-7301-8507DE134B0B}"/>
              </a:ext>
            </a:extLst>
          </p:cNvPr>
          <p:cNvSpPr/>
          <p:nvPr/>
        </p:nvSpPr>
        <p:spPr>
          <a:xfrm>
            <a:off x="737616" y="2976372"/>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dirty="0"/>
          </a:p>
        </p:txBody>
      </p:sp>
      <p:sp>
        <p:nvSpPr>
          <p:cNvPr id="47" name="Shape 13">
            <a:extLst>
              <a:ext uri="{FF2B5EF4-FFF2-40B4-BE49-F238E27FC236}">
                <a16:creationId xmlns:a16="http://schemas.microsoft.com/office/drawing/2014/main" id="{AA1572ED-4572-D24F-CB73-C5EDEEC54FF8}"/>
              </a:ext>
            </a:extLst>
          </p:cNvPr>
          <p:cNvSpPr/>
          <p:nvPr/>
        </p:nvSpPr>
        <p:spPr>
          <a:xfrm>
            <a:off x="920496" y="3159252"/>
            <a:ext cx="420624" cy="420624"/>
          </a:xfrm>
          <a:prstGeom prst="ellipse">
            <a:avLst/>
          </a:prstGeom>
          <a:solidFill>
            <a:srgbClr val="C17817"/>
          </a:solidFill>
          <a:ln/>
        </p:spPr>
        <p:txBody>
          <a:bodyPr/>
          <a:lstStyle/>
          <a:p>
            <a:endParaRPr lang="en-ZA"/>
          </a:p>
        </p:txBody>
      </p:sp>
      <p:pic>
        <p:nvPicPr>
          <p:cNvPr id="48" name="Image 4">
            <a:extLst>
              <a:ext uri="{FF2B5EF4-FFF2-40B4-BE49-F238E27FC236}">
                <a16:creationId xmlns:a16="http://schemas.microsoft.com/office/drawing/2014/main" id="{69984987-22CB-6A14-3A5F-687C2B67E907}"/>
              </a:ext>
            </a:extLst>
          </p:cNvPr>
          <p:cNvPicPr>
            <a:picLocks noChangeAspect="1"/>
          </p:cNvPicPr>
          <p:nvPr/>
        </p:nvPicPr>
        <p:blipFill>
          <a:blip r:embed="rId8"/>
          <a:stretch>
            <a:fillRect/>
          </a:stretch>
        </p:blipFill>
        <p:spPr>
          <a:xfrm>
            <a:off x="1030224" y="3268980"/>
            <a:ext cx="201168" cy="201168"/>
          </a:xfrm>
          <a:prstGeom prst="rect">
            <a:avLst/>
          </a:prstGeom>
        </p:spPr>
      </p:pic>
      <p:sp>
        <p:nvSpPr>
          <p:cNvPr id="49" name="Text 14">
            <a:extLst>
              <a:ext uri="{FF2B5EF4-FFF2-40B4-BE49-F238E27FC236}">
                <a16:creationId xmlns:a16="http://schemas.microsoft.com/office/drawing/2014/main" id="{1143883B-E10A-14FA-D472-23D3A04514C2}"/>
              </a:ext>
            </a:extLst>
          </p:cNvPr>
          <p:cNvSpPr/>
          <p:nvPr/>
        </p:nvSpPr>
        <p:spPr>
          <a:xfrm>
            <a:off x="1487424" y="3122676"/>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Rescue or retire the tail</a:t>
            </a:r>
            <a:endParaRPr lang="en-US" sz="1300" dirty="0"/>
          </a:p>
        </p:txBody>
      </p:sp>
      <p:sp>
        <p:nvSpPr>
          <p:cNvPr id="50" name="Text 15">
            <a:extLst>
              <a:ext uri="{FF2B5EF4-FFF2-40B4-BE49-F238E27FC236}">
                <a16:creationId xmlns:a16="http://schemas.microsoft.com/office/drawing/2014/main" id="{3781C4A6-0010-93F9-AB42-FEAE77F05961}"/>
              </a:ext>
            </a:extLst>
          </p:cNvPr>
          <p:cNvSpPr/>
          <p:nvPr/>
        </p:nvSpPr>
        <p:spPr>
          <a:xfrm>
            <a:off x="993648" y="3570732"/>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Bundle Earl Grey, Lemon Grass and small Dark Chocolate with bestsellers, or feature them in a limited seasonal special. If velocity doesn't improve within 90 days, consider delisting to simplify the menu.</a:t>
            </a:r>
            <a:endParaRPr lang="en-US" sz="1000" dirty="0"/>
          </a:p>
        </p:txBody>
      </p:sp>
      <p:sp>
        <p:nvSpPr>
          <p:cNvPr id="51" name="Shape 16">
            <a:extLst>
              <a:ext uri="{FF2B5EF4-FFF2-40B4-BE49-F238E27FC236}">
                <a16:creationId xmlns:a16="http://schemas.microsoft.com/office/drawing/2014/main" id="{FFE90EEA-DD9F-3118-4397-CF680151F520}"/>
              </a:ext>
            </a:extLst>
          </p:cNvPr>
          <p:cNvSpPr/>
          <p:nvPr/>
        </p:nvSpPr>
        <p:spPr>
          <a:xfrm>
            <a:off x="6178296" y="2976372"/>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a:p>
        </p:txBody>
      </p:sp>
      <p:sp>
        <p:nvSpPr>
          <p:cNvPr id="52" name="Shape 17">
            <a:extLst>
              <a:ext uri="{FF2B5EF4-FFF2-40B4-BE49-F238E27FC236}">
                <a16:creationId xmlns:a16="http://schemas.microsoft.com/office/drawing/2014/main" id="{5D8F8C4C-3C8A-F878-4A66-9AACF1EB8BC8}"/>
              </a:ext>
            </a:extLst>
          </p:cNvPr>
          <p:cNvSpPr/>
          <p:nvPr/>
        </p:nvSpPr>
        <p:spPr>
          <a:xfrm>
            <a:off x="6361176" y="3159252"/>
            <a:ext cx="420624" cy="420624"/>
          </a:xfrm>
          <a:prstGeom prst="ellipse">
            <a:avLst/>
          </a:prstGeom>
          <a:solidFill>
            <a:srgbClr val="C17817"/>
          </a:solidFill>
          <a:ln/>
        </p:spPr>
        <p:txBody>
          <a:bodyPr/>
          <a:lstStyle/>
          <a:p>
            <a:endParaRPr lang="en-ZA"/>
          </a:p>
        </p:txBody>
      </p:sp>
      <p:pic>
        <p:nvPicPr>
          <p:cNvPr id="53" name="Image 5">
            <a:extLst>
              <a:ext uri="{FF2B5EF4-FFF2-40B4-BE49-F238E27FC236}">
                <a16:creationId xmlns:a16="http://schemas.microsoft.com/office/drawing/2014/main" id="{587F3A52-7F20-B97E-A183-3490256A6E6F}"/>
              </a:ext>
            </a:extLst>
          </p:cNvPr>
          <p:cNvPicPr>
            <a:picLocks noChangeAspect="1"/>
          </p:cNvPicPr>
          <p:nvPr/>
        </p:nvPicPr>
        <p:blipFill>
          <a:blip r:embed="rId9"/>
          <a:stretch>
            <a:fillRect/>
          </a:stretch>
        </p:blipFill>
        <p:spPr>
          <a:xfrm>
            <a:off x="6470904" y="3268980"/>
            <a:ext cx="201168" cy="201168"/>
          </a:xfrm>
          <a:prstGeom prst="rect">
            <a:avLst/>
          </a:prstGeom>
        </p:spPr>
      </p:pic>
      <p:sp>
        <p:nvSpPr>
          <p:cNvPr id="54" name="Text 18">
            <a:extLst>
              <a:ext uri="{FF2B5EF4-FFF2-40B4-BE49-F238E27FC236}">
                <a16:creationId xmlns:a16="http://schemas.microsoft.com/office/drawing/2014/main" id="{0B032A3C-57F0-BE27-2A05-002A4BEAC4E7}"/>
              </a:ext>
            </a:extLst>
          </p:cNvPr>
          <p:cNvSpPr/>
          <p:nvPr/>
        </p:nvSpPr>
        <p:spPr>
          <a:xfrm>
            <a:off x="6928104" y="3122676"/>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Build a second-item habit</a:t>
            </a:r>
            <a:endParaRPr lang="en-US" sz="1300" dirty="0"/>
          </a:p>
        </p:txBody>
      </p:sp>
      <p:sp>
        <p:nvSpPr>
          <p:cNvPr id="55" name="Text 19">
            <a:extLst>
              <a:ext uri="{FF2B5EF4-FFF2-40B4-BE49-F238E27FC236}">
                <a16:creationId xmlns:a16="http://schemas.microsoft.com/office/drawing/2014/main" id="{3234FBB2-B3AE-500D-CB38-69FF39F646D5}"/>
              </a:ext>
            </a:extLst>
          </p:cNvPr>
          <p:cNvSpPr/>
          <p:nvPr/>
        </p:nvSpPr>
        <p:spPr>
          <a:xfrm>
            <a:off x="6434328" y="3570732"/>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58.4% of transactions are single items. Train staff to suggest one complementary add-on at every till — a scone with an espresso, or a flavour shot with a tea. Even a 10% conversion rate lifts average basket materially.</a:t>
            </a:r>
            <a:endParaRPr lang="en-US" sz="1000" dirty="0"/>
          </a:p>
        </p:txBody>
      </p:sp>
      <p:sp>
        <p:nvSpPr>
          <p:cNvPr id="56" name="Shape 20">
            <a:extLst>
              <a:ext uri="{FF2B5EF4-FFF2-40B4-BE49-F238E27FC236}">
                <a16:creationId xmlns:a16="http://schemas.microsoft.com/office/drawing/2014/main" id="{9F12B68F-9D2F-312D-1A59-9C41267DA72A}"/>
              </a:ext>
            </a:extLst>
          </p:cNvPr>
          <p:cNvSpPr/>
          <p:nvPr/>
        </p:nvSpPr>
        <p:spPr>
          <a:xfrm>
            <a:off x="737616" y="4722876"/>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a:p>
        </p:txBody>
      </p:sp>
      <p:sp>
        <p:nvSpPr>
          <p:cNvPr id="57" name="Shape 21">
            <a:extLst>
              <a:ext uri="{FF2B5EF4-FFF2-40B4-BE49-F238E27FC236}">
                <a16:creationId xmlns:a16="http://schemas.microsoft.com/office/drawing/2014/main" id="{CC4899F9-6CAD-B2C6-BAA1-975E60124F9E}"/>
              </a:ext>
            </a:extLst>
          </p:cNvPr>
          <p:cNvSpPr/>
          <p:nvPr/>
        </p:nvSpPr>
        <p:spPr>
          <a:xfrm>
            <a:off x="920496" y="4905756"/>
            <a:ext cx="420624" cy="420624"/>
          </a:xfrm>
          <a:prstGeom prst="ellipse">
            <a:avLst/>
          </a:prstGeom>
          <a:solidFill>
            <a:srgbClr val="C17817"/>
          </a:solidFill>
          <a:ln/>
        </p:spPr>
        <p:txBody>
          <a:bodyPr/>
          <a:lstStyle/>
          <a:p>
            <a:endParaRPr lang="en-ZA"/>
          </a:p>
        </p:txBody>
      </p:sp>
      <p:pic>
        <p:nvPicPr>
          <p:cNvPr id="58" name="Image 6">
            <a:extLst>
              <a:ext uri="{FF2B5EF4-FFF2-40B4-BE49-F238E27FC236}">
                <a16:creationId xmlns:a16="http://schemas.microsoft.com/office/drawing/2014/main" id="{1986580C-1BD2-A1CA-785B-B5232580CACF}"/>
              </a:ext>
            </a:extLst>
          </p:cNvPr>
          <p:cNvPicPr>
            <a:picLocks noChangeAspect="1"/>
          </p:cNvPicPr>
          <p:nvPr/>
        </p:nvPicPr>
        <p:blipFill>
          <a:blip r:embed="rId10"/>
          <a:stretch>
            <a:fillRect/>
          </a:stretch>
        </p:blipFill>
        <p:spPr>
          <a:xfrm>
            <a:off x="1030224" y="5015484"/>
            <a:ext cx="201168" cy="201168"/>
          </a:xfrm>
          <a:prstGeom prst="rect">
            <a:avLst/>
          </a:prstGeom>
        </p:spPr>
      </p:pic>
      <p:sp>
        <p:nvSpPr>
          <p:cNvPr id="59" name="Text 22">
            <a:extLst>
              <a:ext uri="{FF2B5EF4-FFF2-40B4-BE49-F238E27FC236}">
                <a16:creationId xmlns:a16="http://schemas.microsoft.com/office/drawing/2014/main" id="{1513F327-CCC9-419B-7B72-CDDCB83F750F}"/>
              </a:ext>
            </a:extLst>
          </p:cNvPr>
          <p:cNvSpPr/>
          <p:nvPr/>
        </p:nvSpPr>
        <p:spPr>
          <a:xfrm>
            <a:off x="1487424" y="4869180"/>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Nurture your Ultra Spenders at Hell's Kitchen</a:t>
            </a:r>
            <a:endParaRPr lang="en-US" sz="1300" dirty="0"/>
          </a:p>
        </p:txBody>
      </p:sp>
      <p:sp>
        <p:nvSpPr>
          <p:cNvPr id="60" name="Text 23">
            <a:extLst>
              <a:ext uri="{FF2B5EF4-FFF2-40B4-BE49-F238E27FC236}">
                <a16:creationId xmlns:a16="http://schemas.microsoft.com/office/drawing/2014/main" id="{3927DFDC-E7EF-B847-330E-A0BDADD4C560}"/>
              </a:ext>
            </a:extLst>
          </p:cNvPr>
          <p:cNvSpPr/>
          <p:nvPr/>
        </p:nvSpPr>
        <p:spPr>
          <a:xfrm>
            <a:off x="993648" y="5317236"/>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Ten Ultra Spender transactions averaging R360 are already happening exclusively at Hell's Kitchen. A private, invite-only premium bean subscription or tasting event could formalise and grow this high-value niche. Do not overstock on coffee beans at the other two locations , as they do not receive any sales</a:t>
            </a:r>
            <a:endParaRPr lang="en-US" sz="1000" dirty="0"/>
          </a:p>
        </p:txBody>
      </p:sp>
      <p:sp>
        <p:nvSpPr>
          <p:cNvPr id="61" name="Shape 24">
            <a:extLst>
              <a:ext uri="{FF2B5EF4-FFF2-40B4-BE49-F238E27FC236}">
                <a16:creationId xmlns:a16="http://schemas.microsoft.com/office/drawing/2014/main" id="{49D32F3E-F46A-4C3C-EDA9-41BA675240D9}"/>
              </a:ext>
            </a:extLst>
          </p:cNvPr>
          <p:cNvSpPr/>
          <p:nvPr/>
        </p:nvSpPr>
        <p:spPr>
          <a:xfrm>
            <a:off x="6178296" y="4722876"/>
            <a:ext cx="5212080" cy="1600200"/>
          </a:xfrm>
          <a:prstGeom prst="roundRect">
            <a:avLst>
              <a:gd name="adj" fmla="val 5143"/>
            </a:avLst>
          </a:prstGeom>
          <a:solidFill>
            <a:srgbClr val="4A2C1A"/>
          </a:solidFill>
          <a:ln/>
          <a:effectLst>
            <a:outerShdw blurRad="88900" dist="38100" dir="2700000" algn="bl" rotWithShape="0">
              <a:srgbClr val="2E1A0F">
                <a:alpha val="18000"/>
              </a:srgbClr>
            </a:outerShdw>
          </a:effectLst>
        </p:spPr>
        <p:txBody>
          <a:bodyPr/>
          <a:lstStyle/>
          <a:p>
            <a:endParaRPr lang="en-ZA"/>
          </a:p>
        </p:txBody>
      </p:sp>
      <p:sp>
        <p:nvSpPr>
          <p:cNvPr id="62" name="Shape 25">
            <a:extLst>
              <a:ext uri="{FF2B5EF4-FFF2-40B4-BE49-F238E27FC236}">
                <a16:creationId xmlns:a16="http://schemas.microsoft.com/office/drawing/2014/main" id="{C090E684-ADFD-FCE0-F942-0E45EDB44114}"/>
              </a:ext>
            </a:extLst>
          </p:cNvPr>
          <p:cNvSpPr/>
          <p:nvPr/>
        </p:nvSpPr>
        <p:spPr>
          <a:xfrm>
            <a:off x="6361176" y="4905756"/>
            <a:ext cx="420624" cy="420624"/>
          </a:xfrm>
          <a:prstGeom prst="ellipse">
            <a:avLst/>
          </a:prstGeom>
          <a:solidFill>
            <a:srgbClr val="C17817"/>
          </a:solidFill>
          <a:ln/>
        </p:spPr>
        <p:txBody>
          <a:bodyPr/>
          <a:lstStyle/>
          <a:p>
            <a:endParaRPr lang="en-ZA"/>
          </a:p>
        </p:txBody>
      </p:sp>
      <p:pic>
        <p:nvPicPr>
          <p:cNvPr id="63" name="Image 7">
            <a:extLst>
              <a:ext uri="{FF2B5EF4-FFF2-40B4-BE49-F238E27FC236}">
                <a16:creationId xmlns:a16="http://schemas.microsoft.com/office/drawing/2014/main" id="{70FB5161-320F-ECE9-E679-0AC1D5682606}"/>
              </a:ext>
            </a:extLst>
          </p:cNvPr>
          <p:cNvPicPr>
            <a:picLocks noChangeAspect="1"/>
          </p:cNvPicPr>
          <p:nvPr/>
        </p:nvPicPr>
        <p:blipFill>
          <a:blip r:embed="rId11"/>
          <a:stretch>
            <a:fillRect/>
          </a:stretch>
        </p:blipFill>
        <p:spPr>
          <a:xfrm>
            <a:off x="6470904" y="5015484"/>
            <a:ext cx="201168" cy="201168"/>
          </a:xfrm>
          <a:prstGeom prst="rect">
            <a:avLst/>
          </a:prstGeom>
        </p:spPr>
      </p:pic>
      <p:sp>
        <p:nvSpPr>
          <p:cNvPr id="64" name="Text 26">
            <a:extLst>
              <a:ext uri="{FF2B5EF4-FFF2-40B4-BE49-F238E27FC236}">
                <a16:creationId xmlns:a16="http://schemas.microsoft.com/office/drawing/2014/main" id="{7D2C86BA-0A6A-4E85-37BF-3851825438D2}"/>
              </a:ext>
            </a:extLst>
          </p:cNvPr>
          <p:cNvSpPr/>
          <p:nvPr/>
        </p:nvSpPr>
        <p:spPr>
          <a:xfrm>
            <a:off x="6928104" y="4869180"/>
            <a:ext cx="4251960" cy="4023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Leverage Lower Manhattan for Branded sales</a:t>
            </a:r>
            <a:endParaRPr lang="en-US" sz="1300" dirty="0"/>
          </a:p>
        </p:txBody>
      </p:sp>
      <p:sp>
        <p:nvSpPr>
          <p:cNvPr id="65" name="Text 27">
            <a:extLst>
              <a:ext uri="{FF2B5EF4-FFF2-40B4-BE49-F238E27FC236}">
                <a16:creationId xmlns:a16="http://schemas.microsoft.com/office/drawing/2014/main" id="{4CE80485-1C8B-2ADA-2F4F-161E47833743}"/>
              </a:ext>
            </a:extLst>
          </p:cNvPr>
          <p:cNvSpPr/>
          <p:nvPr/>
        </p:nvSpPr>
        <p:spPr>
          <a:xfrm>
            <a:off x="6434328" y="5317236"/>
            <a:ext cx="4709160" cy="94183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dirty="0">
                <a:solidFill>
                  <a:srgbClr val="F7EFE3"/>
                </a:solidFill>
                <a:latin typeface="Calibri" pitchFamily="34" charset="0"/>
                <a:ea typeface="Calibri" pitchFamily="34" charset="-122"/>
                <a:cs typeface="Calibri" pitchFamily="34" charset="-120"/>
              </a:rPr>
              <a:t>All Medium Spender purchases (Branded merchandise, avg R65.60) happen only at Lower Manhattan. That store is the natural home for a merch display expansion — gift sets, branded travel cups, seasonal bundles.</a:t>
            </a:r>
            <a:endParaRPr lang="en-US" sz="1000" dirty="0"/>
          </a:p>
        </p:txBody>
      </p:sp>
      <p:sp>
        <p:nvSpPr>
          <p:cNvPr id="66" name="Text 28">
            <a:extLst>
              <a:ext uri="{FF2B5EF4-FFF2-40B4-BE49-F238E27FC236}">
                <a16:creationId xmlns:a16="http://schemas.microsoft.com/office/drawing/2014/main" id="{79E204B2-6CF8-8CD8-D34B-6C08088269FA}"/>
              </a:ext>
            </a:extLst>
          </p:cNvPr>
          <p:cNvSpPr/>
          <p:nvPr/>
        </p:nvSpPr>
        <p:spPr>
          <a:xfrm>
            <a:off x="463296" y="6350508"/>
            <a:ext cx="64008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67" name="Text 29">
            <a:extLst>
              <a:ext uri="{FF2B5EF4-FFF2-40B4-BE49-F238E27FC236}">
                <a16:creationId xmlns:a16="http://schemas.microsoft.com/office/drawing/2014/main" id="{3FC27666-AEA1-8DFD-8B40-AD5A72584178}"/>
              </a:ext>
            </a:extLst>
          </p:cNvPr>
          <p:cNvSpPr/>
          <p:nvPr/>
        </p:nvSpPr>
        <p:spPr>
          <a:xfrm>
            <a:off x="11024616" y="6350508"/>
            <a:ext cx="64008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rgbClr val="8A6A52"/>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E9C3-E72B-3D25-78FE-6583F9707C78}"/>
            </a:ext>
          </a:extLst>
        </p:cNvPr>
        <p:cNvGrpSpPr/>
        <p:nvPr/>
      </p:nvGrpSpPr>
      <p:grpSpPr>
        <a:xfrm>
          <a:off x="0" y="0"/>
          <a:ext cx="0" cy="0"/>
          <a:chOff x="0" y="0"/>
          <a:chExt cx="0" cy="0"/>
        </a:xfrm>
      </p:grpSpPr>
      <p:sp>
        <p:nvSpPr>
          <p:cNvPr id="28" name="Text 20">
            <a:extLst>
              <a:ext uri="{FF2B5EF4-FFF2-40B4-BE49-F238E27FC236}">
                <a16:creationId xmlns:a16="http://schemas.microsoft.com/office/drawing/2014/main" id="{A684EE2A-851C-7F4D-D7BD-FE0BD1653A9E}"/>
              </a:ext>
            </a:extLst>
          </p:cNvPr>
          <p:cNvSpPr/>
          <p:nvPr/>
        </p:nvSpPr>
        <p:spPr>
          <a:xfrm>
            <a:off x="602758" y="6614751"/>
            <a:ext cx="6400800" cy="256032"/>
          </a:xfrm>
          <a:prstGeom prst="rect">
            <a:avLst/>
          </a:prstGeom>
          <a:noFill/>
          <a:ln/>
        </p:spPr>
        <p:txBody>
          <a:bodyPr wrap="square" lIns="0" tIns="0" rIns="0" bIns="0" rtlCol="0" anchor="ctr"/>
          <a:lstStyle/>
          <a:p>
            <a:pPr marL="0" indent="0">
              <a:buNone/>
            </a:pPr>
            <a:r>
              <a:rPr lang="en-US" sz="900" kern="0" spc="100" dirty="0">
                <a:solidFill>
                  <a:srgbClr val="8A6A52"/>
                </a:solidFill>
                <a:latin typeface="Calibri" pitchFamily="34" charset="0"/>
                <a:ea typeface="Calibri" pitchFamily="34" charset="-122"/>
                <a:cs typeface="Calibri" pitchFamily="34" charset="-120"/>
              </a:rPr>
              <a:t>BRIGHT COFFEE SHOP  ·  SALES ANALYSIS 2026</a:t>
            </a:r>
            <a:endParaRPr lang="en-US" sz="900" dirty="0"/>
          </a:p>
        </p:txBody>
      </p:sp>
      <p:sp>
        <p:nvSpPr>
          <p:cNvPr id="29" name="Text 21">
            <a:extLst>
              <a:ext uri="{FF2B5EF4-FFF2-40B4-BE49-F238E27FC236}">
                <a16:creationId xmlns:a16="http://schemas.microsoft.com/office/drawing/2014/main" id="{C3A32363-D009-B219-6139-AE7C46F318AD}"/>
              </a:ext>
            </a:extLst>
          </p:cNvPr>
          <p:cNvSpPr/>
          <p:nvPr/>
        </p:nvSpPr>
        <p:spPr>
          <a:xfrm>
            <a:off x="11130550" y="6614751"/>
            <a:ext cx="640080" cy="256032"/>
          </a:xfrm>
          <a:prstGeom prst="rect">
            <a:avLst/>
          </a:prstGeom>
          <a:noFill/>
          <a:ln/>
        </p:spPr>
        <p:txBody>
          <a:bodyPr wrap="square" lIns="0" tIns="0" rIns="0" bIns="0" rtlCol="0" anchor="ctr"/>
          <a:lstStyle/>
          <a:p>
            <a:pPr marL="0" indent="0" algn="r">
              <a:buNone/>
            </a:pPr>
            <a:r>
              <a:rPr lang="en-US" sz="900" dirty="0">
                <a:solidFill>
                  <a:srgbClr val="8A6A52"/>
                </a:solidFill>
                <a:latin typeface="Calibri" pitchFamily="34" charset="0"/>
                <a:ea typeface="Calibri" pitchFamily="34" charset="-122"/>
                <a:cs typeface="Calibri" pitchFamily="34" charset="-120"/>
              </a:rPr>
              <a:t>16 / 17</a:t>
            </a:r>
            <a:endParaRPr lang="en-US" sz="900" dirty="0"/>
          </a:p>
        </p:txBody>
      </p:sp>
      <p:sp>
        <p:nvSpPr>
          <p:cNvPr id="30" name="Shape 0">
            <a:extLst>
              <a:ext uri="{FF2B5EF4-FFF2-40B4-BE49-F238E27FC236}">
                <a16:creationId xmlns:a16="http://schemas.microsoft.com/office/drawing/2014/main" id="{07F6629D-1A74-7F09-067E-F937E5FEBFF7}"/>
              </a:ext>
            </a:extLst>
          </p:cNvPr>
          <p:cNvSpPr/>
          <p:nvPr/>
        </p:nvSpPr>
        <p:spPr>
          <a:xfrm>
            <a:off x="557038" y="181947"/>
            <a:ext cx="566928" cy="566928"/>
          </a:xfrm>
          <a:prstGeom prst="ellipse">
            <a:avLst/>
          </a:prstGeom>
          <a:solidFill>
            <a:srgbClr val="C17817"/>
          </a:solidFill>
          <a:ln/>
        </p:spPr>
        <p:txBody>
          <a:bodyPr/>
          <a:lstStyle/>
          <a:p>
            <a:endParaRPr lang="en-ZA"/>
          </a:p>
        </p:txBody>
      </p:sp>
      <p:pic>
        <p:nvPicPr>
          <p:cNvPr id="31" name="Image 0">
            <a:extLst>
              <a:ext uri="{FF2B5EF4-FFF2-40B4-BE49-F238E27FC236}">
                <a16:creationId xmlns:a16="http://schemas.microsoft.com/office/drawing/2014/main" id="{A92B5620-C7EB-6EDF-2E7F-48E5F8ABAED8}"/>
              </a:ext>
            </a:extLst>
          </p:cNvPr>
          <p:cNvPicPr>
            <a:picLocks noChangeAspect="1"/>
          </p:cNvPicPr>
          <p:nvPr/>
        </p:nvPicPr>
        <p:blipFill>
          <a:blip r:embed="rId3"/>
          <a:stretch>
            <a:fillRect/>
          </a:stretch>
        </p:blipFill>
        <p:spPr>
          <a:xfrm>
            <a:off x="703342" y="355683"/>
            <a:ext cx="274320" cy="274320"/>
          </a:xfrm>
          <a:prstGeom prst="rect">
            <a:avLst/>
          </a:prstGeom>
        </p:spPr>
      </p:pic>
      <p:sp>
        <p:nvSpPr>
          <p:cNvPr id="32" name="Text 1">
            <a:extLst>
              <a:ext uri="{FF2B5EF4-FFF2-40B4-BE49-F238E27FC236}">
                <a16:creationId xmlns:a16="http://schemas.microsoft.com/office/drawing/2014/main" id="{08EB184A-782D-3CF2-3380-06147093AF2C}"/>
              </a:ext>
            </a:extLst>
          </p:cNvPr>
          <p:cNvSpPr/>
          <p:nvPr/>
        </p:nvSpPr>
        <p:spPr>
          <a:xfrm>
            <a:off x="1242838" y="154515"/>
            <a:ext cx="8229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kern="0" spc="200" dirty="0">
                <a:solidFill>
                  <a:srgbClr val="8A6A52"/>
                </a:solidFill>
                <a:latin typeface="Calibri" pitchFamily="34" charset="0"/>
                <a:ea typeface="Calibri" pitchFamily="34" charset="-122"/>
                <a:cs typeface="Calibri" pitchFamily="34" charset="-120"/>
              </a:rPr>
              <a:t>INSIGHTS &amp; RECOMMENDATIONS · 3 OF 3</a:t>
            </a:r>
            <a:endParaRPr lang="en-US" sz="1250" dirty="0"/>
          </a:p>
        </p:txBody>
      </p:sp>
      <p:sp>
        <p:nvSpPr>
          <p:cNvPr id="33" name="Text 2">
            <a:extLst>
              <a:ext uri="{FF2B5EF4-FFF2-40B4-BE49-F238E27FC236}">
                <a16:creationId xmlns:a16="http://schemas.microsoft.com/office/drawing/2014/main" id="{0DA625ED-6686-01CB-50FA-3D509F2D13B6}"/>
              </a:ext>
            </a:extLst>
          </p:cNvPr>
          <p:cNvSpPr/>
          <p:nvPr/>
        </p:nvSpPr>
        <p:spPr>
          <a:xfrm>
            <a:off x="1224550" y="410547"/>
            <a:ext cx="960120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4A2C1A"/>
                </a:solidFill>
                <a:latin typeface="Cambria" pitchFamily="34" charset="0"/>
                <a:ea typeface="Cambria" pitchFamily="34" charset="-122"/>
                <a:cs typeface="Cambria" pitchFamily="34" charset="-120"/>
              </a:rPr>
              <a:t>Next Steps</a:t>
            </a:r>
            <a:endParaRPr lang="en-US" sz="3000" dirty="0"/>
          </a:p>
        </p:txBody>
      </p:sp>
      <p:sp>
        <p:nvSpPr>
          <p:cNvPr id="34" name="Shape 3">
            <a:hlinkClick r:id="rId4" action="ppaction://hlinksldjump" tooltip="Back to Agenda"/>
            <a:extLst>
              <a:ext uri="{FF2B5EF4-FFF2-40B4-BE49-F238E27FC236}">
                <a16:creationId xmlns:a16="http://schemas.microsoft.com/office/drawing/2014/main" id="{91FCD3ED-C86B-6AD1-8DCB-7CC430B748A6}"/>
              </a:ext>
            </a:extLst>
          </p:cNvPr>
          <p:cNvSpPr/>
          <p:nvPr/>
        </p:nvSpPr>
        <p:spPr>
          <a:xfrm>
            <a:off x="11392678" y="108795"/>
            <a:ext cx="384048" cy="384048"/>
          </a:xfrm>
          <a:prstGeom prst="ellipse">
            <a:avLst/>
          </a:prstGeom>
          <a:solidFill>
            <a:srgbClr val="F2E6D8"/>
          </a:solidFill>
          <a:ln w="12700">
            <a:solidFill>
              <a:srgbClr val="E7DCCB"/>
            </a:solidFill>
            <a:prstDash val="solid"/>
          </a:ln>
        </p:spPr>
        <p:txBody>
          <a:bodyPr/>
          <a:lstStyle/>
          <a:p>
            <a:endParaRPr lang="en-ZA"/>
          </a:p>
        </p:txBody>
      </p:sp>
      <p:pic>
        <p:nvPicPr>
          <p:cNvPr id="35" name="Image 1">
            <a:hlinkClick r:id="rId4" action="ppaction://hlinksldjump" tooltip="Back to Agenda"/>
            <a:extLst>
              <a:ext uri="{FF2B5EF4-FFF2-40B4-BE49-F238E27FC236}">
                <a16:creationId xmlns:a16="http://schemas.microsoft.com/office/drawing/2014/main" id="{09AF2EBD-10DC-6DC5-C800-27CC9869E07D}"/>
              </a:ext>
            </a:extLst>
          </p:cNvPr>
          <p:cNvPicPr>
            <a:picLocks noChangeAspect="1"/>
          </p:cNvPicPr>
          <p:nvPr/>
        </p:nvPicPr>
        <p:blipFill>
          <a:blip r:embed="rId5"/>
          <a:stretch>
            <a:fillRect/>
          </a:stretch>
        </p:blipFill>
        <p:spPr>
          <a:xfrm>
            <a:off x="11493262" y="209379"/>
            <a:ext cx="182880" cy="182880"/>
          </a:xfrm>
          <a:prstGeom prst="rect">
            <a:avLst/>
          </a:prstGeom>
        </p:spPr>
      </p:pic>
      <p:sp>
        <p:nvSpPr>
          <p:cNvPr id="37" name="Shape 5">
            <a:extLst>
              <a:ext uri="{FF2B5EF4-FFF2-40B4-BE49-F238E27FC236}">
                <a16:creationId xmlns:a16="http://schemas.microsoft.com/office/drawing/2014/main" id="{47F30D72-3665-134C-3033-BE77E39BE59F}"/>
              </a:ext>
            </a:extLst>
          </p:cNvPr>
          <p:cNvSpPr/>
          <p:nvPr/>
        </p:nvSpPr>
        <p:spPr>
          <a:xfrm>
            <a:off x="602758" y="1267797"/>
            <a:ext cx="3456432" cy="530352"/>
          </a:xfrm>
          <a:prstGeom prst="roundRect">
            <a:avLst>
              <a:gd name="adj" fmla="val 13793"/>
            </a:avLst>
          </a:prstGeom>
          <a:solidFill>
            <a:srgbClr val="C17817"/>
          </a:solidFill>
          <a:ln/>
        </p:spPr>
        <p:txBody>
          <a:bodyPr/>
          <a:lstStyle/>
          <a:p>
            <a:endParaRPr lang="en-ZA"/>
          </a:p>
        </p:txBody>
      </p:sp>
      <p:sp>
        <p:nvSpPr>
          <p:cNvPr id="38" name="Text 6">
            <a:extLst>
              <a:ext uri="{FF2B5EF4-FFF2-40B4-BE49-F238E27FC236}">
                <a16:creationId xmlns:a16="http://schemas.microsoft.com/office/drawing/2014/main" id="{D9F1BB41-54D4-AD5D-5ED4-E913311945A4}"/>
              </a:ext>
            </a:extLst>
          </p:cNvPr>
          <p:cNvSpPr/>
          <p:nvPr/>
        </p:nvSpPr>
        <p:spPr>
          <a:xfrm>
            <a:off x="602758" y="1267797"/>
            <a:ext cx="3456432" cy="5303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Immediate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(0–30 days)</a:t>
            </a:r>
            <a:endParaRPr lang="en-US" sz="1300" dirty="0"/>
          </a:p>
        </p:txBody>
      </p:sp>
      <p:sp>
        <p:nvSpPr>
          <p:cNvPr id="39" name="Shape 7">
            <a:extLst>
              <a:ext uri="{FF2B5EF4-FFF2-40B4-BE49-F238E27FC236}">
                <a16:creationId xmlns:a16="http://schemas.microsoft.com/office/drawing/2014/main" id="{12662406-7340-7B85-DC35-28B58666949F}"/>
              </a:ext>
            </a:extLst>
          </p:cNvPr>
          <p:cNvSpPr/>
          <p:nvPr/>
        </p:nvSpPr>
        <p:spPr>
          <a:xfrm>
            <a:off x="602758" y="188958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40" name="Shape 8">
            <a:extLst>
              <a:ext uri="{FF2B5EF4-FFF2-40B4-BE49-F238E27FC236}">
                <a16:creationId xmlns:a16="http://schemas.microsoft.com/office/drawing/2014/main" id="{1A911AAA-33CE-1B64-3E5C-C3255163C5D1}"/>
              </a:ext>
            </a:extLst>
          </p:cNvPr>
          <p:cNvSpPr/>
          <p:nvPr/>
        </p:nvSpPr>
        <p:spPr>
          <a:xfrm>
            <a:off x="758206" y="2035893"/>
            <a:ext cx="347472" cy="347472"/>
          </a:xfrm>
          <a:prstGeom prst="ellipse">
            <a:avLst/>
          </a:prstGeom>
          <a:solidFill>
            <a:srgbClr val="C17817"/>
          </a:solidFill>
          <a:ln/>
        </p:spPr>
        <p:txBody>
          <a:bodyPr/>
          <a:lstStyle/>
          <a:p>
            <a:endParaRPr lang="en-ZA"/>
          </a:p>
        </p:txBody>
      </p:sp>
      <p:pic>
        <p:nvPicPr>
          <p:cNvPr id="41" name="Image 2">
            <a:extLst>
              <a:ext uri="{FF2B5EF4-FFF2-40B4-BE49-F238E27FC236}">
                <a16:creationId xmlns:a16="http://schemas.microsoft.com/office/drawing/2014/main" id="{72C1E0FD-4092-A137-FB0D-8FAF33A4B746}"/>
              </a:ext>
            </a:extLst>
          </p:cNvPr>
          <p:cNvPicPr>
            <a:picLocks noChangeAspect="1"/>
          </p:cNvPicPr>
          <p:nvPr/>
        </p:nvPicPr>
        <p:blipFill>
          <a:blip r:embed="rId6"/>
          <a:stretch>
            <a:fillRect/>
          </a:stretch>
        </p:blipFill>
        <p:spPr>
          <a:xfrm>
            <a:off x="840502" y="2118189"/>
            <a:ext cx="182880" cy="182880"/>
          </a:xfrm>
          <a:prstGeom prst="rect">
            <a:avLst/>
          </a:prstGeom>
        </p:spPr>
      </p:pic>
      <p:sp>
        <p:nvSpPr>
          <p:cNvPr id="42" name="Text 9">
            <a:extLst>
              <a:ext uri="{FF2B5EF4-FFF2-40B4-BE49-F238E27FC236}">
                <a16:creationId xmlns:a16="http://schemas.microsoft.com/office/drawing/2014/main" id="{D6449D9F-47C2-6164-EFDC-C2A9F97AC52E}"/>
              </a:ext>
            </a:extLst>
          </p:cNvPr>
          <p:cNvSpPr/>
          <p:nvPr/>
        </p:nvSpPr>
        <p:spPr>
          <a:xfrm>
            <a:off x="1206262" y="201760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Automate daily reporting</a:t>
            </a:r>
            <a:endParaRPr lang="en-US" sz="1150" dirty="0"/>
          </a:p>
        </p:txBody>
      </p:sp>
      <p:sp>
        <p:nvSpPr>
          <p:cNvPr id="43" name="Text 10">
            <a:extLst>
              <a:ext uri="{FF2B5EF4-FFF2-40B4-BE49-F238E27FC236}">
                <a16:creationId xmlns:a16="http://schemas.microsoft.com/office/drawing/2014/main" id="{E5A944FF-4744-ED7B-D55F-FB272F621B02}"/>
              </a:ext>
            </a:extLst>
          </p:cNvPr>
          <p:cNvSpPr/>
          <p:nvPr/>
        </p:nvSpPr>
        <p:spPr>
          <a:xfrm>
            <a:off x="803926" y="241079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Schedule the Databricks pipeline to refresh all sales dashboards overnight — no more manual exports.</a:t>
            </a:r>
            <a:endParaRPr lang="en-US" sz="950" dirty="0"/>
          </a:p>
        </p:txBody>
      </p:sp>
      <p:sp>
        <p:nvSpPr>
          <p:cNvPr id="44" name="Shape 11">
            <a:extLst>
              <a:ext uri="{FF2B5EF4-FFF2-40B4-BE49-F238E27FC236}">
                <a16:creationId xmlns:a16="http://schemas.microsoft.com/office/drawing/2014/main" id="{53AA26EB-D121-30FD-A3B9-BF6139E8FFBA}"/>
              </a:ext>
            </a:extLst>
          </p:cNvPr>
          <p:cNvSpPr/>
          <p:nvPr/>
        </p:nvSpPr>
        <p:spPr>
          <a:xfrm>
            <a:off x="602758" y="339834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45" name="Shape 12">
            <a:extLst>
              <a:ext uri="{FF2B5EF4-FFF2-40B4-BE49-F238E27FC236}">
                <a16:creationId xmlns:a16="http://schemas.microsoft.com/office/drawing/2014/main" id="{84F9A01F-2A79-96D4-5DBB-F1AC49E6CD02}"/>
              </a:ext>
            </a:extLst>
          </p:cNvPr>
          <p:cNvSpPr/>
          <p:nvPr/>
        </p:nvSpPr>
        <p:spPr>
          <a:xfrm>
            <a:off x="758206" y="3544653"/>
            <a:ext cx="347472" cy="347472"/>
          </a:xfrm>
          <a:prstGeom prst="ellipse">
            <a:avLst/>
          </a:prstGeom>
          <a:solidFill>
            <a:srgbClr val="C17817"/>
          </a:solidFill>
          <a:ln/>
        </p:spPr>
        <p:txBody>
          <a:bodyPr/>
          <a:lstStyle/>
          <a:p>
            <a:endParaRPr lang="en-ZA"/>
          </a:p>
        </p:txBody>
      </p:sp>
      <p:pic>
        <p:nvPicPr>
          <p:cNvPr id="46" name="Image 3">
            <a:extLst>
              <a:ext uri="{FF2B5EF4-FFF2-40B4-BE49-F238E27FC236}">
                <a16:creationId xmlns:a16="http://schemas.microsoft.com/office/drawing/2014/main" id="{D5604E87-B51E-9FE5-CBF3-DFB02D5738AE}"/>
              </a:ext>
            </a:extLst>
          </p:cNvPr>
          <p:cNvPicPr>
            <a:picLocks noChangeAspect="1"/>
          </p:cNvPicPr>
          <p:nvPr/>
        </p:nvPicPr>
        <p:blipFill>
          <a:blip r:embed="rId7"/>
          <a:stretch>
            <a:fillRect/>
          </a:stretch>
        </p:blipFill>
        <p:spPr>
          <a:xfrm>
            <a:off x="840502" y="3626949"/>
            <a:ext cx="182880" cy="182880"/>
          </a:xfrm>
          <a:prstGeom prst="rect">
            <a:avLst/>
          </a:prstGeom>
        </p:spPr>
      </p:pic>
      <p:sp>
        <p:nvSpPr>
          <p:cNvPr id="47" name="Text 13">
            <a:extLst>
              <a:ext uri="{FF2B5EF4-FFF2-40B4-BE49-F238E27FC236}">
                <a16:creationId xmlns:a16="http://schemas.microsoft.com/office/drawing/2014/main" id="{B93771E2-011C-711F-82E3-141072B614A4}"/>
              </a:ext>
            </a:extLst>
          </p:cNvPr>
          <p:cNvSpPr/>
          <p:nvPr/>
        </p:nvSpPr>
        <p:spPr>
          <a:xfrm>
            <a:off x="1206262" y="352636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Launch a slow-hour campaign</a:t>
            </a:r>
            <a:endParaRPr lang="en-US" sz="1150" dirty="0"/>
          </a:p>
        </p:txBody>
      </p:sp>
      <p:sp>
        <p:nvSpPr>
          <p:cNvPr id="48" name="Text 14">
            <a:extLst>
              <a:ext uri="{FF2B5EF4-FFF2-40B4-BE49-F238E27FC236}">
                <a16:creationId xmlns:a16="http://schemas.microsoft.com/office/drawing/2014/main" id="{E68B696C-E53B-6FF6-0033-ECF8CF1E54B6}"/>
              </a:ext>
            </a:extLst>
          </p:cNvPr>
          <p:cNvSpPr/>
          <p:nvPr/>
        </p:nvSpPr>
        <p:spPr>
          <a:xfrm>
            <a:off x="803926" y="391955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Design and deploy an after-work bundle (4–8pm) at all three stores to target the lowest-revenue window.</a:t>
            </a:r>
            <a:endParaRPr lang="en-US" sz="950" dirty="0"/>
          </a:p>
        </p:txBody>
      </p:sp>
      <p:sp>
        <p:nvSpPr>
          <p:cNvPr id="49" name="Shape 15">
            <a:extLst>
              <a:ext uri="{FF2B5EF4-FFF2-40B4-BE49-F238E27FC236}">
                <a16:creationId xmlns:a16="http://schemas.microsoft.com/office/drawing/2014/main" id="{7D1AD0F5-B0C3-4F54-BFA1-7C98E7EA1674}"/>
              </a:ext>
            </a:extLst>
          </p:cNvPr>
          <p:cNvSpPr/>
          <p:nvPr/>
        </p:nvSpPr>
        <p:spPr>
          <a:xfrm>
            <a:off x="602758" y="490710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50" name="Shape 16">
            <a:extLst>
              <a:ext uri="{FF2B5EF4-FFF2-40B4-BE49-F238E27FC236}">
                <a16:creationId xmlns:a16="http://schemas.microsoft.com/office/drawing/2014/main" id="{61B5B6D1-793A-7B60-1195-82B4610A0078}"/>
              </a:ext>
            </a:extLst>
          </p:cNvPr>
          <p:cNvSpPr/>
          <p:nvPr/>
        </p:nvSpPr>
        <p:spPr>
          <a:xfrm>
            <a:off x="758206" y="5053413"/>
            <a:ext cx="347472" cy="347472"/>
          </a:xfrm>
          <a:prstGeom prst="ellipse">
            <a:avLst/>
          </a:prstGeom>
          <a:solidFill>
            <a:srgbClr val="C17817"/>
          </a:solidFill>
          <a:ln/>
        </p:spPr>
        <p:txBody>
          <a:bodyPr/>
          <a:lstStyle/>
          <a:p>
            <a:endParaRPr lang="en-ZA"/>
          </a:p>
        </p:txBody>
      </p:sp>
      <p:pic>
        <p:nvPicPr>
          <p:cNvPr id="51" name="Image 4">
            <a:extLst>
              <a:ext uri="{FF2B5EF4-FFF2-40B4-BE49-F238E27FC236}">
                <a16:creationId xmlns:a16="http://schemas.microsoft.com/office/drawing/2014/main" id="{357BC535-1112-1776-4C41-6AE2301A15AC}"/>
              </a:ext>
            </a:extLst>
          </p:cNvPr>
          <p:cNvPicPr>
            <a:picLocks noChangeAspect="1"/>
          </p:cNvPicPr>
          <p:nvPr/>
        </p:nvPicPr>
        <p:blipFill>
          <a:blip r:embed="rId8"/>
          <a:stretch>
            <a:fillRect/>
          </a:stretch>
        </p:blipFill>
        <p:spPr>
          <a:xfrm>
            <a:off x="840502" y="5135709"/>
            <a:ext cx="182880" cy="182880"/>
          </a:xfrm>
          <a:prstGeom prst="rect">
            <a:avLst/>
          </a:prstGeom>
        </p:spPr>
      </p:pic>
      <p:sp>
        <p:nvSpPr>
          <p:cNvPr id="52" name="Text 17">
            <a:extLst>
              <a:ext uri="{FF2B5EF4-FFF2-40B4-BE49-F238E27FC236}">
                <a16:creationId xmlns:a16="http://schemas.microsoft.com/office/drawing/2014/main" id="{7123B86C-C9F4-5B3E-3E59-C5BF73117254}"/>
              </a:ext>
            </a:extLst>
          </p:cNvPr>
          <p:cNvSpPr/>
          <p:nvPr/>
        </p:nvSpPr>
        <p:spPr>
          <a:xfrm>
            <a:off x="1206262" y="503512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Introduce upsell prompts</a:t>
            </a:r>
            <a:endParaRPr lang="en-US" sz="1150" dirty="0"/>
          </a:p>
        </p:txBody>
      </p:sp>
      <p:sp>
        <p:nvSpPr>
          <p:cNvPr id="53" name="Text 18">
            <a:extLst>
              <a:ext uri="{FF2B5EF4-FFF2-40B4-BE49-F238E27FC236}">
                <a16:creationId xmlns:a16="http://schemas.microsoft.com/office/drawing/2014/main" id="{17894AF3-62CD-0F4F-92A0-1B117AFC39FA}"/>
              </a:ext>
            </a:extLst>
          </p:cNvPr>
          <p:cNvSpPr/>
          <p:nvPr/>
        </p:nvSpPr>
        <p:spPr>
          <a:xfrm>
            <a:off x="803926" y="542831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Brief front-of-house staff on a consistent second-item suggestion script at the till.</a:t>
            </a:r>
            <a:endParaRPr lang="en-US" sz="950" dirty="0"/>
          </a:p>
        </p:txBody>
      </p:sp>
      <p:sp>
        <p:nvSpPr>
          <p:cNvPr id="54" name="Shape 19">
            <a:extLst>
              <a:ext uri="{FF2B5EF4-FFF2-40B4-BE49-F238E27FC236}">
                <a16:creationId xmlns:a16="http://schemas.microsoft.com/office/drawing/2014/main" id="{7D25A8DC-4C06-D38B-EE35-347FE6D366DF}"/>
              </a:ext>
            </a:extLst>
          </p:cNvPr>
          <p:cNvSpPr/>
          <p:nvPr/>
        </p:nvSpPr>
        <p:spPr>
          <a:xfrm>
            <a:off x="4260358" y="1267797"/>
            <a:ext cx="3456432" cy="530352"/>
          </a:xfrm>
          <a:prstGeom prst="roundRect">
            <a:avLst>
              <a:gd name="adj" fmla="val 13793"/>
            </a:avLst>
          </a:prstGeom>
          <a:solidFill>
            <a:srgbClr val="B5651D"/>
          </a:solidFill>
          <a:ln/>
        </p:spPr>
        <p:txBody>
          <a:bodyPr/>
          <a:lstStyle/>
          <a:p>
            <a:endParaRPr lang="en-ZA"/>
          </a:p>
        </p:txBody>
      </p:sp>
      <p:sp>
        <p:nvSpPr>
          <p:cNvPr id="55" name="Text 20">
            <a:extLst>
              <a:ext uri="{FF2B5EF4-FFF2-40B4-BE49-F238E27FC236}">
                <a16:creationId xmlns:a16="http://schemas.microsoft.com/office/drawing/2014/main" id="{992D6A70-C199-6200-5D32-8E73E9935672}"/>
              </a:ext>
            </a:extLst>
          </p:cNvPr>
          <p:cNvSpPr/>
          <p:nvPr/>
        </p:nvSpPr>
        <p:spPr>
          <a:xfrm>
            <a:off x="4260358" y="1267797"/>
            <a:ext cx="3456432" cy="5303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Short-term</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(1–3 months)</a:t>
            </a:r>
            <a:endParaRPr lang="en-US" sz="1300" dirty="0"/>
          </a:p>
        </p:txBody>
      </p:sp>
      <p:sp>
        <p:nvSpPr>
          <p:cNvPr id="56" name="Shape 21">
            <a:extLst>
              <a:ext uri="{FF2B5EF4-FFF2-40B4-BE49-F238E27FC236}">
                <a16:creationId xmlns:a16="http://schemas.microsoft.com/office/drawing/2014/main" id="{443B2F62-6F17-DECD-4348-784E71847D14}"/>
              </a:ext>
            </a:extLst>
          </p:cNvPr>
          <p:cNvSpPr/>
          <p:nvPr/>
        </p:nvSpPr>
        <p:spPr>
          <a:xfrm>
            <a:off x="4260358" y="188958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57" name="Shape 22">
            <a:extLst>
              <a:ext uri="{FF2B5EF4-FFF2-40B4-BE49-F238E27FC236}">
                <a16:creationId xmlns:a16="http://schemas.microsoft.com/office/drawing/2014/main" id="{2AEA0B54-8246-C809-0DCB-FF56D14C329E}"/>
              </a:ext>
            </a:extLst>
          </p:cNvPr>
          <p:cNvSpPr/>
          <p:nvPr/>
        </p:nvSpPr>
        <p:spPr>
          <a:xfrm>
            <a:off x="4415806" y="2035893"/>
            <a:ext cx="347472" cy="347472"/>
          </a:xfrm>
          <a:prstGeom prst="ellipse">
            <a:avLst/>
          </a:prstGeom>
          <a:solidFill>
            <a:srgbClr val="B5651D"/>
          </a:solidFill>
          <a:ln/>
        </p:spPr>
        <p:txBody>
          <a:bodyPr/>
          <a:lstStyle/>
          <a:p>
            <a:endParaRPr lang="en-ZA"/>
          </a:p>
        </p:txBody>
      </p:sp>
      <p:pic>
        <p:nvPicPr>
          <p:cNvPr id="58" name="Image 5">
            <a:extLst>
              <a:ext uri="{FF2B5EF4-FFF2-40B4-BE49-F238E27FC236}">
                <a16:creationId xmlns:a16="http://schemas.microsoft.com/office/drawing/2014/main" id="{CCA4D2C7-0AC4-9DE7-4F81-348A16C8B180}"/>
              </a:ext>
            </a:extLst>
          </p:cNvPr>
          <p:cNvPicPr>
            <a:picLocks noChangeAspect="1"/>
          </p:cNvPicPr>
          <p:nvPr/>
        </p:nvPicPr>
        <p:blipFill>
          <a:blip r:embed="rId9"/>
          <a:stretch>
            <a:fillRect/>
          </a:stretch>
        </p:blipFill>
        <p:spPr>
          <a:xfrm>
            <a:off x="4498102" y="2118189"/>
            <a:ext cx="182880" cy="182880"/>
          </a:xfrm>
          <a:prstGeom prst="rect">
            <a:avLst/>
          </a:prstGeom>
        </p:spPr>
      </p:pic>
      <p:sp>
        <p:nvSpPr>
          <p:cNvPr id="59" name="Text 23">
            <a:extLst>
              <a:ext uri="{FF2B5EF4-FFF2-40B4-BE49-F238E27FC236}">
                <a16:creationId xmlns:a16="http://schemas.microsoft.com/office/drawing/2014/main" id="{04EE0C48-6941-B0E4-A33F-7CF4DAC47D62}"/>
              </a:ext>
            </a:extLst>
          </p:cNvPr>
          <p:cNvSpPr/>
          <p:nvPr/>
        </p:nvSpPr>
        <p:spPr>
          <a:xfrm>
            <a:off x="4863862" y="201760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Audit the tail</a:t>
            </a:r>
            <a:endParaRPr lang="en-US" sz="1150" dirty="0"/>
          </a:p>
        </p:txBody>
      </p:sp>
      <p:sp>
        <p:nvSpPr>
          <p:cNvPr id="60" name="Text 24">
            <a:extLst>
              <a:ext uri="{FF2B5EF4-FFF2-40B4-BE49-F238E27FC236}">
                <a16:creationId xmlns:a16="http://schemas.microsoft.com/office/drawing/2014/main" id="{E8D2E8A9-44A5-53E8-2CDB-E9DA0A7975A7}"/>
              </a:ext>
            </a:extLst>
          </p:cNvPr>
          <p:cNvSpPr/>
          <p:nvPr/>
        </p:nvSpPr>
        <p:spPr>
          <a:xfrm>
            <a:off x="4461526" y="241079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Formally review the bottom 10 product lines. Bundle, promote, or discontinue based on 90-day velocity.</a:t>
            </a:r>
            <a:endParaRPr lang="en-US" sz="950" dirty="0"/>
          </a:p>
        </p:txBody>
      </p:sp>
      <p:sp>
        <p:nvSpPr>
          <p:cNvPr id="61" name="Shape 25">
            <a:extLst>
              <a:ext uri="{FF2B5EF4-FFF2-40B4-BE49-F238E27FC236}">
                <a16:creationId xmlns:a16="http://schemas.microsoft.com/office/drawing/2014/main" id="{110A3E0A-A3C1-31A1-7657-183E01CFCC90}"/>
              </a:ext>
            </a:extLst>
          </p:cNvPr>
          <p:cNvSpPr/>
          <p:nvPr/>
        </p:nvSpPr>
        <p:spPr>
          <a:xfrm>
            <a:off x="4260358" y="339834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62" name="Shape 26">
            <a:extLst>
              <a:ext uri="{FF2B5EF4-FFF2-40B4-BE49-F238E27FC236}">
                <a16:creationId xmlns:a16="http://schemas.microsoft.com/office/drawing/2014/main" id="{E0E457A4-C674-7ABD-6C0D-53C822046900}"/>
              </a:ext>
            </a:extLst>
          </p:cNvPr>
          <p:cNvSpPr/>
          <p:nvPr/>
        </p:nvSpPr>
        <p:spPr>
          <a:xfrm>
            <a:off x="4415806" y="3544653"/>
            <a:ext cx="347472" cy="347472"/>
          </a:xfrm>
          <a:prstGeom prst="ellipse">
            <a:avLst/>
          </a:prstGeom>
          <a:solidFill>
            <a:srgbClr val="B5651D"/>
          </a:solidFill>
          <a:ln/>
        </p:spPr>
        <p:txBody>
          <a:bodyPr/>
          <a:lstStyle/>
          <a:p>
            <a:endParaRPr lang="en-ZA"/>
          </a:p>
        </p:txBody>
      </p:sp>
      <p:pic>
        <p:nvPicPr>
          <p:cNvPr id="63" name="Image 6">
            <a:extLst>
              <a:ext uri="{FF2B5EF4-FFF2-40B4-BE49-F238E27FC236}">
                <a16:creationId xmlns:a16="http://schemas.microsoft.com/office/drawing/2014/main" id="{424938A8-5290-ECC2-6C1F-B4F2A64FDFF8}"/>
              </a:ext>
            </a:extLst>
          </p:cNvPr>
          <p:cNvPicPr>
            <a:picLocks noChangeAspect="1"/>
          </p:cNvPicPr>
          <p:nvPr/>
        </p:nvPicPr>
        <p:blipFill>
          <a:blip r:embed="rId10"/>
          <a:stretch>
            <a:fillRect/>
          </a:stretch>
        </p:blipFill>
        <p:spPr>
          <a:xfrm>
            <a:off x="4498102" y="3626949"/>
            <a:ext cx="182880" cy="182880"/>
          </a:xfrm>
          <a:prstGeom prst="rect">
            <a:avLst/>
          </a:prstGeom>
        </p:spPr>
      </p:pic>
      <p:sp>
        <p:nvSpPr>
          <p:cNvPr id="64" name="Text 27">
            <a:extLst>
              <a:ext uri="{FF2B5EF4-FFF2-40B4-BE49-F238E27FC236}">
                <a16:creationId xmlns:a16="http://schemas.microsoft.com/office/drawing/2014/main" id="{2EC1FAC0-F3E1-5071-4CC4-7687C6D00DBC}"/>
              </a:ext>
            </a:extLst>
          </p:cNvPr>
          <p:cNvSpPr/>
          <p:nvPr/>
        </p:nvSpPr>
        <p:spPr>
          <a:xfrm>
            <a:off x="4863862" y="352636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Formalise Ultra Spender access</a:t>
            </a:r>
            <a:endParaRPr lang="en-US" sz="1150" dirty="0"/>
          </a:p>
        </p:txBody>
      </p:sp>
      <p:sp>
        <p:nvSpPr>
          <p:cNvPr id="65" name="Text 28">
            <a:extLst>
              <a:ext uri="{FF2B5EF4-FFF2-40B4-BE49-F238E27FC236}">
                <a16:creationId xmlns:a16="http://schemas.microsoft.com/office/drawing/2014/main" id="{2A95A65E-1E94-2F1D-C470-6B74B303705D}"/>
              </a:ext>
            </a:extLst>
          </p:cNvPr>
          <p:cNvSpPr/>
          <p:nvPr/>
        </p:nvSpPr>
        <p:spPr>
          <a:xfrm>
            <a:off x="4461526" y="391955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Pilot a premium Coffee Bean subscription or tasting event at Hell's Kitchen for high-value repeat buyers.</a:t>
            </a:r>
            <a:endParaRPr lang="en-US" sz="950" dirty="0"/>
          </a:p>
        </p:txBody>
      </p:sp>
      <p:sp>
        <p:nvSpPr>
          <p:cNvPr id="66" name="Shape 29">
            <a:extLst>
              <a:ext uri="{FF2B5EF4-FFF2-40B4-BE49-F238E27FC236}">
                <a16:creationId xmlns:a16="http://schemas.microsoft.com/office/drawing/2014/main" id="{679C9647-407C-F7B5-01ED-CB5C3FAED6DC}"/>
              </a:ext>
            </a:extLst>
          </p:cNvPr>
          <p:cNvSpPr/>
          <p:nvPr/>
        </p:nvSpPr>
        <p:spPr>
          <a:xfrm>
            <a:off x="4260358" y="490710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67" name="Shape 30">
            <a:extLst>
              <a:ext uri="{FF2B5EF4-FFF2-40B4-BE49-F238E27FC236}">
                <a16:creationId xmlns:a16="http://schemas.microsoft.com/office/drawing/2014/main" id="{62CBB391-6FEF-F5E3-1E3A-39584D0451D7}"/>
              </a:ext>
            </a:extLst>
          </p:cNvPr>
          <p:cNvSpPr/>
          <p:nvPr/>
        </p:nvSpPr>
        <p:spPr>
          <a:xfrm>
            <a:off x="4415806" y="5053413"/>
            <a:ext cx="347472" cy="347472"/>
          </a:xfrm>
          <a:prstGeom prst="ellipse">
            <a:avLst/>
          </a:prstGeom>
          <a:solidFill>
            <a:srgbClr val="B5651D"/>
          </a:solidFill>
          <a:ln/>
        </p:spPr>
        <p:txBody>
          <a:bodyPr/>
          <a:lstStyle/>
          <a:p>
            <a:endParaRPr lang="en-ZA"/>
          </a:p>
        </p:txBody>
      </p:sp>
      <p:pic>
        <p:nvPicPr>
          <p:cNvPr id="68" name="Image 7">
            <a:extLst>
              <a:ext uri="{FF2B5EF4-FFF2-40B4-BE49-F238E27FC236}">
                <a16:creationId xmlns:a16="http://schemas.microsoft.com/office/drawing/2014/main" id="{22D44411-C4E4-DE92-5EEE-36ECBD6F86BA}"/>
              </a:ext>
            </a:extLst>
          </p:cNvPr>
          <p:cNvPicPr>
            <a:picLocks noChangeAspect="1"/>
          </p:cNvPicPr>
          <p:nvPr/>
        </p:nvPicPr>
        <p:blipFill>
          <a:blip r:embed="rId11"/>
          <a:stretch>
            <a:fillRect/>
          </a:stretch>
        </p:blipFill>
        <p:spPr>
          <a:xfrm>
            <a:off x="4498102" y="5135709"/>
            <a:ext cx="182880" cy="182880"/>
          </a:xfrm>
          <a:prstGeom prst="rect">
            <a:avLst/>
          </a:prstGeom>
        </p:spPr>
      </p:pic>
      <p:sp>
        <p:nvSpPr>
          <p:cNvPr id="69" name="Text 31">
            <a:extLst>
              <a:ext uri="{FF2B5EF4-FFF2-40B4-BE49-F238E27FC236}">
                <a16:creationId xmlns:a16="http://schemas.microsoft.com/office/drawing/2014/main" id="{B6F1FFF4-275A-6929-6BB0-A342F902E86E}"/>
              </a:ext>
            </a:extLst>
          </p:cNvPr>
          <p:cNvSpPr/>
          <p:nvPr/>
        </p:nvSpPr>
        <p:spPr>
          <a:xfrm>
            <a:off x="4863862" y="503512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Expand Branded at Lower Manhattan</a:t>
            </a:r>
            <a:endParaRPr lang="en-US" sz="1150" dirty="0"/>
          </a:p>
        </p:txBody>
      </p:sp>
      <p:sp>
        <p:nvSpPr>
          <p:cNvPr id="70" name="Text 32">
            <a:extLst>
              <a:ext uri="{FF2B5EF4-FFF2-40B4-BE49-F238E27FC236}">
                <a16:creationId xmlns:a16="http://schemas.microsoft.com/office/drawing/2014/main" id="{B2E00FF8-8029-7542-0E18-44FFDD9E9BC9}"/>
              </a:ext>
            </a:extLst>
          </p:cNvPr>
          <p:cNvSpPr/>
          <p:nvPr/>
        </p:nvSpPr>
        <p:spPr>
          <a:xfrm>
            <a:off x="4461526" y="542831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Dedicate dedicated shelf/display space to Branded merchandise at the only store where Medium Spenders shop.</a:t>
            </a:r>
            <a:endParaRPr lang="en-US" sz="950" dirty="0"/>
          </a:p>
        </p:txBody>
      </p:sp>
      <p:sp>
        <p:nvSpPr>
          <p:cNvPr id="71" name="Shape 33">
            <a:extLst>
              <a:ext uri="{FF2B5EF4-FFF2-40B4-BE49-F238E27FC236}">
                <a16:creationId xmlns:a16="http://schemas.microsoft.com/office/drawing/2014/main" id="{E7F8F6E3-6D77-9166-59AA-7908A9F08DA9}"/>
              </a:ext>
            </a:extLst>
          </p:cNvPr>
          <p:cNvSpPr/>
          <p:nvPr/>
        </p:nvSpPr>
        <p:spPr>
          <a:xfrm>
            <a:off x="7917958" y="1267797"/>
            <a:ext cx="3456432" cy="530352"/>
          </a:xfrm>
          <a:prstGeom prst="roundRect">
            <a:avLst>
              <a:gd name="adj" fmla="val 13793"/>
            </a:avLst>
          </a:prstGeom>
          <a:solidFill>
            <a:srgbClr val="5C7A4E"/>
          </a:solidFill>
          <a:ln/>
        </p:spPr>
        <p:txBody>
          <a:bodyPr/>
          <a:lstStyle/>
          <a:p>
            <a:endParaRPr lang="en-ZA"/>
          </a:p>
        </p:txBody>
      </p:sp>
      <p:sp>
        <p:nvSpPr>
          <p:cNvPr id="72" name="Text 34">
            <a:extLst>
              <a:ext uri="{FF2B5EF4-FFF2-40B4-BE49-F238E27FC236}">
                <a16:creationId xmlns:a16="http://schemas.microsoft.com/office/drawing/2014/main" id="{8AC2D1C5-EE00-B546-444B-3230A2E4A019}"/>
              </a:ext>
            </a:extLst>
          </p:cNvPr>
          <p:cNvSpPr/>
          <p:nvPr/>
        </p:nvSpPr>
        <p:spPr>
          <a:xfrm>
            <a:off x="7917958" y="1267797"/>
            <a:ext cx="3456432" cy="5303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Strategic</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(3–12 months)</a:t>
            </a:r>
            <a:endParaRPr lang="en-US" sz="1300" dirty="0"/>
          </a:p>
        </p:txBody>
      </p:sp>
      <p:sp>
        <p:nvSpPr>
          <p:cNvPr id="73" name="Shape 35">
            <a:extLst>
              <a:ext uri="{FF2B5EF4-FFF2-40B4-BE49-F238E27FC236}">
                <a16:creationId xmlns:a16="http://schemas.microsoft.com/office/drawing/2014/main" id="{208B1DB8-3649-3CC5-91AD-30727397451E}"/>
              </a:ext>
            </a:extLst>
          </p:cNvPr>
          <p:cNvSpPr/>
          <p:nvPr/>
        </p:nvSpPr>
        <p:spPr>
          <a:xfrm>
            <a:off x="7917958" y="188958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74" name="Shape 36">
            <a:extLst>
              <a:ext uri="{FF2B5EF4-FFF2-40B4-BE49-F238E27FC236}">
                <a16:creationId xmlns:a16="http://schemas.microsoft.com/office/drawing/2014/main" id="{B5230741-0120-2E3C-1CEE-03B769D80ED8}"/>
              </a:ext>
            </a:extLst>
          </p:cNvPr>
          <p:cNvSpPr/>
          <p:nvPr/>
        </p:nvSpPr>
        <p:spPr>
          <a:xfrm>
            <a:off x="8073406" y="2035893"/>
            <a:ext cx="347472" cy="347472"/>
          </a:xfrm>
          <a:prstGeom prst="ellipse">
            <a:avLst/>
          </a:prstGeom>
          <a:solidFill>
            <a:srgbClr val="5C7A4E"/>
          </a:solidFill>
          <a:ln/>
        </p:spPr>
        <p:txBody>
          <a:bodyPr/>
          <a:lstStyle/>
          <a:p>
            <a:endParaRPr lang="en-ZA"/>
          </a:p>
        </p:txBody>
      </p:sp>
      <p:pic>
        <p:nvPicPr>
          <p:cNvPr id="75" name="Image 8">
            <a:extLst>
              <a:ext uri="{FF2B5EF4-FFF2-40B4-BE49-F238E27FC236}">
                <a16:creationId xmlns:a16="http://schemas.microsoft.com/office/drawing/2014/main" id="{45C3D33E-BE9D-886E-22C5-4DE76AA7752F}"/>
              </a:ext>
            </a:extLst>
          </p:cNvPr>
          <p:cNvPicPr>
            <a:picLocks noChangeAspect="1"/>
          </p:cNvPicPr>
          <p:nvPr/>
        </p:nvPicPr>
        <p:blipFill>
          <a:blip r:embed="rId12"/>
          <a:stretch>
            <a:fillRect/>
          </a:stretch>
        </p:blipFill>
        <p:spPr>
          <a:xfrm>
            <a:off x="8155702" y="2118189"/>
            <a:ext cx="182880" cy="182880"/>
          </a:xfrm>
          <a:prstGeom prst="rect">
            <a:avLst/>
          </a:prstGeom>
        </p:spPr>
      </p:pic>
      <p:sp>
        <p:nvSpPr>
          <p:cNvPr id="76" name="Text 37">
            <a:extLst>
              <a:ext uri="{FF2B5EF4-FFF2-40B4-BE49-F238E27FC236}">
                <a16:creationId xmlns:a16="http://schemas.microsoft.com/office/drawing/2014/main" id="{CFDE7C8D-DF27-57FF-181E-DC721D57A31B}"/>
              </a:ext>
            </a:extLst>
          </p:cNvPr>
          <p:cNvSpPr/>
          <p:nvPr/>
        </p:nvSpPr>
        <p:spPr>
          <a:xfrm>
            <a:off x="8521462" y="201760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Track multi-location performance</a:t>
            </a:r>
            <a:endParaRPr lang="en-US" sz="1150" dirty="0"/>
          </a:p>
        </p:txBody>
      </p:sp>
      <p:sp>
        <p:nvSpPr>
          <p:cNvPr id="77" name="Text 38">
            <a:extLst>
              <a:ext uri="{FF2B5EF4-FFF2-40B4-BE49-F238E27FC236}">
                <a16:creationId xmlns:a16="http://schemas.microsoft.com/office/drawing/2014/main" id="{AA0E8669-D981-C21F-C31E-BF852A96AD2F}"/>
              </a:ext>
            </a:extLst>
          </p:cNvPr>
          <p:cNvSpPr/>
          <p:nvPr/>
        </p:nvSpPr>
        <p:spPr>
          <a:xfrm>
            <a:off x="8119126" y="241079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Extend the analytics model to every future store from day one — scalable reporting from the start.</a:t>
            </a:r>
            <a:endParaRPr lang="en-US" sz="950" dirty="0"/>
          </a:p>
        </p:txBody>
      </p:sp>
      <p:sp>
        <p:nvSpPr>
          <p:cNvPr id="78" name="Shape 39">
            <a:extLst>
              <a:ext uri="{FF2B5EF4-FFF2-40B4-BE49-F238E27FC236}">
                <a16:creationId xmlns:a16="http://schemas.microsoft.com/office/drawing/2014/main" id="{9A870EB2-0DE6-16B8-AAEF-3F6B3F5774E7}"/>
              </a:ext>
            </a:extLst>
          </p:cNvPr>
          <p:cNvSpPr/>
          <p:nvPr/>
        </p:nvSpPr>
        <p:spPr>
          <a:xfrm>
            <a:off x="7917958" y="339834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79" name="Shape 40">
            <a:extLst>
              <a:ext uri="{FF2B5EF4-FFF2-40B4-BE49-F238E27FC236}">
                <a16:creationId xmlns:a16="http://schemas.microsoft.com/office/drawing/2014/main" id="{D395320A-7AA2-6145-EF24-5041719685DC}"/>
              </a:ext>
            </a:extLst>
          </p:cNvPr>
          <p:cNvSpPr/>
          <p:nvPr/>
        </p:nvSpPr>
        <p:spPr>
          <a:xfrm>
            <a:off x="8073406" y="3544653"/>
            <a:ext cx="347472" cy="347472"/>
          </a:xfrm>
          <a:prstGeom prst="ellipse">
            <a:avLst/>
          </a:prstGeom>
          <a:solidFill>
            <a:srgbClr val="5C7A4E"/>
          </a:solidFill>
          <a:ln/>
        </p:spPr>
        <p:txBody>
          <a:bodyPr/>
          <a:lstStyle/>
          <a:p>
            <a:endParaRPr lang="en-ZA"/>
          </a:p>
        </p:txBody>
      </p:sp>
      <p:pic>
        <p:nvPicPr>
          <p:cNvPr id="80" name="Image 9">
            <a:extLst>
              <a:ext uri="{FF2B5EF4-FFF2-40B4-BE49-F238E27FC236}">
                <a16:creationId xmlns:a16="http://schemas.microsoft.com/office/drawing/2014/main" id="{A1CA9ADB-F43D-C6A7-CBC1-C7FE0F5561AE}"/>
              </a:ext>
            </a:extLst>
          </p:cNvPr>
          <p:cNvPicPr>
            <a:picLocks noChangeAspect="1"/>
          </p:cNvPicPr>
          <p:nvPr/>
        </p:nvPicPr>
        <p:blipFill>
          <a:blip r:embed="rId13"/>
          <a:stretch>
            <a:fillRect/>
          </a:stretch>
        </p:blipFill>
        <p:spPr>
          <a:xfrm>
            <a:off x="8155702" y="3626949"/>
            <a:ext cx="182880" cy="182880"/>
          </a:xfrm>
          <a:prstGeom prst="rect">
            <a:avLst/>
          </a:prstGeom>
        </p:spPr>
      </p:pic>
      <p:sp>
        <p:nvSpPr>
          <p:cNvPr id="81" name="Text 41">
            <a:extLst>
              <a:ext uri="{FF2B5EF4-FFF2-40B4-BE49-F238E27FC236}">
                <a16:creationId xmlns:a16="http://schemas.microsoft.com/office/drawing/2014/main" id="{9427A8FF-BEE0-464C-17D4-9221616E05B7}"/>
              </a:ext>
            </a:extLst>
          </p:cNvPr>
          <p:cNvSpPr/>
          <p:nvPr/>
        </p:nvSpPr>
        <p:spPr>
          <a:xfrm>
            <a:off x="8521462" y="352636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Launch a loyalty programme</a:t>
            </a:r>
            <a:endParaRPr lang="en-US" sz="1150" dirty="0"/>
          </a:p>
        </p:txBody>
      </p:sp>
      <p:sp>
        <p:nvSpPr>
          <p:cNvPr id="82" name="Text 42">
            <a:extLst>
              <a:ext uri="{FF2B5EF4-FFF2-40B4-BE49-F238E27FC236}">
                <a16:creationId xmlns:a16="http://schemas.microsoft.com/office/drawing/2014/main" id="{7FD48AB4-EE36-5259-6C82-EB7A2421BEEB}"/>
              </a:ext>
            </a:extLst>
          </p:cNvPr>
          <p:cNvSpPr/>
          <p:nvPr/>
        </p:nvSpPr>
        <p:spPr>
          <a:xfrm>
            <a:off x="8119126" y="391955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Target rewards at the Mid-Morning window (9–11am) — the highest-value slot — to convert regulars into advocates.</a:t>
            </a:r>
            <a:endParaRPr lang="en-US" sz="950" dirty="0"/>
          </a:p>
        </p:txBody>
      </p:sp>
      <p:sp>
        <p:nvSpPr>
          <p:cNvPr id="83" name="Shape 43">
            <a:extLst>
              <a:ext uri="{FF2B5EF4-FFF2-40B4-BE49-F238E27FC236}">
                <a16:creationId xmlns:a16="http://schemas.microsoft.com/office/drawing/2014/main" id="{30E22AEA-9626-D56B-94B1-C3AC6453A64C}"/>
              </a:ext>
            </a:extLst>
          </p:cNvPr>
          <p:cNvSpPr/>
          <p:nvPr/>
        </p:nvSpPr>
        <p:spPr>
          <a:xfrm>
            <a:off x="7917958" y="4907109"/>
            <a:ext cx="3456432" cy="1417320"/>
          </a:xfrm>
          <a:prstGeom prst="roundRect">
            <a:avLst>
              <a:gd name="adj" fmla="val 5806"/>
            </a:avLst>
          </a:prstGeom>
          <a:solidFill>
            <a:srgbClr val="F2E6D8"/>
          </a:solidFill>
          <a:ln w="9525">
            <a:solidFill>
              <a:srgbClr val="E7DCCB"/>
            </a:solidFill>
            <a:prstDash val="solid"/>
          </a:ln>
          <a:effectLst>
            <a:outerShdw blurRad="88900" dist="38100" dir="2700000" algn="bl" rotWithShape="0">
              <a:srgbClr val="2E1A0F">
                <a:alpha val="18000"/>
              </a:srgbClr>
            </a:outerShdw>
          </a:effectLst>
        </p:spPr>
        <p:txBody>
          <a:bodyPr/>
          <a:lstStyle/>
          <a:p>
            <a:endParaRPr lang="en-ZA"/>
          </a:p>
        </p:txBody>
      </p:sp>
      <p:sp>
        <p:nvSpPr>
          <p:cNvPr id="84" name="Shape 44">
            <a:extLst>
              <a:ext uri="{FF2B5EF4-FFF2-40B4-BE49-F238E27FC236}">
                <a16:creationId xmlns:a16="http://schemas.microsoft.com/office/drawing/2014/main" id="{DAB90821-058E-0221-259E-CC61851AF8B1}"/>
              </a:ext>
            </a:extLst>
          </p:cNvPr>
          <p:cNvSpPr/>
          <p:nvPr/>
        </p:nvSpPr>
        <p:spPr>
          <a:xfrm>
            <a:off x="8073406" y="5053413"/>
            <a:ext cx="347472" cy="347472"/>
          </a:xfrm>
          <a:prstGeom prst="ellipse">
            <a:avLst/>
          </a:prstGeom>
          <a:solidFill>
            <a:srgbClr val="5C7A4E"/>
          </a:solidFill>
          <a:ln/>
        </p:spPr>
        <p:txBody>
          <a:bodyPr/>
          <a:lstStyle/>
          <a:p>
            <a:endParaRPr lang="en-ZA"/>
          </a:p>
        </p:txBody>
      </p:sp>
      <p:pic>
        <p:nvPicPr>
          <p:cNvPr id="85" name="Image 10">
            <a:extLst>
              <a:ext uri="{FF2B5EF4-FFF2-40B4-BE49-F238E27FC236}">
                <a16:creationId xmlns:a16="http://schemas.microsoft.com/office/drawing/2014/main" id="{C52F5B46-818F-6A39-4F8D-980065FB0880}"/>
              </a:ext>
            </a:extLst>
          </p:cNvPr>
          <p:cNvPicPr>
            <a:picLocks noChangeAspect="1"/>
          </p:cNvPicPr>
          <p:nvPr/>
        </p:nvPicPr>
        <p:blipFill>
          <a:blip r:embed="rId14"/>
          <a:stretch>
            <a:fillRect/>
          </a:stretch>
        </p:blipFill>
        <p:spPr>
          <a:xfrm>
            <a:off x="8155702" y="5135709"/>
            <a:ext cx="182880" cy="182880"/>
          </a:xfrm>
          <a:prstGeom prst="rect">
            <a:avLst/>
          </a:prstGeom>
        </p:spPr>
      </p:pic>
      <p:sp>
        <p:nvSpPr>
          <p:cNvPr id="86" name="Text 45">
            <a:extLst>
              <a:ext uri="{FF2B5EF4-FFF2-40B4-BE49-F238E27FC236}">
                <a16:creationId xmlns:a16="http://schemas.microsoft.com/office/drawing/2014/main" id="{CB3D38CC-CC60-DB3F-323A-B3497480C40A}"/>
              </a:ext>
            </a:extLst>
          </p:cNvPr>
          <p:cNvSpPr/>
          <p:nvPr/>
        </p:nvSpPr>
        <p:spPr>
          <a:xfrm>
            <a:off x="8521462" y="5035125"/>
            <a:ext cx="270662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4A2C1A"/>
                </a:solidFill>
                <a:latin typeface="Calibri" pitchFamily="34" charset="0"/>
                <a:ea typeface="Calibri" pitchFamily="34" charset="-122"/>
                <a:cs typeface="Calibri" pitchFamily="34" charset="-120"/>
              </a:rPr>
              <a:t>Seasonal product strategy</a:t>
            </a:r>
            <a:endParaRPr lang="en-US" sz="1150" dirty="0"/>
          </a:p>
        </p:txBody>
      </p:sp>
      <p:sp>
        <p:nvSpPr>
          <p:cNvPr id="87" name="Text 46">
            <a:extLst>
              <a:ext uri="{FF2B5EF4-FFF2-40B4-BE49-F238E27FC236}">
                <a16:creationId xmlns:a16="http://schemas.microsoft.com/office/drawing/2014/main" id="{1E417954-E7DE-EDAC-4255-342A2AF2DF6A}"/>
              </a:ext>
            </a:extLst>
          </p:cNvPr>
          <p:cNvSpPr/>
          <p:nvPr/>
        </p:nvSpPr>
        <p:spPr>
          <a:xfrm>
            <a:off x="8119126" y="5428317"/>
            <a:ext cx="3072384" cy="8412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950" dirty="0">
                <a:solidFill>
                  <a:srgbClr val="8A6A52"/>
                </a:solidFill>
                <a:latin typeface="Calibri" pitchFamily="34" charset="0"/>
                <a:ea typeface="Calibri" pitchFamily="34" charset="-122"/>
                <a:cs typeface="Calibri" pitchFamily="34" charset="-120"/>
              </a:rPr>
              <a:t>Use monthly revenue trend data to design seasonal launches timed to match the observed growth curve (Mar–Jun peak).</a:t>
            </a:r>
            <a:endParaRPr lang="en-US" sz="950" dirty="0"/>
          </a:p>
        </p:txBody>
      </p:sp>
    </p:spTree>
    <p:extLst>
      <p:ext uri="{BB962C8B-B14F-4D97-AF65-F5344CB8AC3E}">
        <p14:creationId xmlns:p14="http://schemas.microsoft.com/office/powerpoint/2010/main" val="805239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E1A0F"/>
        </a:solidFill>
        <a:effectLst/>
      </p:bgPr>
    </p:bg>
    <p:spTree>
      <p:nvGrpSpPr>
        <p:cNvPr id="1" name="">
          <a:extLst>
            <a:ext uri="{FF2B5EF4-FFF2-40B4-BE49-F238E27FC236}">
              <a16:creationId xmlns:a16="http://schemas.microsoft.com/office/drawing/2014/main" id="{1750D9C4-E8B8-F710-A228-3734879C9F27}"/>
            </a:ext>
          </a:extLst>
        </p:cNvPr>
        <p:cNvGrpSpPr/>
        <p:nvPr/>
      </p:nvGrpSpPr>
      <p:grpSpPr>
        <a:xfrm>
          <a:off x="0" y="0"/>
          <a:ext cx="0" cy="0"/>
          <a:chOff x="0" y="0"/>
          <a:chExt cx="0" cy="0"/>
        </a:xfrm>
      </p:grpSpPr>
      <p:sp>
        <p:nvSpPr>
          <p:cNvPr id="31" name="Shape 3">
            <a:extLst>
              <a:ext uri="{FF2B5EF4-FFF2-40B4-BE49-F238E27FC236}">
                <a16:creationId xmlns:a16="http://schemas.microsoft.com/office/drawing/2014/main" id="{FA1F02DC-BB07-82A2-1B8C-282A14F34690}"/>
              </a:ext>
            </a:extLst>
          </p:cNvPr>
          <p:cNvSpPr/>
          <p:nvPr/>
        </p:nvSpPr>
        <p:spPr>
          <a:xfrm>
            <a:off x="5245608" y="1078992"/>
            <a:ext cx="1828800" cy="1828800"/>
          </a:xfrm>
          <a:prstGeom prst="ellipse">
            <a:avLst/>
          </a:prstGeom>
          <a:solidFill>
            <a:srgbClr val="4A2C1A"/>
          </a:solidFill>
          <a:ln w="19050">
            <a:solidFill>
              <a:srgbClr val="C17817"/>
            </a:solidFill>
            <a:prstDash val="solid"/>
          </a:ln>
        </p:spPr>
        <p:txBody>
          <a:bodyPr/>
          <a:lstStyle/>
          <a:p>
            <a:endParaRPr lang="en-ZA"/>
          </a:p>
        </p:txBody>
      </p:sp>
      <p:pic>
        <p:nvPicPr>
          <p:cNvPr id="32" name="Image 0">
            <a:extLst>
              <a:ext uri="{FF2B5EF4-FFF2-40B4-BE49-F238E27FC236}">
                <a16:creationId xmlns:a16="http://schemas.microsoft.com/office/drawing/2014/main" id="{6B29151D-8CBC-88AB-636C-7C4923F46D4E}"/>
              </a:ext>
            </a:extLst>
          </p:cNvPr>
          <p:cNvPicPr>
            <a:picLocks noChangeAspect="1"/>
          </p:cNvPicPr>
          <p:nvPr/>
        </p:nvPicPr>
        <p:blipFill>
          <a:blip r:embed="rId3"/>
          <a:stretch>
            <a:fillRect/>
          </a:stretch>
        </p:blipFill>
        <p:spPr>
          <a:xfrm>
            <a:off x="5657088" y="1481328"/>
            <a:ext cx="1005840" cy="1005840"/>
          </a:xfrm>
          <a:prstGeom prst="rect">
            <a:avLst/>
          </a:prstGeom>
        </p:spPr>
      </p:pic>
      <p:sp>
        <p:nvSpPr>
          <p:cNvPr id="33" name="Text 4">
            <a:extLst>
              <a:ext uri="{FF2B5EF4-FFF2-40B4-BE49-F238E27FC236}">
                <a16:creationId xmlns:a16="http://schemas.microsoft.com/office/drawing/2014/main" id="{13A8A432-0500-2E3C-A0AC-84CF8780613C}"/>
              </a:ext>
            </a:extLst>
          </p:cNvPr>
          <p:cNvSpPr/>
          <p:nvPr/>
        </p:nvSpPr>
        <p:spPr>
          <a:xfrm>
            <a:off x="60960" y="3035808"/>
            <a:ext cx="12188952"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4" name="Shape 5">
            <a:extLst>
              <a:ext uri="{FF2B5EF4-FFF2-40B4-BE49-F238E27FC236}">
                <a16:creationId xmlns:a16="http://schemas.microsoft.com/office/drawing/2014/main" id="{57264440-C126-7558-16FB-C842582A0608}"/>
              </a:ext>
            </a:extLst>
          </p:cNvPr>
          <p:cNvSpPr/>
          <p:nvPr/>
        </p:nvSpPr>
        <p:spPr>
          <a:xfrm>
            <a:off x="3992880" y="4041648"/>
            <a:ext cx="4325112" cy="36576"/>
          </a:xfrm>
          <a:prstGeom prst="rect">
            <a:avLst/>
          </a:prstGeom>
          <a:solidFill>
            <a:srgbClr val="C17817"/>
          </a:solidFill>
          <a:ln/>
        </p:spPr>
        <p:txBody>
          <a:bodyPr/>
          <a:lstStyle/>
          <a:p>
            <a:endParaRPr lang="en-ZA"/>
          </a:p>
        </p:txBody>
      </p:sp>
      <p:sp>
        <p:nvSpPr>
          <p:cNvPr id="35" name="Text 6">
            <a:extLst>
              <a:ext uri="{FF2B5EF4-FFF2-40B4-BE49-F238E27FC236}">
                <a16:creationId xmlns:a16="http://schemas.microsoft.com/office/drawing/2014/main" id="{C5D92081-58F6-4E1A-053D-E9203D20DCDD}"/>
              </a:ext>
            </a:extLst>
          </p:cNvPr>
          <p:cNvSpPr/>
          <p:nvPr/>
        </p:nvSpPr>
        <p:spPr>
          <a:xfrm>
            <a:off x="60960" y="4206240"/>
            <a:ext cx="12188952" cy="4754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dirty="0">
                <a:solidFill>
                  <a:srgbClr val="FFFFFF"/>
                </a:solidFill>
                <a:latin typeface="Cambria" pitchFamily="34" charset="0"/>
                <a:ea typeface="Cambria" pitchFamily="34" charset="-122"/>
                <a:cs typeface="Cambria" pitchFamily="34" charset="-120"/>
              </a:rPr>
              <a:t>Musuamba Teresa Wa Baya</a:t>
            </a:r>
            <a:endParaRPr lang="en-US" sz="2200" dirty="0"/>
          </a:p>
        </p:txBody>
      </p:sp>
      <p:sp>
        <p:nvSpPr>
          <p:cNvPr id="36" name="Text 7">
            <a:extLst>
              <a:ext uri="{FF2B5EF4-FFF2-40B4-BE49-F238E27FC236}">
                <a16:creationId xmlns:a16="http://schemas.microsoft.com/office/drawing/2014/main" id="{328FC583-F720-0F10-B812-56331B4855D4}"/>
              </a:ext>
            </a:extLst>
          </p:cNvPr>
          <p:cNvSpPr/>
          <p:nvPr/>
        </p:nvSpPr>
        <p:spPr>
          <a:xfrm>
            <a:off x="60960" y="4681728"/>
            <a:ext cx="12188952"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dirty="0">
                <a:solidFill>
                  <a:srgbClr val="F7EFE3"/>
                </a:solidFill>
                <a:latin typeface="Calibri" pitchFamily="34" charset="0"/>
                <a:ea typeface="Calibri" pitchFamily="34" charset="-122"/>
                <a:cs typeface="Calibri" pitchFamily="34" charset="-120"/>
              </a:rPr>
              <a:t>Data Analyst  ·  Data Scientist </a:t>
            </a:r>
            <a:endParaRPr lang="en-US" sz="1300" dirty="0"/>
          </a:p>
        </p:txBody>
      </p:sp>
      <p:sp>
        <p:nvSpPr>
          <p:cNvPr id="37" name="Shape 8">
            <a:extLst>
              <a:ext uri="{FF2B5EF4-FFF2-40B4-BE49-F238E27FC236}">
                <a16:creationId xmlns:a16="http://schemas.microsoft.com/office/drawing/2014/main" id="{C77B9581-6605-D277-360E-6147F31E8E6D}"/>
              </a:ext>
            </a:extLst>
          </p:cNvPr>
          <p:cNvSpPr/>
          <p:nvPr/>
        </p:nvSpPr>
        <p:spPr>
          <a:xfrm>
            <a:off x="3992880" y="5093208"/>
            <a:ext cx="4325112" cy="36576"/>
          </a:xfrm>
          <a:prstGeom prst="rect">
            <a:avLst/>
          </a:prstGeom>
          <a:solidFill>
            <a:srgbClr val="C17817"/>
          </a:solidFill>
          <a:ln/>
        </p:spPr>
        <p:txBody>
          <a:bodyPr/>
          <a:lstStyle/>
          <a:p>
            <a:endParaRPr lang="en-ZA"/>
          </a:p>
        </p:txBody>
      </p:sp>
      <p:sp>
        <p:nvSpPr>
          <p:cNvPr id="38" name="Shape 9">
            <a:extLst>
              <a:ext uri="{FF2B5EF4-FFF2-40B4-BE49-F238E27FC236}">
                <a16:creationId xmlns:a16="http://schemas.microsoft.com/office/drawing/2014/main" id="{0F7F812F-3F76-29FE-D7C1-B1EFA7680A9B}"/>
              </a:ext>
            </a:extLst>
          </p:cNvPr>
          <p:cNvSpPr/>
          <p:nvPr/>
        </p:nvSpPr>
        <p:spPr>
          <a:xfrm>
            <a:off x="3124200" y="5358384"/>
            <a:ext cx="219456" cy="219456"/>
          </a:xfrm>
          <a:prstGeom prst="ellipse">
            <a:avLst/>
          </a:prstGeom>
          <a:solidFill>
            <a:srgbClr val="C17817"/>
          </a:solidFill>
          <a:ln/>
        </p:spPr>
        <p:txBody>
          <a:bodyPr/>
          <a:lstStyle/>
          <a:p>
            <a:endParaRPr lang="en-ZA"/>
          </a:p>
        </p:txBody>
      </p:sp>
      <p:pic>
        <p:nvPicPr>
          <p:cNvPr id="39" name="Image 1">
            <a:extLst>
              <a:ext uri="{FF2B5EF4-FFF2-40B4-BE49-F238E27FC236}">
                <a16:creationId xmlns:a16="http://schemas.microsoft.com/office/drawing/2014/main" id="{6E3FA606-6CEB-12CE-9172-6047153188A9}"/>
              </a:ext>
            </a:extLst>
          </p:cNvPr>
          <p:cNvPicPr>
            <a:picLocks noChangeAspect="1"/>
          </p:cNvPicPr>
          <p:nvPr/>
        </p:nvPicPr>
        <p:blipFill>
          <a:blip r:embed="rId4"/>
          <a:stretch>
            <a:fillRect/>
          </a:stretch>
        </p:blipFill>
        <p:spPr>
          <a:xfrm>
            <a:off x="3160776" y="5394960"/>
            <a:ext cx="146304" cy="146304"/>
          </a:xfrm>
          <a:prstGeom prst="rect">
            <a:avLst/>
          </a:prstGeom>
        </p:spPr>
      </p:pic>
      <p:sp>
        <p:nvSpPr>
          <p:cNvPr id="40" name="Text 10">
            <a:extLst>
              <a:ext uri="{FF2B5EF4-FFF2-40B4-BE49-F238E27FC236}">
                <a16:creationId xmlns:a16="http://schemas.microsoft.com/office/drawing/2014/main" id="{6499B37C-FA76-17F8-74CF-E60D7D129912}"/>
              </a:ext>
            </a:extLst>
          </p:cNvPr>
          <p:cNvSpPr/>
          <p:nvPr/>
        </p:nvSpPr>
        <p:spPr>
          <a:xfrm>
            <a:off x="3435096" y="5285232"/>
            <a:ext cx="274320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50" dirty="0">
                <a:solidFill>
                  <a:schemeClr val="accent2">
                    <a:lumMod val="20000"/>
                    <a:lumOff val="80000"/>
                  </a:schemeClr>
                </a:solidFill>
                <a:latin typeface="Calibri" pitchFamily="34" charset="0"/>
                <a:ea typeface="Calibri" pitchFamily="34" charset="-122"/>
                <a:cs typeface="Calibri" pitchFamily="34" charset="-120"/>
              </a:rPr>
              <a:t>wabayamusuamba@gmail.com</a:t>
            </a:r>
            <a:endParaRPr lang="en-US" sz="1350" dirty="0">
              <a:solidFill>
                <a:schemeClr val="accent2">
                  <a:lumMod val="20000"/>
                  <a:lumOff val="80000"/>
                </a:schemeClr>
              </a:solidFill>
            </a:endParaRPr>
          </a:p>
        </p:txBody>
      </p:sp>
      <p:sp>
        <p:nvSpPr>
          <p:cNvPr id="41" name="Shape 11">
            <a:extLst>
              <a:ext uri="{FF2B5EF4-FFF2-40B4-BE49-F238E27FC236}">
                <a16:creationId xmlns:a16="http://schemas.microsoft.com/office/drawing/2014/main" id="{32D0D323-2986-B75B-A84A-F43E4C3DECEA}"/>
              </a:ext>
            </a:extLst>
          </p:cNvPr>
          <p:cNvSpPr/>
          <p:nvPr/>
        </p:nvSpPr>
        <p:spPr>
          <a:xfrm>
            <a:off x="3124200" y="5797296"/>
            <a:ext cx="219456" cy="219456"/>
          </a:xfrm>
          <a:prstGeom prst="ellipse">
            <a:avLst/>
          </a:prstGeom>
          <a:solidFill>
            <a:srgbClr val="C17817"/>
          </a:solidFill>
          <a:ln/>
        </p:spPr>
        <p:txBody>
          <a:bodyPr/>
          <a:lstStyle/>
          <a:p>
            <a:endParaRPr lang="en-ZA"/>
          </a:p>
        </p:txBody>
      </p:sp>
      <p:pic>
        <p:nvPicPr>
          <p:cNvPr id="42" name="Image 2">
            <a:extLst>
              <a:ext uri="{FF2B5EF4-FFF2-40B4-BE49-F238E27FC236}">
                <a16:creationId xmlns:a16="http://schemas.microsoft.com/office/drawing/2014/main" id="{AC8C1879-7D8B-D15E-197A-713B4D8D8BE0}"/>
              </a:ext>
            </a:extLst>
          </p:cNvPr>
          <p:cNvPicPr>
            <a:picLocks noChangeAspect="1"/>
          </p:cNvPicPr>
          <p:nvPr/>
        </p:nvPicPr>
        <p:blipFill>
          <a:blip r:embed="rId5"/>
          <a:stretch>
            <a:fillRect/>
          </a:stretch>
        </p:blipFill>
        <p:spPr>
          <a:xfrm>
            <a:off x="3160776" y="5833872"/>
            <a:ext cx="146304" cy="146304"/>
          </a:xfrm>
          <a:prstGeom prst="rect">
            <a:avLst/>
          </a:prstGeom>
        </p:spPr>
      </p:pic>
      <p:sp>
        <p:nvSpPr>
          <p:cNvPr id="43" name="Text 12">
            <a:extLst>
              <a:ext uri="{FF2B5EF4-FFF2-40B4-BE49-F238E27FC236}">
                <a16:creationId xmlns:a16="http://schemas.microsoft.com/office/drawing/2014/main" id="{9879669C-8B0B-C0EC-6831-77E847DD4514}"/>
              </a:ext>
            </a:extLst>
          </p:cNvPr>
          <p:cNvSpPr/>
          <p:nvPr/>
        </p:nvSpPr>
        <p:spPr>
          <a:xfrm>
            <a:off x="3435096" y="5724144"/>
            <a:ext cx="292608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50" dirty="0" err="1">
                <a:solidFill>
                  <a:schemeClr val="accent2">
                    <a:lumMod val="20000"/>
                    <a:lumOff val="80000"/>
                  </a:schemeClr>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linkedin</a:t>
            </a:r>
            <a:r>
              <a:rPr lang="en-US" sz="1350" dirty="0">
                <a:solidFill>
                  <a:schemeClr val="accent2">
                    <a:lumMod val="20000"/>
                    <a:lumOff val="80000"/>
                  </a:schemeClr>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/Musuamba-Teresa-</a:t>
            </a:r>
            <a:r>
              <a:rPr lang="en-US" sz="1350" dirty="0" err="1">
                <a:solidFill>
                  <a:schemeClr val="accent2">
                    <a:lumMod val="20000"/>
                    <a:lumOff val="80000"/>
                  </a:schemeClr>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WaBaya</a:t>
            </a:r>
            <a:endParaRPr lang="en-US" sz="1350" dirty="0">
              <a:solidFill>
                <a:schemeClr val="accent2">
                  <a:lumMod val="20000"/>
                  <a:lumOff val="80000"/>
                </a:schemeClr>
              </a:solidFill>
            </a:endParaRPr>
          </a:p>
        </p:txBody>
      </p:sp>
      <p:sp>
        <p:nvSpPr>
          <p:cNvPr id="44" name="Shape 13">
            <a:extLst>
              <a:ext uri="{FF2B5EF4-FFF2-40B4-BE49-F238E27FC236}">
                <a16:creationId xmlns:a16="http://schemas.microsoft.com/office/drawing/2014/main" id="{8C51300F-4572-3CF7-8FD1-B45D773BE9D7}"/>
              </a:ext>
            </a:extLst>
          </p:cNvPr>
          <p:cNvSpPr/>
          <p:nvPr/>
        </p:nvSpPr>
        <p:spPr>
          <a:xfrm>
            <a:off x="6507480" y="5358384"/>
            <a:ext cx="219456" cy="219456"/>
          </a:xfrm>
          <a:prstGeom prst="ellipse">
            <a:avLst/>
          </a:prstGeom>
          <a:solidFill>
            <a:srgbClr val="C17817"/>
          </a:solidFill>
          <a:ln/>
        </p:spPr>
        <p:txBody>
          <a:bodyPr/>
          <a:lstStyle/>
          <a:p>
            <a:endParaRPr lang="en-ZA"/>
          </a:p>
        </p:txBody>
      </p:sp>
      <p:pic>
        <p:nvPicPr>
          <p:cNvPr id="45" name="Image 3">
            <a:extLst>
              <a:ext uri="{FF2B5EF4-FFF2-40B4-BE49-F238E27FC236}">
                <a16:creationId xmlns:a16="http://schemas.microsoft.com/office/drawing/2014/main" id="{8E4CEBB9-0D68-B5E4-9F11-339AF74CEF35}"/>
              </a:ext>
            </a:extLst>
          </p:cNvPr>
          <p:cNvPicPr>
            <a:picLocks noChangeAspect="1"/>
          </p:cNvPicPr>
          <p:nvPr/>
        </p:nvPicPr>
        <p:blipFill>
          <a:blip r:embed="rId7"/>
          <a:stretch>
            <a:fillRect/>
          </a:stretch>
        </p:blipFill>
        <p:spPr>
          <a:xfrm>
            <a:off x="6544056" y="5394960"/>
            <a:ext cx="146304" cy="146304"/>
          </a:xfrm>
          <a:prstGeom prst="rect">
            <a:avLst/>
          </a:prstGeom>
        </p:spPr>
      </p:pic>
      <p:sp>
        <p:nvSpPr>
          <p:cNvPr id="46" name="Text 14">
            <a:extLst>
              <a:ext uri="{FF2B5EF4-FFF2-40B4-BE49-F238E27FC236}">
                <a16:creationId xmlns:a16="http://schemas.microsoft.com/office/drawing/2014/main" id="{9D29A754-F85E-BEEC-6646-33617C08F481}"/>
              </a:ext>
            </a:extLst>
          </p:cNvPr>
          <p:cNvSpPr/>
          <p:nvPr/>
        </p:nvSpPr>
        <p:spPr>
          <a:xfrm>
            <a:off x="6818376" y="5285232"/>
            <a:ext cx="256032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50" dirty="0">
                <a:solidFill>
                  <a:schemeClr val="accent2">
                    <a:lumMod val="20000"/>
                    <a:lumOff val="80000"/>
                  </a:schemeClr>
                </a:solidFill>
                <a:latin typeface="Calibri" pitchFamily="34" charset="0"/>
                <a:ea typeface="Calibri" pitchFamily="34" charset="-122"/>
                <a:cs typeface="Calibri" pitchFamily="34" charset="-120"/>
              </a:rPr>
              <a:t>Cape Town, South Africa</a:t>
            </a:r>
            <a:endParaRPr lang="en-US" sz="1350" dirty="0">
              <a:solidFill>
                <a:schemeClr val="accent2">
                  <a:lumMod val="20000"/>
                  <a:lumOff val="80000"/>
                </a:schemeClr>
              </a:solidFill>
            </a:endParaRPr>
          </a:p>
        </p:txBody>
      </p:sp>
      <p:sp>
        <p:nvSpPr>
          <p:cNvPr id="47" name="Shape 15">
            <a:extLst>
              <a:ext uri="{FF2B5EF4-FFF2-40B4-BE49-F238E27FC236}">
                <a16:creationId xmlns:a16="http://schemas.microsoft.com/office/drawing/2014/main" id="{5094AB3E-37D4-2267-F640-D1A55FF5B276}"/>
              </a:ext>
            </a:extLst>
          </p:cNvPr>
          <p:cNvSpPr/>
          <p:nvPr/>
        </p:nvSpPr>
        <p:spPr>
          <a:xfrm>
            <a:off x="6507480" y="5797296"/>
            <a:ext cx="219456" cy="219456"/>
          </a:xfrm>
          <a:prstGeom prst="ellipse">
            <a:avLst/>
          </a:prstGeom>
          <a:solidFill>
            <a:srgbClr val="C17817"/>
          </a:solidFill>
          <a:ln/>
        </p:spPr>
        <p:txBody>
          <a:bodyPr/>
          <a:lstStyle/>
          <a:p>
            <a:endParaRPr lang="en-ZA"/>
          </a:p>
        </p:txBody>
      </p:sp>
      <p:pic>
        <p:nvPicPr>
          <p:cNvPr id="48" name="Image 4">
            <a:extLst>
              <a:ext uri="{FF2B5EF4-FFF2-40B4-BE49-F238E27FC236}">
                <a16:creationId xmlns:a16="http://schemas.microsoft.com/office/drawing/2014/main" id="{2BD615D9-04C1-5F32-9931-87E0C8A32070}"/>
              </a:ext>
            </a:extLst>
          </p:cNvPr>
          <p:cNvPicPr>
            <a:picLocks noChangeAspect="1"/>
          </p:cNvPicPr>
          <p:nvPr/>
        </p:nvPicPr>
        <p:blipFill>
          <a:blip r:embed="rId8"/>
          <a:stretch>
            <a:fillRect/>
          </a:stretch>
        </p:blipFill>
        <p:spPr>
          <a:xfrm>
            <a:off x="6544056" y="5833872"/>
            <a:ext cx="146304" cy="146304"/>
          </a:xfrm>
          <a:prstGeom prst="rect">
            <a:avLst/>
          </a:prstGeom>
        </p:spPr>
      </p:pic>
      <p:sp>
        <p:nvSpPr>
          <p:cNvPr id="49" name="Text 16">
            <a:hlinkClick r:id="rId9"/>
            <a:extLst>
              <a:ext uri="{FF2B5EF4-FFF2-40B4-BE49-F238E27FC236}">
                <a16:creationId xmlns:a16="http://schemas.microsoft.com/office/drawing/2014/main" id="{B4C7C5A6-7286-4C2D-9029-F9BDBA3DCA52}"/>
              </a:ext>
            </a:extLst>
          </p:cNvPr>
          <p:cNvSpPr/>
          <p:nvPr/>
        </p:nvSpPr>
        <p:spPr>
          <a:xfrm>
            <a:off x="6818376" y="5724144"/>
            <a:ext cx="274320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u="sng" dirty="0" err="1">
                <a:solidFill>
                  <a:schemeClr val="accent2">
                    <a:lumMod val="20000"/>
                    <a:lumOff val="80000"/>
                  </a:schemeClr>
                </a:solidFill>
              </a:rPr>
              <a:t>github</a:t>
            </a:r>
            <a:r>
              <a:rPr lang="en-US" sz="1350" u="sng" dirty="0">
                <a:solidFill>
                  <a:schemeClr val="accent2">
                    <a:lumMod val="20000"/>
                    <a:lumOff val="80000"/>
                  </a:schemeClr>
                </a:solidFill>
              </a:rPr>
              <a:t>/Musuamba-Teresa-WaBaya</a:t>
            </a:r>
          </a:p>
        </p:txBody>
      </p:sp>
      <p:sp>
        <p:nvSpPr>
          <p:cNvPr id="50" name="Text 17">
            <a:extLst>
              <a:ext uri="{FF2B5EF4-FFF2-40B4-BE49-F238E27FC236}">
                <a16:creationId xmlns:a16="http://schemas.microsoft.com/office/drawing/2014/main" id="{6C465A7E-C6CA-84AD-DF29-4BAF9E7CDC69}"/>
              </a:ext>
            </a:extLst>
          </p:cNvPr>
          <p:cNvSpPr/>
          <p:nvPr/>
        </p:nvSpPr>
        <p:spPr>
          <a:xfrm>
            <a:off x="60960" y="6537960"/>
            <a:ext cx="1218895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kern="0" spc="100" dirty="0">
                <a:solidFill>
                  <a:srgbClr val="8A6A52"/>
                </a:solidFill>
                <a:latin typeface="Calibri" pitchFamily="34" charset="0"/>
                <a:ea typeface="Calibri" pitchFamily="34" charset="-122"/>
                <a:cs typeface="Calibri" pitchFamily="34" charset="-120"/>
              </a:rPr>
              <a:t>2026</a:t>
            </a:r>
            <a:endParaRPr lang="en-US" sz="900" dirty="0"/>
          </a:p>
        </p:txBody>
      </p:sp>
    </p:spTree>
    <p:extLst>
      <p:ext uri="{BB962C8B-B14F-4D97-AF65-F5344CB8AC3E}">
        <p14:creationId xmlns:p14="http://schemas.microsoft.com/office/powerpoint/2010/main" val="33176689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1897</TotalTime>
  <Words>1930</Words>
  <Application>Microsoft Office PowerPoint</Application>
  <PresentationFormat>Widescreen</PresentationFormat>
  <Paragraphs>257</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Coffee Shop Sales Analysis 2026</dc:title>
  <dc:subject>PptxGenJS Presentation</dc:subject>
  <dc:creator>Teresa</dc:creator>
  <cp:lastModifiedBy>Musuamba Wa Baya</cp:lastModifiedBy>
  <cp:revision>10</cp:revision>
  <dcterms:created xsi:type="dcterms:W3CDTF">2026-06-17T04:17:17Z</dcterms:created>
  <dcterms:modified xsi:type="dcterms:W3CDTF">2026-06-19T04:15:42Z</dcterms:modified>
</cp:coreProperties>
</file>